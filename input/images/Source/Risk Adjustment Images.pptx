
<file path=[Content_Types].xml><?xml version="1.0" encoding="utf-8"?>
<Types xmlns="http://schemas.openxmlformats.org/package/2006/content-types">
  <Default Extension="emf" ContentType="image/x-emf"/>
  <Default Extension="jpeg" ContentType="image/jpeg"/>
  <Default Extension="jpg" ContentType="image/jpeg"/>
  <Default Extension="png" ContentType="image/png"/>
  <Default Extension="rels" ContentType="application/vnd.openxmlformats-package.relationships+xml"/>
  <Default Extension="svg" ContentType="image/svg+xml"/>
  <Default Extension="tif" ContentType="image/tiff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Masters/slideMaster2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38.xml" ContentType="application/vnd.openxmlformats-officedocument.presentationml.slide+xml"/>
  <Override PartName="/ppt/slides/slide39.xml" ContentType="application/vnd.openxmlformats-officedocument.presentationml.slide+xml"/>
  <Override PartName="/ppt/slides/slide40.xml" ContentType="application/vnd.openxmlformats-officedocument.presentationml.slide+xml"/>
  <Override PartName="/ppt/slides/slide41.xml" ContentType="application/vnd.openxmlformats-officedocument.presentationml.slide+xml"/>
  <Override PartName="/ppt/slides/slide42.xml" ContentType="application/vnd.openxmlformats-officedocument.presentationml.slide+xml"/>
  <Override PartName="/ppt/slides/slide43.xml" ContentType="application/vnd.openxmlformats-officedocument.presentationml.slide+xml"/>
  <Override PartName="/ppt/slides/slide44.xml" ContentType="application/vnd.openxmlformats-officedocument.presentationml.slide+xml"/>
  <Override PartName="/ppt/slides/slide45.xml" ContentType="application/vnd.openxmlformats-officedocument.presentationml.slide+xml"/>
  <Override PartName="/ppt/slides/slide46.xml" ContentType="application/vnd.openxmlformats-officedocument.presentationml.slide+xml"/>
  <Override PartName="/ppt/slides/slide47.xml" ContentType="application/vnd.openxmlformats-officedocument.presentationml.slide+xml"/>
  <Override PartName="/ppt/slides/slide48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18.xml" ContentType="application/vnd.openxmlformats-officedocument.presentationml.slideLayout+xml"/>
  <Override PartName="/ppt/slideLayouts/slideLayout19.xml" ContentType="application/vnd.openxmlformats-officedocument.presentationml.slideLayout+xml"/>
  <Override PartName="/ppt/slideLayouts/slideLayout20.xml" ContentType="application/vnd.openxmlformats-officedocument.presentationml.slideLayout+xml"/>
  <Override PartName="/ppt/slideLayouts/slideLayout21.xml" ContentType="application/vnd.openxmlformats-officedocument.presentationml.slideLayout+xml"/>
  <Override PartName="/ppt/slideLayouts/slideLayout22.xml" ContentType="application/vnd.openxmlformats-officedocument.presentationml.slideLayout+xml"/>
  <Override PartName="/ppt/slideLayouts/slideLayout23.xml" ContentType="application/vnd.openxmlformats-officedocument.presentationml.slideLayout+xml"/>
  <Override PartName="/ppt/slideLayouts/slideLayout24.xml" ContentType="application/vnd.openxmlformats-officedocument.presentationml.slideLayout+xml"/>
  <Override PartName="/ppt/slideLayouts/slideLayout25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ppt/notesSlides/notesSlide23.xml" ContentType="application/vnd.openxmlformats-officedocument.presentationml.notesSlide+xml"/>
  <Override PartName="/ppt/notesSlides/notesSlide24.xml" ContentType="application/vnd.openxmlformats-officedocument.presentationml.notesSlide+xml"/>
  <Override PartName="/ppt/notesSlides/notesSlide25.xml" ContentType="application/vnd.openxmlformats-officedocument.presentationml.notesSlide+xml"/>
  <Override PartName="/ppt/notesSlides/notesSlide26.xml" ContentType="application/vnd.openxmlformats-officedocument.presentationml.notesSlide+xml"/>
  <Override PartName="/ppt/notesSlides/notesSlide27.xml" ContentType="application/vnd.openxmlformats-officedocument.presentationml.notesSlide+xml"/>
  <Override PartName="/ppt/notesSlides/notesSlide28.xml" ContentType="application/vnd.openxmlformats-officedocument.presentationml.notesSlide+xml"/>
  <Override PartName="/ppt/notesSlides/notesSlide29.xml" ContentType="application/vnd.openxmlformats-officedocument.presentationml.notesSlide+xml"/>
  <Override PartName="/ppt/notesSlides/notesSlide30.xml" ContentType="application/vnd.openxmlformats-officedocument.presentationml.notesSlide+xml"/>
  <Override PartName="/ppt/notesSlides/notesSlide31.xml" ContentType="application/vnd.openxmlformats-officedocument.presentationml.notesSlide+xml"/>
  <Override PartName="/ppt/notesSlides/notesSlide32.xml" ContentType="application/vnd.openxmlformats-officedocument.presentationml.notesSlide+xml"/>
  <Override PartName="/ppt/notesSlides/notesSlide33.xml" ContentType="application/vnd.openxmlformats-officedocument.presentationml.notesSlide+xml"/>
  <Override PartName="/ppt/notesSlides/notesSlide34.xml" ContentType="application/vnd.openxmlformats-officedocument.presentationml.notesSlide+xml"/>
  <Override PartName="/ppt/notesSlides/notesSlide35.xml" ContentType="application/vnd.openxmlformats-officedocument.presentationml.notesSlide+xml"/>
  <Override PartName="/ppt/notesSlides/notesSlide36.xml" ContentType="application/vnd.openxmlformats-officedocument.presentationml.notesSlide+xml"/>
  <Override PartName="/ppt/notesSlides/notesSlide37.xml" ContentType="application/vnd.openxmlformats-officedocument.presentationml.notesSlide+xml"/>
  <Override PartName="/ppt/notesSlides/notesSlide38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5" Type="http://schemas.openxmlformats.org/officeDocument/2006/relationships/custom-properties" Target="docProps/custom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  <p:sldMasterId id="2147483660" r:id="rId2"/>
  </p:sldMasterIdLst>
  <p:notesMasterIdLst>
    <p:notesMasterId r:id="rId51"/>
  </p:notesMasterIdLst>
  <p:sldIdLst>
    <p:sldId id="256" r:id="rId3"/>
    <p:sldId id="2990" r:id="rId4"/>
    <p:sldId id="2989" r:id="rId5"/>
    <p:sldId id="2997" r:id="rId6"/>
    <p:sldId id="2999" r:id="rId7"/>
    <p:sldId id="2998" r:id="rId8"/>
    <p:sldId id="3000" r:id="rId9"/>
    <p:sldId id="2992" r:id="rId10"/>
    <p:sldId id="3010" r:id="rId11"/>
    <p:sldId id="3014" r:id="rId12"/>
    <p:sldId id="3017" r:id="rId13"/>
    <p:sldId id="3013" r:id="rId14"/>
    <p:sldId id="3012" r:id="rId15"/>
    <p:sldId id="3007" r:id="rId16"/>
    <p:sldId id="3016" r:id="rId17"/>
    <p:sldId id="3015" r:id="rId18"/>
    <p:sldId id="2996" r:id="rId19"/>
    <p:sldId id="2995" r:id="rId20"/>
    <p:sldId id="2994" r:id="rId21"/>
    <p:sldId id="2991" r:id="rId22"/>
    <p:sldId id="2987" r:id="rId23"/>
    <p:sldId id="273" r:id="rId24"/>
    <p:sldId id="2970" r:id="rId25"/>
    <p:sldId id="267" r:id="rId26"/>
    <p:sldId id="2986" r:id="rId27"/>
    <p:sldId id="2973" r:id="rId28"/>
    <p:sldId id="2985" r:id="rId29"/>
    <p:sldId id="2984" r:id="rId30"/>
    <p:sldId id="2976" r:id="rId31"/>
    <p:sldId id="2969" r:id="rId32"/>
    <p:sldId id="3001" r:id="rId33"/>
    <p:sldId id="2968" r:id="rId34"/>
    <p:sldId id="2967" r:id="rId35"/>
    <p:sldId id="3009" r:id="rId36"/>
    <p:sldId id="2979" r:id="rId37"/>
    <p:sldId id="2972" r:id="rId38"/>
    <p:sldId id="2971" r:id="rId39"/>
    <p:sldId id="268" r:id="rId40"/>
    <p:sldId id="2966" r:id="rId41"/>
    <p:sldId id="2975" r:id="rId42"/>
    <p:sldId id="3004" r:id="rId43"/>
    <p:sldId id="3005" r:id="rId44"/>
    <p:sldId id="2993" r:id="rId45"/>
    <p:sldId id="3011" r:id="rId46"/>
    <p:sldId id="3002" r:id="rId47"/>
    <p:sldId id="3003" r:id="rId48"/>
    <p:sldId id="3008" r:id="rId49"/>
    <p:sldId id="3006" r:id="rId50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4995" autoAdjust="0"/>
    <p:restoredTop sz="87186" autoAdjust="0"/>
  </p:normalViewPr>
  <p:slideViewPr>
    <p:cSldViewPr snapToGrid="0">
      <p:cViewPr varScale="1">
        <p:scale>
          <a:sx n="74" d="100"/>
          <a:sy n="74" d="100"/>
        </p:scale>
        <p:origin x="72" y="294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sorterViewPr>
    <p:cViewPr>
      <p:scale>
        <a:sx n="100" d="100"/>
        <a:sy n="100" d="100"/>
      </p:scale>
      <p:origin x="0" y="0"/>
    </p:cViewPr>
  </p:sorterViewPr>
  <p:gridSpacing cx="76200" cy="76200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11.xml"/><Relationship Id="rId18" Type="http://schemas.openxmlformats.org/officeDocument/2006/relationships/slide" Target="slides/slide16.xml"/><Relationship Id="rId26" Type="http://schemas.openxmlformats.org/officeDocument/2006/relationships/slide" Target="slides/slide24.xml"/><Relationship Id="rId39" Type="http://schemas.openxmlformats.org/officeDocument/2006/relationships/slide" Target="slides/slide37.xml"/><Relationship Id="rId21" Type="http://schemas.openxmlformats.org/officeDocument/2006/relationships/slide" Target="slides/slide19.xml"/><Relationship Id="rId34" Type="http://schemas.openxmlformats.org/officeDocument/2006/relationships/slide" Target="slides/slide32.xml"/><Relationship Id="rId42" Type="http://schemas.openxmlformats.org/officeDocument/2006/relationships/slide" Target="slides/slide40.xml"/><Relationship Id="rId47" Type="http://schemas.openxmlformats.org/officeDocument/2006/relationships/slide" Target="slides/slide45.xml"/><Relationship Id="rId50" Type="http://schemas.openxmlformats.org/officeDocument/2006/relationships/slide" Target="slides/slide48.xml"/><Relationship Id="rId55" Type="http://schemas.openxmlformats.org/officeDocument/2006/relationships/tableStyles" Target="tableStyles.xml"/><Relationship Id="rId7" Type="http://schemas.openxmlformats.org/officeDocument/2006/relationships/slide" Target="slides/slide5.xml"/><Relationship Id="rId2" Type="http://schemas.openxmlformats.org/officeDocument/2006/relationships/slideMaster" Target="slideMasters/slideMaster2.xml"/><Relationship Id="rId16" Type="http://schemas.openxmlformats.org/officeDocument/2006/relationships/slide" Target="slides/slide14.xml"/><Relationship Id="rId29" Type="http://schemas.openxmlformats.org/officeDocument/2006/relationships/slide" Target="slides/slide27.xml"/><Relationship Id="rId11" Type="http://schemas.openxmlformats.org/officeDocument/2006/relationships/slide" Target="slides/slide9.xml"/><Relationship Id="rId24" Type="http://schemas.openxmlformats.org/officeDocument/2006/relationships/slide" Target="slides/slide22.xml"/><Relationship Id="rId32" Type="http://schemas.openxmlformats.org/officeDocument/2006/relationships/slide" Target="slides/slide30.xml"/><Relationship Id="rId37" Type="http://schemas.openxmlformats.org/officeDocument/2006/relationships/slide" Target="slides/slide35.xml"/><Relationship Id="rId40" Type="http://schemas.openxmlformats.org/officeDocument/2006/relationships/slide" Target="slides/slide38.xml"/><Relationship Id="rId45" Type="http://schemas.openxmlformats.org/officeDocument/2006/relationships/slide" Target="slides/slide43.xml"/><Relationship Id="rId53" Type="http://schemas.openxmlformats.org/officeDocument/2006/relationships/viewProps" Target="viewProps.xml"/><Relationship Id="rId5" Type="http://schemas.openxmlformats.org/officeDocument/2006/relationships/slide" Target="slides/slide3.xml"/><Relationship Id="rId10" Type="http://schemas.openxmlformats.org/officeDocument/2006/relationships/slide" Target="slides/slide8.xml"/><Relationship Id="rId19" Type="http://schemas.openxmlformats.org/officeDocument/2006/relationships/slide" Target="slides/slide17.xml"/><Relationship Id="rId31" Type="http://schemas.openxmlformats.org/officeDocument/2006/relationships/slide" Target="slides/slide29.xml"/><Relationship Id="rId44" Type="http://schemas.openxmlformats.org/officeDocument/2006/relationships/slide" Target="slides/slide42.xml"/><Relationship Id="rId52" Type="http://schemas.openxmlformats.org/officeDocument/2006/relationships/presProps" Target="presProps.xml"/><Relationship Id="rId4" Type="http://schemas.openxmlformats.org/officeDocument/2006/relationships/slide" Target="slides/slide2.xml"/><Relationship Id="rId9" Type="http://schemas.openxmlformats.org/officeDocument/2006/relationships/slide" Target="slides/slide7.xml"/><Relationship Id="rId14" Type="http://schemas.openxmlformats.org/officeDocument/2006/relationships/slide" Target="slides/slide12.xml"/><Relationship Id="rId22" Type="http://schemas.openxmlformats.org/officeDocument/2006/relationships/slide" Target="slides/slide20.xml"/><Relationship Id="rId27" Type="http://schemas.openxmlformats.org/officeDocument/2006/relationships/slide" Target="slides/slide25.xml"/><Relationship Id="rId30" Type="http://schemas.openxmlformats.org/officeDocument/2006/relationships/slide" Target="slides/slide28.xml"/><Relationship Id="rId35" Type="http://schemas.openxmlformats.org/officeDocument/2006/relationships/slide" Target="slides/slide33.xml"/><Relationship Id="rId43" Type="http://schemas.openxmlformats.org/officeDocument/2006/relationships/slide" Target="slides/slide41.xml"/><Relationship Id="rId48" Type="http://schemas.openxmlformats.org/officeDocument/2006/relationships/slide" Target="slides/slide46.xml"/><Relationship Id="rId8" Type="http://schemas.openxmlformats.org/officeDocument/2006/relationships/slide" Target="slides/slide6.xml"/><Relationship Id="rId51" Type="http://schemas.openxmlformats.org/officeDocument/2006/relationships/notesMaster" Target="notesMasters/notesMaster1.xml"/><Relationship Id="rId3" Type="http://schemas.openxmlformats.org/officeDocument/2006/relationships/slide" Target="slides/slide1.xml"/><Relationship Id="rId12" Type="http://schemas.openxmlformats.org/officeDocument/2006/relationships/slide" Target="slides/slide10.xml"/><Relationship Id="rId17" Type="http://schemas.openxmlformats.org/officeDocument/2006/relationships/slide" Target="slides/slide15.xml"/><Relationship Id="rId25" Type="http://schemas.openxmlformats.org/officeDocument/2006/relationships/slide" Target="slides/slide23.xml"/><Relationship Id="rId33" Type="http://schemas.openxmlformats.org/officeDocument/2006/relationships/slide" Target="slides/slide31.xml"/><Relationship Id="rId38" Type="http://schemas.openxmlformats.org/officeDocument/2006/relationships/slide" Target="slides/slide36.xml"/><Relationship Id="rId46" Type="http://schemas.openxmlformats.org/officeDocument/2006/relationships/slide" Target="slides/slide44.xml"/><Relationship Id="rId20" Type="http://schemas.openxmlformats.org/officeDocument/2006/relationships/slide" Target="slides/slide18.xml"/><Relationship Id="rId41" Type="http://schemas.openxmlformats.org/officeDocument/2006/relationships/slide" Target="slides/slide39.xml"/><Relationship Id="rId54" Type="http://schemas.openxmlformats.org/officeDocument/2006/relationships/theme" Target="theme/them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4.xml"/><Relationship Id="rId15" Type="http://schemas.openxmlformats.org/officeDocument/2006/relationships/slide" Target="slides/slide13.xml"/><Relationship Id="rId23" Type="http://schemas.openxmlformats.org/officeDocument/2006/relationships/slide" Target="slides/slide21.xml"/><Relationship Id="rId28" Type="http://schemas.openxmlformats.org/officeDocument/2006/relationships/slide" Target="slides/slide26.xml"/><Relationship Id="rId36" Type="http://schemas.openxmlformats.org/officeDocument/2006/relationships/slide" Target="slides/slide34.xml"/><Relationship Id="rId49" Type="http://schemas.openxmlformats.org/officeDocument/2006/relationships/slide" Target="slides/slide47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4337D45E-38B5-4093-B633-D3DDCA61416C}" type="datetimeFigureOut">
              <a:rPr lang="en-US" smtClean="0"/>
              <a:t>3/12/2026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1D553A4D-C549-44B5-B4F2-4FBA040D2BDB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310481123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7.xml"/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8.xml"/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9.xml"/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0.xml"/><Relationship Id="rId1" Type="http://schemas.openxmlformats.org/officeDocument/2006/relationships/notesMaster" Target="../notesMasters/notesMaster1.xml"/></Relationships>
</file>

<file path=ppt/notesSlides/_rels/notesSlide1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2.xml"/><Relationship Id="rId1" Type="http://schemas.openxmlformats.org/officeDocument/2006/relationships/notesMaster" Target="../notesMasters/notesMaster1.xml"/></Relationships>
</file>

<file path=ppt/notesSlides/_rels/notesSlide2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4.xml"/><Relationship Id="rId1" Type="http://schemas.openxmlformats.org/officeDocument/2006/relationships/notesMaster" Target="../notesMasters/notesMaster1.xml"/></Relationships>
</file>

<file path=ppt/notesSlides/_rels/notesSlide2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5.xml"/><Relationship Id="rId1" Type="http://schemas.openxmlformats.org/officeDocument/2006/relationships/notesMaster" Target="../notesMasters/notesMaster1.xml"/></Relationships>
</file>

<file path=ppt/notesSlides/_rels/notesSlide2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6.xml"/><Relationship Id="rId1" Type="http://schemas.openxmlformats.org/officeDocument/2006/relationships/notesMaster" Target="../notesMasters/notesMaster1.xml"/></Relationships>
</file>

<file path=ppt/notesSlides/_rels/notesSlide2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7.xml"/><Relationship Id="rId1" Type="http://schemas.openxmlformats.org/officeDocument/2006/relationships/notesMaster" Target="../notesMasters/notesMaster1.xml"/></Relationships>
</file>

<file path=ppt/notesSlides/_rels/notesSlide2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8.xml"/><Relationship Id="rId1" Type="http://schemas.openxmlformats.org/officeDocument/2006/relationships/notesMaster" Target="../notesMasters/notesMaster1.xml"/></Relationships>
</file>

<file path=ppt/notesSlides/_rels/notesSlide2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9.xml"/><Relationship Id="rId1" Type="http://schemas.openxmlformats.org/officeDocument/2006/relationships/notesMaster" Target="../notesMasters/notesMaster1.xml"/></Relationships>
</file>

<file path=ppt/notesSlides/_rels/notesSlide2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0.xml"/><Relationship Id="rId1" Type="http://schemas.openxmlformats.org/officeDocument/2006/relationships/notesMaster" Target="../notesMasters/notesMaster1.xml"/></Relationships>
</file>

<file path=ppt/notesSlides/_rels/notesSlide2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1.xml"/><Relationship Id="rId1" Type="http://schemas.openxmlformats.org/officeDocument/2006/relationships/notesMaster" Target="../notesMasters/notesMaster1.xml"/></Relationships>
</file>

<file path=ppt/notesSlides/_rels/notesSlide2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7.xml"/><Relationship Id="rId1" Type="http://schemas.openxmlformats.org/officeDocument/2006/relationships/notesMaster" Target="../notesMasters/notesMaster1.xml"/></Relationships>
</file>

<file path=ppt/notesSlides/_rels/notesSlide2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8.xml"/><Relationship Id="rId1" Type="http://schemas.openxmlformats.org/officeDocument/2006/relationships/notesMaster" Target="../notesMasters/notesMaster1.xml"/></Relationships>
</file>

<file path=ppt/notesSlides/_rels/notesSlide3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9.xml"/><Relationship Id="rId1" Type="http://schemas.openxmlformats.org/officeDocument/2006/relationships/notesMaster" Target="../notesMasters/notesMaster1.xml"/></Relationships>
</file>

<file path=ppt/notesSlides/_rels/notesSlide3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0.xml"/><Relationship Id="rId1" Type="http://schemas.openxmlformats.org/officeDocument/2006/relationships/notesMaster" Target="../notesMasters/notesMaster1.xml"/></Relationships>
</file>

<file path=ppt/notesSlides/_rels/notesSlide3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2.xml"/><Relationship Id="rId1" Type="http://schemas.openxmlformats.org/officeDocument/2006/relationships/notesMaster" Target="../notesMasters/notesMaster1.xml"/></Relationships>
</file>

<file path=ppt/notesSlides/_rels/notesSlide3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3.xml"/><Relationship Id="rId1" Type="http://schemas.openxmlformats.org/officeDocument/2006/relationships/notesMaster" Target="../notesMasters/notesMaster1.xml"/></Relationships>
</file>

<file path=ppt/notesSlides/_rels/notesSlide3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4.xml"/><Relationship Id="rId1" Type="http://schemas.openxmlformats.org/officeDocument/2006/relationships/notesMaster" Target="../notesMasters/notesMaster1.xml"/></Relationships>
</file>

<file path=ppt/notesSlides/_rels/notesSlide3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5.xml"/><Relationship Id="rId1" Type="http://schemas.openxmlformats.org/officeDocument/2006/relationships/notesMaster" Target="../notesMasters/notesMaster1.xml"/></Relationships>
</file>

<file path=ppt/notesSlides/_rels/notesSlide3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6.xml"/><Relationship Id="rId1" Type="http://schemas.openxmlformats.org/officeDocument/2006/relationships/notesMaster" Target="../notesMasters/notesMaster1.xml"/></Relationships>
</file>

<file path=ppt/notesSlides/_rels/notesSlide3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7.xml"/><Relationship Id="rId1" Type="http://schemas.openxmlformats.org/officeDocument/2006/relationships/notesMaster" Target="../notesMasters/notesMaster1.xml"/></Relationships>
</file>

<file path=ppt/notesSlides/_rels/notesSlide3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8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 marL="0" marR="0" lvl="0" indent="0" algn="r" defTabSz="4572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fld id="{CF4A7F80-F256-4EC8-A9CC-1A842C6C5143}" type="slidenum">
              <a:rPr kumimoji="0" lang="en-US" altLang="en-US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 pitchFamily="34" charset="0"/>
                <a:ea typeface="ヒラギノ角ゴ Pro W3" pitchFamily="-126" charset="-128"/>
                <a:cs typeface="+mn-cs"/>
              </a:rPr>
              <a:pPr marL="0" marR="0" lvl="0" indent="0" algn="r" defTabSz="4572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t>3</a:t>
            </a:fld>
            <a:endParaRPr kumimoji="0" lang="en-US" altLang="en-US" sz="12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 pitchFamily="34" charset="0"/>
              <a:ea typeface="ヒラギノ角ゴ Pro W3" pitchFamily="-126" charset="-128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348822015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Updated for STU2</a:t>
            </a:r>
          </a:p>
          <a:p>
            <a:r>
              <a:rPr lang="en-US" dirty="0"/>
              <a:t>Changed $report to $</a:t>
            </a:r>
            <a:r>
              <a:rPr lang="en-US" dirty="0" err="1"/>
              <a:t>ra.coding</a:t>
            </a:r>
            <a:r>
              <a:rPr lang="en-US" dirty="0"/>
              <a:t>-gaps, shortened the height, changed the word Reports to MeasureReport</a:t>
            </a:r>
          </a:p>
          <a:p>
            <a:endParaRPr lang="en-US" dirty="0"/>
          </a:p>
          <a:p>
            <a:r>
              <a:rPr lang="en-US" dirty="0"/>
              <a:t>Used for risk-adjustment-gaps-workflow.png</a:t>
            </a:r>
          </a:p>
          <a:p>
            <a:r>
              <a:rPr lang="en-US" dirty="0"/>
              <a:t>2/8/2022: Updated during ballot reconciliations as proposed resolutions</a:t>
            </a:r>
          </a:p>
          <a:p>
            <a:pPr marL="228600" indent="-228600">
              <a:buAutoNum type="arabicPeriod"/>
            </a:pPr>
            <a:r>
              <a:rPr lang="en-US" dirty="0"/>
              <a:t>Removed the word Example</a:t>
            </a:r>
          </a:p>
          <a:p>
            <a:pPr marL="228600" indent="-228600">
              <a:buAutoNum type="arabicPeriod"/>
            </a:pPr>
            <a:r>
              <a:rPr lang="en-US" dirty="0"/>
              <a:t>Figure is now Figure 1-4 instead of Figure 1-3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1D553A4D-C549-44B5-B4F2-4FBA040D2BDB}" type="slidenum">
              <a:rPr lang="en-US" smtClean="0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38261094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Updated for STU2</a:t>
            </a:r>
          </a:p>
          <a:p>
            <a:r>
              <a:rPr lang="en-US" dirty="0"/>
              <a:t>Changed $report to $</a:t>
            </a:r>
            <a:r>
              <a:rPr lang="en-US" dirty="0" err="1"/>
              <a:t>ra.coding</a:t>
            </a:r>
            <a:r>
              <a:rPr lang="en-US" dirty="0"/>
              <a:t>-gaps, shortened the height, changed the word Reports to MeasureReport</a:t>
            </a:r>
          </a:p>
          <a:p>
            <a:endParaRPr lang="en-US" dirty="0"/>
          </a:p>
          <a:p>
            <a:r>
              <a:rPr lang="en-US" dirty="0"/>
              <a:t>Used for risk-adjustment-gaps-workflow.png</a:t>
            </a:r>
          </a:p>
          <a:p>
            <a:r>
              <a:rPr lang="en-US" dirty="0"/>
              <a:t>2/8/2022: Updated during ballot reconciliations as proposed resolutions</a:t>
            </a:r>
          </a:p>
          <a:p>
            <a:pPr marL="228600" indent="-228600">
              <a:buAutoNum type="arabicPeriod"/>
            </a:pPr>
            <a:r>
              <a:rPr lang="en-US" dirty="0"/>
              <a:t>Removed the word Example</a:t>
            </a:r>
          </a:p>
          <a:p>
            <a:pPr marL="228600" indent="-228600">
              <a:buAutoNum type="arabicPeriod"/>
            </a:pPr>
            <a:r>
              <a:rPr lang="en-US" dirty="0"/>
              <a:t>Figure is now Figure 1-4 instead of Figure 1-3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1D553A4D-C549-44B5-B4F2-4FBA040D2BDB}" type="slidenum">
              <a:rPr lang="en-US" smtClean="0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155818265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 sz="1200" b="1" dirty="0">
                <a:solidFill>
                  <a:srgbClr val="F79646">
                    <a:lumMod val="50000"/>
                  </a:srgbClr>
                </a:solidFill>
                <a:latin typeface="Arial"/>
                <a:ea typeface="ヒラギノ角ゴ Pro W3" pitchFamily="-126" charset="-128"/>
              </a:rPr>
              <a:t>Payer is the Client, it initiates the request and pushes the report</a:t>
            </a: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 sz="1200" b="1" dirty="0">
                <a:solidFill>
                  <a:srgbClr val="F79646">
                    <a:lumMod val="50000"/>
                  </a:srgbClr>
                </a:solidFill>
                <a:latin typeface="Arial"/>
                <a:ea typeface="ヒラギノ角ゴ Pro W3" pitchFamily="-126" charset="-128"/>
              </a:rPr>
              <a:t>(note: Provider’s FHIR Server receives the report)</a:t>
            </a:r>
          </a:p>
          <a:p>
            <a:r>
              <a:rPr lang="en-US" dirty="0"/>
              <a:t>2/8/2022:</a:t>
            </a:r>
          </a:p>
          <a:p>
            <a:r>
              <a:rPr lang="en-US" dirty="0"/>
              <a:t>1. Added POST above 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1D553A4D-C549-44B5-B4F2-4FBA040D2BDB}" type="slidenum">
              <a:rPr lang="en-US" smtClean="0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42702917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 sz="1200" b="1" dirty="0">
                <a:solidFill>
                  <a:srgbClr val="F79646">
                    <a:lumMod val="50000"/>
                  </a:srgbClr>
                </a:solidFill>
                <a:latin typeface="Arial"/>
                <a:ea typeface="ヒラギノ角ゴ Pro W3" pitchFamily="-126" charset="-128"/>
              </a:rPr>
              <a:t>Payer is the Client, it initiates the request and pushes the report</a:t>
            </a: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 sz="1200" b="1" dirty="0">
                <a:solidFill>
                  <a:srgbClr val="F79646">
                    <a:lumMod val="50000"/>
                  </a:srgbClr>
                </a:solidFill>
                <a:latin typeface="Arial"/>
                <a:ea typeface="ヒラギノ角ゴ Pro W3" pitchFamily="-126" charset="-128"/>
              </a:rPr>
              <a:t>(note: Provider’s FHIR Server receives the report)</a:t>
            </a:r>
          </a:p>
          <a:p>
            <a:r>
              <a:rPr lang="en-US" dirty="0"/>
              <a:t>2/8/2022:</a:t>
            </a:r>
          </a:p>
          <a:p>
            <a:r>
              <a:rPr lang="en-US" dirty="0"/>
              <a:t>1. Added POST above 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1D553A4D-C549-44B5-B4F2-4FBA040D2BDB}" type="slidenum">
              <a:rPr lang="en-US" smtClean="0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315195330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1D553A4D-C549-44B5-B4F2-4FBA040D2BDB}" type="slidenum">
              <a:rPr lang="en-US" smtClean="0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631245723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 dirty="0"/>
              <a:t>Updated 3/15/2023 to address Cody’s comment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1D553A4D-C549-44B5-B4F2-4FBA040D2BDB}" type="slidenum">
              <a:rPr lang="en-US" smtClean="0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642822236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 dirty="0"/>
              <a:t>Updated 3/15/2023 to address Cody’s comment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1D553A4D-C549-44B5-B4F2-4FBA040D2BDB}" type="slidenum">
              <a:rPr lang="en-US" smtClean="0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269651748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9C6A856-4B1A-C6CF-B3D1-C6121C7ED19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8FD14613-589D-F449-FCAC-FD94A54C3D96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4310B758-0934-A1E8-0E62-A6E1ADEB5010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 dirty="0"/>
              <a:t>Updated 3/15/2023 to address Cody’s comment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FF01CC39-D2C4-BC14-340E-1AB3F6546A48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1D553A4D-C549-44B5-B4F2-4FBA040D2BDB}" type="slidenum">
              <a:rPr lang="en-US" smtClean="0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066337419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 dirty="0"/>
              <a:t>Updated 3/15/2023 to address Cody’s comment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1D553A4D-C549-44B5-B4F2-4FBA040D2BDB}" type="slidenum">
              <a:rPr lang="en-US" smtClean="0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180562184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 dirty="0"/>
              <a:t>Updated 3/15/2023 to address Cody’s comment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1D553A4D-C549-44B5-B4F2-4FBA040D2BDB}" type="slidenum">
              <a:rPr lang="en-US" smtClean="0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968631887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 dirty="0"/>
              <a:t>Updated payer to Payer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1D553A4D-C549-44B5-B4F2-4FBA040D2BDB}" type="slidenum">
              <a:rPr lang="en-US" smtClean="0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421406688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A007E7D-62F3-A850-2401-003B0700CF7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74A53389-B61F-6EB5-102D-2C6AA4270296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26B9DC9A-3ACE-B5A8-940F-C57FCEEC729A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 dirty="0"/>
              <a:t>Updated payer to Payer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E34047D8-22CE-31DF-6F23-7A549C67209F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1D553A4D-C549-44B5-B4F2-4FBA040D2BDB}" type="slidenum">
              <a:rPr lang="en-US" smtClean="0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088446898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A86C9E8-2670-F279-46B1-DF6619BF443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C5E17032-127A-4FAD-9F0D-73A2387336B5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9C79F8F4-8669-0AF7-76EB-E261767CD431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 dirty="0"/>
              <a:t>Updated payer to Payer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4108A78B-83A9-B0B8-AFD8-6572668DBBFB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1D553A4D-C549-44B5-B4F2-4FBA040D2BDB}" type="slidenum">
              <a:rPr lang="en-US" smtClean="0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58664933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1D553A4D-C549-44B5-B4F2-4FBA040D2BDB}" type="slidenum">
              <a:rPr lang="en-US" smtClean="0"/>
              <a:t>17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79663402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1D553A4D-C549-44B5-B4F2-4FBA040D2BDB}" type="slidenum">
              <a:rPr lang="en-US" smtClean="0"/>
              <a:t>18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639938445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1D553A4D-C549-44B5-B4F2-4FBA040D2BDB}" type="slidenum">
              <a:rPr lang="en-US" smtClean="0"/>
              <a:t>19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481246346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Used for risk-adjustment-gaps-workflow.png</a:t>
            </a:r>
          </a:p>
          <a:p>
            <a:r>
              <a:rPr lang="en-US" dirty="0"/>
              <a:t>2/8/2022: Updated during ballot reconciliations as proposed resolutions</a:t>
            </a:r>
          </a:p>
          <a:p>
            <a:pPr marL="228600" indent="-228600">
              <a:buAutoNum type="arabicPeriod"/>
            </a:pPr>
            <a:r>
              <a:rPr lang="en-US" dirty="0"/>
              <a:t>Removed the word Example</a:t>
            </a:r>
          </a:p>
          <a:p>
            <a:pPr marL="228600" indent="-228600">
              <a:buAutoNum type="arabicPeriod"/>
            </a:pPr>
            <a:r>
              <a:rPr lang="en-US" dirty="0"/>
              <a:t>Figure is now Figure 1-4 instead of Figure 1-3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1D553A4D-C549-44B5-B4F2-4FBA040D2BDB}" type="slidenum">
              <a:rPr lang="en-US" smtClean="0"/>
              <a:t>20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833741101"/>
      </p:ext>
    </p:extLst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 dirty="0"/>
              <a:t>Last change Nov 14, 2018</a:t>
            </a: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 dirty="0"/>
              <a:t>Added to index page as first figure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2F62192F-D567-064E-92E6-9F58FEBFC77E}" type="slidenum">
              <a:rPr lang="en-US" smtClean="0"/>
              <a:t>22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046029674"/>
      </p:ext>
    </p:extLst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 marL="0" marR="0" lvl="0" indent="0" algn="r" defTabSz="4572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fld id="{CF4A7F80-F256-4EC8-A9CC-1A842C6C5143}" type="slidenum">
              <a:rPr kumimoji="0" lang="en-US" altLang="en-US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 pitchFamily="34" charset="0"/>
                <a:ea typeface="ヒラギノ角ゴ Pro W3" pitchFamily="-126" charset="-128"/>
                <a:cs typeface="+mn-cs"/>
              </a:rPr>
              <a:pPr marL="0" marR="0" lvl="0" indent="0" algn="r" defTabSz="4572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t>24</a:t>
            </a:fld>
            <a:endParaRPr kumimoji="0" lang="en-US" altLang="en-US" sz="12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 pitchFamily="34" charset="0"/>
              <a:ea typeface="ヒラギノ角ゴ Pro W3" pitchFamily="-126" charset="-128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1826456640"/>
      </p:ext>
    </p:extLst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 marL="0" marR="0" lvl="0" indent="0" algn="r" defTabSz="4572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fld id="{CF4A7F80-F256-4EC8-A9CC-1A842C6C5143}" type="slidenum">
              <a:rPr kumimoji="0" lang="en-US" altLang="en-US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 pitchFamily="34" charset="0"/>
                <a:ea typeface="ヒラギノ角ゴ Pro W3" pitchFamily="-126" charset="-128"/>
                <a:cs typeface="+mn-cs"/>
              </a:rPr>
              <a:pPr marL="0" marR="0" lvl="0" indent="0" algn="r" defTabSz="4572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t>25</a:t>
            </a:fld>
            <a:endParaRPr kumimoji="0" lang="en-US" altLang="en-US" sz="12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 pitchFamily="34" charset="0"/>
              <a:ea typeface="ヒラギノ角ゴ Pro W3" pitchFamily="-126" charset="-128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4117986192"/>
      </p:ext>
    </p:extLst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Source is </a:t>
            </a:r>
            <a:r>
              <a:rPr lang="en-US" dirty="0" err="1"/>
              <a:t>visio</a:t>
            </a:r>
            <a:r>
              <a:rPr lang="en-US" dirty="0"/>
              <a:t>, 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1D553A4D-C549-44B5-B4F2-4FBA040D2BDB}" type="slidenum">
              <a:rPr lang="en-US" smtClean="0"/>
              <a:t>26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003593020"/>
      </p:ext>
    </p:extLst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Used for risk-adjustment-gaps-workflow.png</a:t>
            </a:r>
          </a:p>
          <a:p>
            <a:r>
              <a:rPr lang="en-US" dirty="0"/>
              <a:t>2/8/2022: Updated during ballot reconciliations as proposed resolutions</a:t>
            </a:r>
          </a:p>
          <a:p>
            <a:pPr marL="228600" indent="-228600">
              <a:buAutoNum type="arabicPeriod"/>
            </a:pPr>
            <a:r>
              <a:rPr lang="en-US" dirty="0"/>
              <a:t>Removed the word Example</a:t>
            </a:r>
          </a:p>
          <a:p>
            <a:pPr marL="228600" indent="-228600">
              <a:buAutoNum type="arabicPeriod"/>
            </a:pPr>
            <a:r>
              <a:rPr lang="en-US" dirty="0"/>
              <a:t>Figure is now Figure 1-4 instead of Figure 1-3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1D553A4D-C549-44B5-B4F2-4FBA040D2BDB}" type="slidenum">
              <a:rPr lang="en-US" smtClean="0"/>
              <a:t>27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279205649"/>
      </p:ext>
    </p:extLst>
  </p:cSld>
  <p:clrMapOvr>
    <a:masterClrMapping/>
  </p:clrMapOvr>
</p:notes>
</file>

<file path=ppt/notesSlides/notesSlide2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 sz="1200" b="1" dirty="0">
                <a:solidFill>
                  <a:srgbClr val="F79646">
                    <a:lumMod val="50000"/>
                  </a:srgbClr>
                </a:solidFill>
                <a:latin typeface="Arial"/>
                <a:ea typeface="ヒラギノ角ゴ Pro W3" pitchFamily="-126" charset="-128"/>
              </a:rPr>
              <a:t>Payer is the Client, it initiates the request and pushes the report</a:t>
            </a: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 sz="1200" b="1" dirty="0">
                <a:solidFill>
                  <a:srgbClr val="F79646">
                    <a:lumMod val="50000"/>
                  </a:srgbClr>
                </a:solidFill>
                <a:latin typeface="Arial"/>
                <a:ea typeface="ヒラギノ角ゴ Pro W3" pitchFamily="-126" charset="-128"/>
              </a:rPr>
              <a:t>(note: Provider’s FHIR Server receives the report)</a:t>
            </a:r>
          </a:p>
          <a:p>
            <a:r>
              <a:rPr lang="en-US" dirty="0"/>
              <a:t>2/8/2022:</a:t>
            </a:r>
          </a:p>
          <a:p>
            <a:r>
              <a:rPr lang="en-US" dirty="0"/>
              <a:t>1. Added POST above 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1D553A4D-C549-44B5-B4F2-4FBA040D2BDB}" type="slidenum">
              <a:rPr lang="en-US" smtClean="0"/>
              <a:t>28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58498186"/>
      </p:ext>
    </p:extLst>
  </p:cSld>
  <p:clrMapOvr>
    <a:masterClrMapping/>
  </p:clrMapOvr>
</p:notes>
</file>

<file path=ppt/notesSlides/notesSlide2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Note: 1-16-2022 corrected HCC 18 from Diabetes with No Complication to Diabetes with Chronic Complication</a:t>
            </a:r>
          </a:p>
          <a:p>
            <a:r>
              <a:rPr lang="en-US" dirty="0"/>
              <a:t>3/16/2023: updated Risk Adjustment Coding Gap Report Bundle to “Bundle (searchSet)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1D553A4D-C549-44B5-B4F2-4FBA040D2BDB}" type="slidenum">
              <a:rPr lang="en-US" smtClean="0"/>
              <a:t>29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088308294"/>
      </p:ext>
    </p:extLst>
  </p:cSld>
  <p:clrMapOvr>
    <a:masterClrMapping/>
  </p:clrMapOvr>
</p:notes>
</file>

<file path=ppt/notesSlides/notesSlide2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Generated using /sequencediagram.org</a:t>
            </a:r>
          </a:p>
          <a:p>
            <a:r>
              <a:rPr lang="en-US" dirty="0"/>
              <a:t>Input file in image/source/Risk-Adjustment-Coding-Gap-Report-Single-Patient.txt</a:t>
            </a:r>
          </a:p>
          <a:p>
            <a:r>
              <a:rPr lang="en-US" dirty="0"/>
              <a:t>  for STU2 image/source/Risk-Adjustment-Coding-Gap-Report-Single-Patient-STU2.txt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1D553A4D-C549-44B5-B4F2-4FBA040D2BDB}" type="slidenum">
              <a:rPr lang="en-US" smtClean="0"/>
              <a:t>30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05341683"/>
      </p:ext>
    </p:extLst>
  </p:cSld>
  <p:clrMapOvr>
    <a:masterClrMapping/>
  </p:clrMapOvr>
</p:notes>
</file>

<file path=ppt/notesSlides/notesSlide2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Generated using /sequencediagram.org</a:t>
            </a:r>
          </a:p>
          <a:p>
            <a:r>
              <a:rPr lang="en-US" dirty="0"/>
              <a:t>Input for STU2 image/source/Risk-Adjustment-Coding-Gap-Report-Single-Patient-STU2.txt</a:t>
            </a:r>
          </a:p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1D553A4D-C549-44B5-B4F2-4FBA040D2BDB}" type="slidenum">
              <a:rPr lang="en-US" smtClean="0"/>
              <a:t>31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254038017"/>
      </p:ext>
    </p:extLst>
  </p:cSld>
  <p:clrMapOvr>
    <a:masterClrMapping/>
  </p:clrMapOvr>
</p:notes>
</file>

<file path=ppt/notesSlides/notesSlide2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Used for risk-adjustment-gaps-workflow.png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1D553A4D-C549-44B5-B4F2-4FBA040D2BDB}" type="slidenum">
              <a:rPr lang="en-US" smtClean="0"/>
              <a:t>37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11305095"/>
      </p:ext>
    </p:extLst>
  </p:cSld>
  <p:clrMapOvr>
    <a:masterClrMapping/>
  </p:clrMapOvr>
</p:notes>
</file>

<file path=ppt/notesSlides/notesSlide2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Used for risk-adjustment-gaps-workflow.png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1D553A4D-C549-44B5-B4F2-4FBA040D2BDB}" type="slidenum">
              <a:rPr lang="en-US" smtClean="0"/>
              <a:t>38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896009126"/>
      </p:ext>
    </p:extLst>
  </p:cSld>
  <p:clrMapOvr>
    <a:masterClrMapping/>
  </p:clrMapOvr>
</p:notes>
</file>

<file path=ppt/notesSlides/notesSlide3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Source is </a:t>
            </a:r>
            <a:r>
              <a:rPr lang="en-US" dirty="0" err="1"/>
              <a:t>visio</a:t>
            </a:r>
            <a:r>
              <a:rPr lang="en-US" dirty="0"/>
              <a:t>, 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1D553A4D-C549-44B5-B4F2-4FBA040D2BDB}" type="slidenum">
              <a:rPr lang="en-US" smtClean="0"/>
              <a:t>39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997305611"/>
      </p:ext>
    </p:extLst>
  </p:cSld>
  <p:clrMapOvr>
    <a:masterClrMapping/>
  </p:clrMapOvr>
</p:notes>
</file>

<file path=ppt/notesSlides/notesSlide3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Resource Graph to match Report	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1D553A4D-C549-44B5-B4F2-4FBA040D2BDB}" type="slidenum">
              <a:rPr lang="en-US" smtClean="0"/>
              <a:t>40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59845284"/>
      </p:ext>
    </p:extLst>
  </p:cSld>
  <p:clrMapOvr>
    <a:masterClrMapping/>
  </p:clrMapOvr>
</p:notes>
</file>

<file path=ppt/notesSlides/notesSlide3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1D553A4D-C549-44B5-B4F2-4FBA040D2BDB}" type="slidenum">
              <a:rPr lang="en-US" smtClean="0"/>
              <a:t>42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218653107"/>
      </p:ext>
    </p:extLst>
  </p:cSld>
  <p:clrMapOvr>
    <a:masterClrMapping/>
  </p:clrMapOvr>
</p:notes>
</file>

<file path=ppt/notesSlides/notesSlide3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1D553A4D-C549-44B5-B4F2-4FBA040D2BDB}" type="slidenum">
              <a:rPr lang="en-US" smtClean="0"/>
              <a:t>43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48978376"/>
      </p:ext>
    </p:extLst>
  </p:cSld>
  <p:clrMapOvr>
    <a:masterClrMapping/>
  </p:clrMapOvr>
</p:notes>
</file>

<file path=ppt/notesSlides/notesSlide3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Note: 1-16-2022 corrected HCC 18 from Diabetes with No Complication to Diabetes with Chronic Complication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1D553A4D-C549-44B5-B4F2-4FBA040D2BDB}" type="slidenum">
              <a:rPr lang="en-US" smtClean="0"/>
              <a:t>44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3163658"/>
      </p:ext>
    </p:extLst>
  </p:cSld>
  <p:clrMapOvr>
    <a:masterClrMapping/>
  </p:clrMapOvr>
</p:notes>
</file>

<file path=ppt/notesSlides/notesSlide3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1D553A4D-C549-44B5-B4F2-4FBA040D2BDB}" type="slidenum">
              <a:rPr lang="en-US" smtClean="0"/>
              <a:t>45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056746732"/>
      </p:ext>
    </p:extLst>
  </p:cSld>
  <p:clrMapOvr>
    <a:masterClrMapping/>
  </p:clrMapOvr>
</p:notes>
</file>

<file path=ppt/notesSlides/notesSlide3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1D553A4D-C549-44B5-B4F2-4FBA040D2BDB}" type="slidenum">
              <a:rPr lang="en-US" smtClean="0"/>
              <a:t>46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321632637"/>
      </p:ext>
    </p:extLst>
  </p:cSld>
  <p:clrMapOvr>
    <a:masterClrMapping/>
  </p:clrMapOvr>
</p:notes>
</file>

<file path=ppt/notesSlides/notesSlide3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1D553A4D-C549-44B5-B4F2-4FBA040D2BDB}" type="slidenum">
              <a:rPr lang="en-US" smtClean="0"/>
              <a:t>47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574467549"/>
      </p:ext>
    </p:extLst>
  </p:cSld>
  <p:clrMapOvr>
    <a:masterClrMapping/>
  </p:clrMapOvr>
</p:notes>
</file>

<file path=ppt/notesSlides/notesSlide3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1D553A4D-C549-44B5-B4F2-4FBA040D2BDB}" type="slidenum">
              <a:rPr lang="en-US" smtClean="0"/>
              <a:t>48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72659632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jpg"/><Relationship Id="rId2" Type="http://schemas.openxmlformats.org/officeDocument/2006/relationships/image" Target="../media/image2.emf"/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jpg"/><Relationship Id="rId2" Type="http://schemas.openxmlformats.org/officeDocument/2006/relationships/image" Target="../media/image2.emf"/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image" Target="../media/image4.emf"/><Relationship Id="rId1" Type="http://schemas.openxmlformats.org/officeDocument/2006/relationships/slideMaster" Target="../slideMasters/slideMaster2.xml"/><Relationship Id="rId5" Type="http://schemas.openxmlformats.org/officeDocument/2006/relationships/image" Target="../media/image7.tif"/><Relationship Id="rId4" Type="http://schemas.openxmlformats.org/officeDocument/2006/relationships/image" Target="../media/image6.png"/></Relationships>
</file>

<file path=ppt/slideLayouts/_rels/slideLayout16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jpg"/><Relationship Id="rId2" Type="http://schemas.openxmlformats.org/officeDocument/2006/relationships/image" Target="../media/image2.emf"/><Relationship Id="rId1" Type="http://schemas.openxmlformats.org/officeDocument/2006/relationships/slideMaster" Target="../slideMasters/slideMaster2.xml"/></Relationships>
</file>

<file path=ppt/slideLayouts/_rels/slideLayout17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jpg"/><Relationship Id="rId2" Type="http://schemas.openxmlformats.org/officeDocument/2006/relationships/image" Target="../media/image2.emf"/><Relationship Id="rId1" Type="http://schemas.openxmlformats.org/officeDocument/2006/relationships/slideMaster" Target="../slideMasters/slideMaster2.xml"/></Relationships>
</file>

<file path=ppt/slideLayouts/_rels/slideLayout18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jpg"/><Relationship Id="rId2" Type="http://schemas.openxmlformats.org/officeDocument/2006/relationships/image" Target="../media/image2.emf"/><Relationship Id="rId1" Type="http://schemas.openxmlformats.org/officeDocument/2006/relationships/slideMaster" Target="../slideMasters/slideMaster2.xml"/></Relationships>
</file>

<file path=ppt/slideLayouts/_rels/slideLayout19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jpg"/><Relationship Id="rId2" Type="http://schemas.openxmlformats.org/officeDocument/2006/relationships/image" Target="../media/image2.emf"/><Relationship Id="rId1" Type="http://schemas.openxmlformats.org/officeDocument/2006/relationships/slideMaster" Target="../slideMasters/slideMaster2.xml"/></Relationships>
</file>

<file path=ppt/slideLayouts/_rels/slideLayout20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jpg"/><Relationship Id="rId2" Type="http://schemas.openxmlformats.org/officeDocument/2006/relationships/image" Target="../media/image2.emf"/><Relationship Id="rId1" Type="http://schemas.openxmlformats.org/officeDocument/2006/relationships/slideMaster" Target="../slideMasters/slideMaster2.xml"/></Relationships>
</file>

<file path=ppt/slideLayouts/_rels/slideLayout21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jpg"/><Relationship Id="rId2" Type="http://schemas.openxmlformats.org/officeDocument/2006/relationships/image" Target="../media/image2.emf"/><Relationship Id="rId1" Type="http://schemas.openxmlformats.org/officeDocument/2006/relationships/slideMaster" Target="../slideMasters/slideMaster2.xml"/></Relationships>
</file>

<file path=ppt/slideLayouts/_rels/slideLayout22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jpg"/><Relationship Id="rId2" Type="http://schemas.openxmlformats.org/officeDocument/2006/relationships/image" Target="../media/image2.emf"/><Relationship Id="rId1" Type="http://schemas.openxmlformats.org/officeDocument/2006/relationships/slideMaster" Target="../slideMasters/slideMaster2.xml"/></Relationships>
</file>

<file path=ppt/slideLayouts/_rels/slideLayout23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jpg"/><Relationship Id="rId2" Type="http://schemas.openxmlformats.org/officeDocument/2006/relationships/image" Target="../media/image2.emf"/><Relationship Id="rId1" Type="http://schemas.openxmlformats.org/officeDocument/2006/relationships/slideMaster" Target="../slideMasters/slideMaster2.xml"/></Relationships>
</file>

<file path=ppt/slideLayouts/_rels/slideLayout24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jpg"/><Relationship Id="rId1" Type="http://schemas.openxmlformats.org/officeDocument/2006/relationships/slideMaster" Target="../slideMasters/slideMaster2.xml"/></Relationships>
</file>

<file path=ppt/slideLayouts/_rels/slideLayout2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6EC9F27-5F71-427B-8DF0-9B28148F7A96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456C65BD-28F3-4864-8D87-605282A8FF08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58828362-0CA1-4B6D-AF9C-18F89DB2F63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E232C92-DF21-4A04-859B-AAF8BD4EC904}" type="datetimeFigureOut">
              <a:rPr lang="en-US" smtClean="0"/>
              <a:t>3/12/2026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8392BB47-4D1F-4C2D-A911-A98C9902721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0FE411D2-F72F-4336-A231-4C22ADFA9D8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5E607B5-1CAF-438C-8693-BC134B2F1E5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761025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CD1152A-151E-4431-B878-B8C070B3FBF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B33B6A5F-6452-43C7-A2F4-490D3DD3CEEB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B2371FBB-52FC-4D4F-8ECA-D7192B22F58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E232C92-DF21-4A04-859B-AAF8BD4EC904}" type="datetimeFigureOut">
              <a:rPr lang="en-US" smtClean="0"/>
              <a:t>3/12/2026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90499911-42D1-4B70-BF90-39190818B37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CC654252-880C-46E6-B074-D976A1AAF13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5E607B5-1CAF-438C-8693-BC134B2F1E5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349753971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750DBA5-B93E-4362-9F70-84719589A72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1D827059-D17D-41B6-BEE3-C59C486E290C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75F08C65-FDBA-42AF-B1BF-0F9407251AD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E232C92-DF21-4A04-859B-AAF8BD4EC904}" type="datetimeFigureOut">
              <a:rPr lang="en-US" smtClean="0"/>
              <a:t>3/12/2026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06BB0678-68F9-48E1-A3C8-CE4EE512CDB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B8D8A9B0-CEFE-4A31-9692-2A0212FB822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5E607B5-1CAF-438C-8693-BC134B2F1E5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80339076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4C382E9-E729-42B9-B70C-CE6E3E2C1FD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F8A64752-194A-443C-BC4B-3AD121AC62CE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27DDF64A-FAC6-4032-80F7-8A9A870B5AF0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6A3C6357-9F33-4155-9C68-8EC5139475B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E232C92-DF21-4A04-859B-AAF8BD4EC904}" type="datetimeFigureOut">
              <a:rPr lang="en-US" smtClean="0"/>
              <a:t>3/12/2026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CF72B9BE-132F-4C3C-92AC-0970860D802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29404537-6B0D-4F9C-894B-674770B5E4F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5E607B5-1CAF-438C-8693-BC134B2F1E5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35139473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93E813A-0FD8-428C-A895-569ADA56AD1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2A52C1D4-10B3-4E2F-BB59-460681D1A417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0F03CEB9-240B-45D7-9D78-68920E69F047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B33DC58D-994F-4900-A636-602DCBDAD5E1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47C444A5-9BB9-4E6C-9DF3-7E49FE8202CD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341AFD25-10A9-435D-92C2-637FD6EF2BA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E232C92-DF21-4A04-859B-AAF8BD4EC904}" type="datetimeFigureOut">
              <a:rPr lang="en-US" smtClean="0"/>
              <a:t>3/12/2026</a:t>
            </a:fld>
            <a:endParaRPr lang="en-US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1362A068-6695-4B58-987A-87479C25D3C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7F021B04-33C3-48A1-A477-EE5992E0E31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5E607B5-1CAF-438C-8693-BC134B2F1E5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293270472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38DCC99-D7FF-4C2A-BC13-89B761651AF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DA02AF5C-E256-451F-9DF4-34C78D1C796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E232C92-DF21-4A04-859B-AAF8BD4EC904}" type="datetimeFigureOut">
              <a:rPr lang="en-US" smtClean="0"/>
              <a:t>3/12/2026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681658A0-EBD7-4015-9C42-EEB2E9068A6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4C4AB5CF-B6E4-4898-8839-5D3D03AB863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5E607B5-1CAF-438C-8693-BC134B2F1E5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98128628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E74ABB72-FCC5-4770-A53E-49F813DC9D1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E232C92-DF21-4A04-859B-AAF8BD4EC904}" type="datetimeFigureOut">
              <a:rPr lang="en-US" smtClean="0"/>
              <a:t>3/12/2026</a:t>
            </a:fld>
            <a:endParaRPr lang="en-US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E3C84B6D-355A-4E51-A321-4C1982463CA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907C5360-A3F7-4227-9CB9-6E4F169BEEB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5E607B5-1CAF-438C-8693-BC134B2F1E5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90185306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4471E98-9F1C-443D-8A85-E850222B6F8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91DAA6B2-4FA2-4C3D-AF97-B42F6C74288A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04A67238-C929-4AD5-AA7B-F3E86513F14F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F1CCDC2E-CE41-4A64-8487-70AAECA2603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E232C92-DF21-4A04-859B-AAF8BD4EC904}" type="datetimeFigureOut">
              <a:rPr lang="en-US" smtClean="0"/>
              <a:t>3/12/2026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4AE0FE7A-301F-404E-B20B-A9FE64FEBBF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2B354AE7-1194-46FC-A66B-674AC762732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5E607B5-1CAF-438C-8693-BC134B2F1E5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90442515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685B49E-4D4A-4168-AD44-EDFBE2D8317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4D38A92C-2028-48C6-8F3B-9AC00B146EAB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CA6FDD20-B72C-4993-872F-BB0EAEF469B9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BBBF4E6A-1F6C-44E4-A18C-5D6408DD20F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E232C92-DF21-4A04-859B-AAF8BD4EC904}" type="datetimeFigureOut">
              <a:rPr lang="en-US" smtClean="0"/>
              <a:t>3/12/2026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18CD1A40-9FBC-4B4F-BA9F-B498B23812B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4E0203F2-EEE5-4998-981F-67A2C6E8692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5E607B5-1CAF-438C-8693-BC134B2F1E5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316920225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73E420B-36EA-48FC-B6F9-5C4B55CFE7B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92CA8978-5546-4F41-BB70-F8C1985433A0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FD86D51A-B48A-4D02-BED1-6773FA2BC94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E232C92-DF21-4A04-859B-AAF8BD4EC904}" type="datetimeFigureOut">
              <a:rPr lang="en-US" smtClean="0"/>
              <a:t>3/12/2026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73462837-D827-4887-BABA-7055D5E1818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6F1BAA99-73EE-4D88-8FD1-D1C2F3CC091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5E607B5-1CAF-438C-8693-BC134B2F1E5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505413646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9188BA89-C58F-4E64-9713-BCC78787FEE8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B281D48B-815A-4FB2-91B8-A6FB3D4250D1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0CDA80A3-E906-4893-AE63-D7F734EA6E5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E232C92-DF21-4A04-859B-AAF8BD4EC904}" type="datetimeFigureOut">
              <a:rPr lang="en-US" smtClean="0"/>
              <a:t>3/12/2026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74FD70F7-24CF-475B-B3F6-B2E220B341D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91C9B522-5595-4FEB-A75A-832664312DF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5E607B5-1CAF-438C-8693-BC134B2F1E5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878468602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ConOps 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Rectangle 2">
            <a:extLst>
              <a:ext uri="{FF2B5EF4-FFF2-40B4-BE49-F238E27FC236}">
                <a16:creationId xmlns:a16="http://schemas.microsoft.com/office/drawing/2014/main" id="{3AE28ED3-EA0C-4D5F-A34A-F2BAAD919DEA}"/>
              </a:ext>
            </a:extLst>
          </p:cNvPr>
          <p:cNvSpPr/>
          <p:nvPr userDrawn="1"/>
        </p:nvSpPr>
        <p:spPr>
          <a:xfrm>
            <a:off x="446534" y="318733"/>
            <a:ext cx="3703320" cy="82296"/>
          </a:xfrm>
          <a:prstGeom prst="rect">
            <a:avLst/>
          </a:prstGeom>
          <a:solidFill>
            <a:schemeClr val="accent1">
              <a:lumMod val="75000"/>
            </a:scheme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en-US"/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C6111071-B7D5-41BC-9A28-DF87715226CC}"/>
              </a:ext>
            </a:extLst>
          </p:cNvPr>
          <p:cNvSpPr/>
          <p:nvPr userDrawn="1"/>
        </p:nvSpPr>
        <p:spPr>
          <a:xfrm>
            <a:off x="8042147" y="318733"/>
            <a:ext cx="3703320" cy="82296"/>
          </a:xfrm>
          <a:prstGeom prst="rect">
            <a:avLst/>
          </a:prstGeom>
          <a:solidFill>
            <a:srgbClr val="00B0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en-US"/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0BF68EC0-14B4-41D2-80C8-C9D5F9C1168D}"/>
              </a:ext>
            </a:extLst>
          </p:cNvPr>
          <p:cNvSpPr/>
          <p:nvPr userDrawn="1"/>
        </p:nvSpPr>
        <p:spPr>
          <a:xfrm>
            <a:off x="4241830" y="318733"/>
            <a:ext cx="3703320" cy="82296"/>
          </a:xfrm>
          <a:prstGeom prst="rect">
            <a:avLst/>
          </a:prstGeom>
          <a:solidFill>
            <a:schemeClr val="accent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en-US"/>
          </a:p>
        </p:txBody>
      </p:sp>
      <p:sp>
        <p:nvSpPr>
          <p:cNvPr id="6" name="Footer Placeholder 3">
            <a:extLst>
              <a:ext uri="{FF2B5EF4-FFF2-40B4-BE49-F238E27FC236}">
                <a16:creationId xmlns:a16="http://schemas.microsoft.com/office/drawing/2014/main" id="{8A7CD102-8234-4CCC-8835-9404534DFAC5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581192" y="6317642"/>
            <a:ext cx="2765388" cy="365125"/>
          </a:xfrm>
          <a:prstGeom prst="rect">
            <a:avLst/>
          </a:prstGeom>
        </p:spPr>
        <p:txBody>
          <a:bodyPr anchor="ctr" anchorCtr="0"/>
          <a:lstStyle>
            <a:lvl1pPr>
              <a:defRPr sz="1000" i="1">
                <a:solidFill>
                  <a:schemeClr val="tx1">
                    <a:lumMod val="50000"/>
                    <a:lumOff val="50000"/>
                  </a:schemeClr>
                </a:solidFill>
                <a:latin typeface="Helvetica Neue" panose="02000503000000020004" pitchFamily="2" charset="0"/>
                <a:ea typeface="Helvetica Neue" panose="02000503000000020004" pitchFamily="2" charset="0"/>
                <a:cs typeface="Helvetica Neue" panose="02000503000000020004" pitchFamily="2" charset="0"/>
              </a:defRPr>
            </a:lvl1pPr>
          </a:lstStyle>
          <a:p>
            <a:r>
              <a:rPr lang="en-US" dirty="0"/>
              <a:t>Novillus Proprietary and Confidential</a:t>
            </a:r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id="{B6E4C21A-ADBC-46C8-B9AE-126CA454D02D}"/>
              </a:ext>
            </a:extLst>
          </p:cNvPr>
          <p:cNvPicPr>
            <a:picLocks noChangeAspect="1"/>
          </p:cNvPicPr>
          <p:nvPr userDrawn="1"/>
        </p:nvPicPr>
        <p:blipFill>
          <a:blip r:embed="rId2"/>
          <a:stretch>
            <a:fillRect/>
          </a:stretch>
        </p:blipFill>
        <p:spPr>
          <a:xfrm>
            <a:off x="113031" y="6308136"/>
            <a:ext cx="409410" cy="366953"/>
          </a:xfrm>
          <a:prstGeom prst="rect">
            <a:avLst/>
          </a:prstGeom>
        </p:spPr>
      </p:pic>
      <p:sp>
        <p:nvSpPr>
          <p:cNvPr id="8" name="Title Placeholder 1">
            <a:extLst>
              <a:ext uri="{FF2B5EF4-FFF2-40B4-BE49-F238E27FC236}">
                <a16:creationId xmlns:a16="http://schemas.microsoft.com/office/drawing/2014/main" id="{ACD11513-D6D8-4531-93CA-6444603A6580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446531" y="505062"/>
            <a:ext cx="11298933" cy="574796"/>
          </a:xfrm>
          <a:prstGeom prst="rect">
            <a:avLst/>
          </a:prstGeom>
          <a:solidFill>
            <a:srgbClr val="EEEEEE"/>
          </a:solidFill>
        </p:spPr>
        <p:txBody>
          <a:bodyPr vert="horz" lIns="228600" tIns="45720" rIns="228600" bIns="45720" rtlCol="0" anchor="ctr" anchorCtr="0">
            <a:normAutofit/>
          </a:bodyPr>
          <a:lstStyle>
            <a:lvl1pPr>
              <a:defRPr/>
            </a:lvl1pPr>
          </a:lstStyle>
          <a:p>
            <a:r>
              <a:rPr lang="en-US" dirty="0"/>
              <a:t>Click to edit TITLE ONLY style</a:t>
            </a:r>
          </a:p>
        </p:txBody>
      </p:sp>
      <p:sp>
        <p:nvSpPr>
          <p:cNvPr id="9" name="Date Placeholder 2">
            <a:extLst>
              <a:ext uri="{FF2B5EF4-FFF2-40B4-BE49-F238E27FC236}">
                <a16:creationId xmlns:a16="http://schemas.microsoft.com/office/drawing/2014/main" id="{901229AC-9592-4CA1-9F4D-B1240E75AA36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10061829" y="6320191"/>
            <a:ext cx="992425" cy="365125"/>
          </a:xfrm>
          <a:prstGeom prst="rect">
            <a:avLst/>
          </a:prstGeom>
        </p:spPr>
        <p:txBody>
          <a:bodyPr anchor="ctr" anchorCtr="0"/>
          <a:lstStyle>
            <a:lvl1pPr>
              <a:defRPr sz="1000">
                <a:latin typeface="Helvetica Neue" panose="02000503000000020004" pitchFamily="2" charset="0"/>
                <a:ea typeface="Helvetica Neue" panose="02000503000000020004" pitchFamily="2" charset="0"/>
                <a:cs typeface="Helvetica Neue" panose="02000503000000020004" pitchFamily="2" charset="0"/>
              </a:defRPr>
            </a:lvl1pPr>
          </a:lstStyle>
          <a:p>
            <a:endParaRPr lang="en-US" dirty="0"/>
          </a:p>
        </p:txBody>
      </p:sp>
      <p:sp>
        <p:nvSpPr>
          <p:cNvPr id="11" name="Slide Number Placeholder 4">
            <a:extLst>
              <a:ext uri="{FF2B5EF4-FFF2-40B4-BE49-F238E27FC236}">
                <a16:creationId xmlns:a16="http://schemas.microsoft.com/office/drawing/2014/main" id="{6F6FE017-FE66-4328-ADD3-D1AD373F8FDA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1201400" y="6317642"/>
            <a:ext cx="409410" cy="365125"/>
          </a:xfrm>
          <a:prstGeom prst="rect">
            <a:avLst/>
          </a:prstGeom>
        </p:spPr>
        <p:txBody>
          <a:bodyPr anchor="ctr" anchorCtr="0"/>
          <a:lstStyle>
            <a:lvl1pPr algn="r">
              <a:defRPr sz="1000">
                <a:solidFill>
                  <a:schemeClr val="accent1"/>
                </a:solidFill>
                <a:latin typeface="Helvetica Neue" panose="02000503000000020004" pitchFamily="2" charset="0"/>
                <a:ea typeface="Helvetica Neue" panose="02000503000000020004" pitchFamily="2" charset="0"/>
                <a:cs typeface="Helvetica Neue" panose="02000503000000020004" pitchFamily="2" charset="0"/>
              </a:defRPr>
            </a:lvl1pPr>
          </a:lstStyle>
          <a:p>
            <a:fld id="{D57F1E4F-1CFF-5643-939E-217C01CDF565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237922628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Divider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Rectangle 2">
            <a:extLst>
              <a:ext uri="{FF2B5EF4-FFF2-40B4-BE49-F238E27FC236}">
                <a16:creationId xmlns:a16="http://schemas.microsoft.com/office/drawing/2014/main" id="{23772DE4-7B37-4BBF-9A7D-6A9C4C776CAE}"/>
              </a:ext>
            </a:extLst>
          </p:cNvPr>
          <p:cNvSpPr/>
          <p:nvPr/>
        </p:nvSpPr>
        <p:spPr>
          <a:xfrm>
            <a:off x="0" y="967317"/>
            <a:ext cx="12192000" cy="3124200"/>
          </a:xfrm>
          <a:prstGeom prst="rect">
            <a:avLst/>
          </a:prstGeom>
          <a:solidFill>
            <a:srgbClr val="BABCB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0" tIns="0" rIns="0" bIns="0" anchor="ctr"/>
          <a:lstStyle/>
          <a:p>
            <a:pPr algn="ctr" fontAlgn="auto">
              <a:spcBef>
                <a:spcPts val="0"/>
              </a:spcBef>
              <a:spcAft>
                <a:spcPts val="0"/>
              </a:spcAft>
              <a:defRPr/>
            </a:pPr>
            <a:endParaRPr lang="en-US" sz="2400"/>
          </a:p>
        </p:txBody>
      </p:sp>
      <p:pic>
        <p:nvPicPr>
          <p:cNvPr id="4" name="Picture 7">
            <a:extLst>
              <a:ext uri="{FF2B5EF4-FFF2-40B4-BE49-F238E27FC236}">
                <a16:creationId xmlns:a16="http://schemas.microsoft.com/office/drawing/2014/main" id="{2A8297D7-F64D-40E5-9A05-32B16C0C76CD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95818" y="6231467"/>
            <a:ext cx="706967" cy="38311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cxnSp>
        <p:nvCxnSpPr>
          <p:cNvPr id="5" name="Straight Connector 4">
            <a:extLst>
              <a:ext uri="{FF2B5EF4-FFF2-40B4-BE49-F238E27FC236}">
                <a16:creationId xmlns:a16="http://schemas.microsoft.com/office/drawing/2014/main" id="{73FCBA1A-7FAD-4191-9B4F-C104C0F01C31}"/>
              </a:ext>
            </a:extLst>
          </p:cNvPr>
          <p:cNvCxnSpPr/>
          <p:nvPr/>
        </p:nvCxnSpPr>
        <p:spPr>
          <a:xfrm>
            <a:off x="1305984" y="6184900"/>
            <a:ext cx="0" cy="510117"/>
          </a:xfrm>
          <a:prstGeom prst="line">
            <a:avLst/>
          </a:prstGeom>
          <a:ln w="6350">
            <a:solidFill>
              <a:srgbClr val="3D3029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" name="Straight Connector 5">
            <a:extLst>
              <a:ext uri="{FF2B5EF4-FFF2-40B4-BE49-F238E27FC236}">
                <a16:creationId xmlns:a16="http://schemas.microsoft.com/office/drawing/2014/main" id="{4E36367C-A9EE-4A42-8187-82709238888C}"/>
              </a:ext>
            </a:extLst>
          </p:cNvPr>
          <p:cNvCxnSpPr/>
          <p:nvPr/>
        </p:nvCxnSpPr>
        <p:spPr>
          <a:xfrm>
            <a:off x="10174816" y="6389683"/>
            <a:ext cx="459317" cy="0"/>
          </a:xfrm>
          <a:prstGeom prst="line">
            <a:avLst/>
          </a:prstGeom>
          <a:ln>
            <a:solidFill>
              <a:srgbClr val="000000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7" name="Straight Connector 6">
            <a:extLst>
              <a:ext uri="{FF2B5EF4-FFF2-40B4-BE49-F238E27FC236}">
                <a16:creationId xmlns:a16="http://schemas.microsoft.com/office/drawing/2014/main" id="{D36E5EE3-C0A6-45E3-B498-80B24E58FEBC}"/>
              </a:ext>
            </a:extLst>
          </p:cNvPr>
          <p:cNvCxnSpPr/>
          <p:nvPr/>
        </p:nvCxnSpPr>
        <p:spPr>
          <a:xfrm>
            <a:off x="609600" y="1454151"/>
            <a:ext cx="0" cy="2150533"/>
          </a:xfrm>
          <a:prstGeom prst="line">
            <a:avLst/>
          </a:prstGeom>
          <a:ln w="63500">
            <a:solidFill>
              <a:srgbClr val="000000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63084" y="1173980"/>
            <a:ext cx="10748461" cy="2710827"/>
          </a:xfrm>
        </p:spPr>
        <p:txBody>
          <a:bodyPr>
            <a:noAutofit/>
          </a:bodyPr>
          <a:lstStyle>
            <a:lvl1pPr marL="0" marR="0" indent="0" algn="l" defTabSz="609585" rtl="0" eaLnBrk="1" fontAlgn="auto" latinLnBrk="0" hangingPunct="1">
              <a:lnSpc>
                <a:spcPct val="100000"/>
              </a:lnSpc>
              <a:spcBef>
                <a:spcPct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sz="4000" b="1" cap="all" spc="160"/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8" name="Footer Placeholder 4">
            <a:extLst>
              <a:ext uri="{FF2B5EF4-FFF2-40B4-BE49-F238E27FC236}">
                <a16:creationId xmlns:a16="http://schemas.microsoft.com/office/drawing/2014/main" id="{9170F17B-552A-4993-A6F0-1A6FE335872E}"/>
              </a:ext>
            </a:extLst>
          </p:cNvPr>
          <p:cNvSpPr>
            <a:spLocks noGrp="1"/>
          </p:cNvSpPr>
          <p:nvPr>
            <p:ph type="ftr" sz="quarter" idx="10"/>
          </p:nvPr>
        </p:nvSpPr>
        <p:spPr/>
        <p:txBody>
          <a:bodyPr>
            <a:noAutofit/>
          </a:bodyPr>
          <a:lstStyle>
            <a:lvl1pPr>
              <a:defRPr/>
            </a:lvl1pPr>
          </a:lstStyle>
          <a:p>
            <a:r>
              <a:rPr lang="en-US" b="1" dirty="0"/>
              <a:t>© 2019 Health Level Seven ® International. Licensed under Creative Commons Attribution 4.0 International</a:t>
            </a:r>
          </a:p>
          <a:p>
            <a:r>
              <a:rPr lang="en-US" b="1" dirty="0"/>
              <a:t>HL7, Health Level Seven, FHIR and the FHIR flame logo are registered trademarks of Health Level Seven International. Reg. U.S. TM Office.</a:t>
            </a:r>
          </a:p>
        </p:txBody>
      </p:sp>
      <p:sp>
        <p:nvSpPr>
          <p:cNvPr id="9" name="Slide Number Placeholder 5">
            <a:extLst>
              <a:ext uri="{FF2B5EF4-FFF2-40B4-BE49-F238E27FC236}">
                <a16:creationId xmlns:a16="http://schemas.microsoft.com/office/drawing/2014/main" id="{BB0BA930-B0EF-47CE-BD25-2934A0B21EBF}"/>
              </a:ext>
            </a:extLst>
          </p:cNvPr>
          <p:cNvSpPr>
            <a:spLocks noGrp="1"/>
          </p:cNvSpPr>
          <p:nvPr>
            <p:ph type="sldNum" sz="quarter" idx="11"/>
          </p:nvPr>
        </p:nvSpPr>
        <p:spPr>
          <a:xfrm>
            <a:off x="10229850" y="6389683"/>
            <a:ext cx="361951" cy="226664"/>
          </a:xfrm>
        </p:spPr>
        <p:txBody>
          <a:bodyPr/>
          <a:lstStyle>
            <a:lvl1pPr>
              <a:defRPr/>
            </a:lvl1pPr>
          </a:lstStyle>
          <a:p>
            <a:fld id="{6CACE926-AEF5-4BFE-8BD7-24414108CB7B}" type="slidenum">
              <a:rPr lang="en-US" altLang="en-US"/>
              <a:pPr/>
              <a:t>‹#›</a:t>
            </a:fld>
            <a:endParaRPr lang="en-US" altLang="en-US" dirty="0"/>
          </a:p>
        </p:txBody>
      </p:sp>
      <p:pic>
        <p:nvPicPr>
          <p:cNvPr id="15" name="Picture 14">
            <a:extLst>
              <a:ext uri="{FF2B5EF4-FFF2-40B4-BE49-F238E27FC236}">
                <a16:creationId xmlns:a16="http://schemas.microsoft.com/office/drawing/2014/main" id="{7EE7A39D-7D27-433D-99F1-A2BA7416BCEA}"/>
              </a:ext>
            </a:extLst>
          </p:cNvPr>
          <p:cNvPicPr>
            <a:picLocks noChangeAspect="1"/>
          </p:cNvPicPr>
          <p:nvPr userDrawn="1"/>
        </p:nvPicPr>
        <p:blipFill>
          <a:blip r:embed="rId3"/>
          <a:stretch>
            <a:fillRect/>
          </a:stretch>
        </p:blipFill>
        <p:spPr>
          <a:xfrm>
            <a:off x="11265957" y="5957652"/>
            <a:ext cx="445587" cy="65869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857130169"/>
      </p:ext>
    </p:extLst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1-Column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6" name="Straight Connector 5">
            <a:extLst>
              <a:ext uri="{FF2B5EF4-FFF2-40B4-BE49-F238E27FC236}">
                <a16:creationId xmlns:a16="http://schemas.microsoft.com/office/drawing/2014/main" id="{9E222CE2-2441-4806-BD21-3C89814DB123}"/>
              </a:ext>
            </a:extLst>
          </p:cNvPr>
          <p:cNvCxnSpPr/>
          <p:nvPr/>
        </p:nvCxnSpPr>
        <p:spPr>
          <a:xfrm>
            <a:off x="609600" y="275167"/>
            <a:ext cx="0" cy="1043517"/>
          </a:xfrm>
          <a:prstGeom prst="line">
            <a:avLst/>
          </a:prstGeom>
          <a:ln w="41275">
            <a:solidFill>
              <a:srgbClr val="000000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18196" y="274639"/>
            <a:ext cx="10972800" cy="1043103"/>
          </a:xfrm>
        </p:spPr>
        <p:txBody>
          <a:bodyPr>
            <a:noAutofit/>
          </a:bodyPr>
          <a:lstStyle>
            <a:lvl1pPr algn="l">
              <a:defRPr sz="4000" b="1">
                <a:solidFill>
                  <a:srgbClr val="EC2227"/>
                </a:solidFill>
              </a:defRPr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17" name="Text Placeholder 16"/>
          <p:cNvSpPr>
            <a:spLocks noGrp="1"/>
          </p:cNvSpPr>
          <p:nvPr>
            <p:ph type="body" sz="quarter" idx="13"/>
          </p:nvPr>
        </p:nvSpPr>
        <p:spPr>
          <a:xfrm>
            <a:off x="819150" y="1513192"/>
            <a:ext cx="10971844" cy="4501401"/>
          </a:xfrm>
        </p:spPr>
        <p:txBody>
          <a:bodyPr>
            <a:noAutofit/>
          </a:bodyPr>
          <a:lstStyle>
            <a:lvl1pPr marL="243834" indent="-243834" algn="l">
              <a:spcBef>
                <a:spcPts val="800"/>
              </a:spcBef>
              <a:spcAft>
                <a:spcPts val="0"/>
              </a:spcAft>
              <a:defRPr sz="3200"/>
            </a:lvl1pPr>
            <a:lvl2pPr>
              <a:spcBef>
                <a:spcPts val="800"/>
              </a:spcBef>
              <a:spcAft>
                <a:spcPts val="0"/>
              </a:spcAft>
              <a:defRPr sz="2667"/>
            </a:lvl2pPr>
            <a:lvl3pPr>
              <a:spcBef>
                <a:spcPts val="800"/>
              </a:spcBef>
              <a:spcAft>
                <a:spcPts val="0"/>
              </a:spcAft>
              <a:defRPr sz="2400"/>
            </a:lvl3pPr>
            <a:lvl4pPr>
              <a:spcBef>
                <a:spcPts val="800"/>
              </a:spcBef>
              <a:spcAft>
                <a:spcPts val="0"/>
              </a:spcAft>
              <a:defRPr sz="2400"/>
            </a:lvl4pPr>
            <a:lvl5pPr>
              <a:spcBef>
                <a:spcPts val="800"/>
              </a:spcBef>
              <a:spcAft>
                <a:spcPts val="0"/>
              </a:spcAft>
              <a:defRPr sz="2400"/>
            </a:lvl5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pic>
        <p:nvPicPr>
          <p:cNvPr id="20" name="Picture 7">
            <a:extLst>
              <a:ext uri="{FF2B5EF4-FFF2-40B4-BE49-F238E27FC236}">
                <a16:creationId xmlns:a16="http://schemas.microsoft.com/office/drawing/2014/main" id="{FF1A4796-4A3E-4E23-A65F-C2EDA7AAAAFB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95818" y="6231467"/>
            <a:ext cx="706967" cy="38311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cxnSp>
        <p:nvCxnSpPr>
          <p:cNvPr id="21" name="Straight Connector 20">
            <a:extLst>
              <a:ext uri="{FF2B5EF4-FFF2-40B4-BE49-F238E27FC236}">
                <a16:creationId xmlns:a16="http://schemas.microsoft.com/office/drawing/2014/main" id="{9DDE4C12-BE4C-4EEF-82CA-ADF374584E2B}"/>
              </a:ext>
            </a:extLst>
          </p:cNvPr>
          <p:cNvCxnSpPr/>
          <p:nvPr userDrawn="1"/>
        </p:nvCxnSpPr>
        <p:spPr>
          <a:xfrm>
            <a:off x="1305984" y="6184900"/>
            <a:ext cx="0" cy="510117"/>
          </a:xfrm>
          <a:prstGeom prst="line">
            <a:avLst/>
          </a:prstGeom>
          <a:ln w="6350">
            <a:solidFill>
              <a:srgbClr val="3D3029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2" name="Straight Connector 21">
            <a:extLst>
              <a:ext uri="{FF2B5EF4-FFF2-40B4-BE49-F238E27FC236}">
                <a16:creationId xmlns:a16="http://schemas.microsoft.com/office/drawing/2014/main" id="{23C98D77-F5F9-4313-9DC7-5F790F5F2129}"/>
              </a:ext>
            </a:extLst>
          </p:cNvPr>
          <p:cNvCxnSpPr/>
          <p:nvPr userDrawn="1"/>
        </p:nvCxnSpPr>
        <p:spPr>
          <a:xfrm>
            <a:off x="10174816" y="6389683"/>
            <a:ext cx="459317" cy="0"/>
          </a:xfrm>
          <a:prstGeom prst="line">
            <a:avLst/>
          </a:prstGeom>
          <a:ln>
            <a:solidFill>
              <a:srgbClr val="000000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3" name="Footer Placeholder 4">
            <a:extLst>
              <a:ext uri="{FF2B5EF4-FFF2-40B4-BE49-F238E27FC236}">
                <a16:creationId xmlns:a16="http://schemas.microsoft.com/office/drawing/2014/main" id="{3278E695-3242-46C8-A5D0-91F98BE1AA7A}"/>
              </a:ext>
            </a:extLst>
          </p:cNvPr>
          <p:cNvSpPr>
            <a:spLocks noGrp="1"/>
          </p:cNvSpPr>
          <p:nvPr>
            <p:ph type="ftr" sz="quarter" idx="10"/>
          </p:nvPr>
        </p:nvSpPr>
        <p:spPr>
          <a:xfrm>
            <a:off x="1600201" y="6390217"/>
            <a:ext cx="6040967" cy="211667"/>
          </a:xfrm>
        </p:spPr>
        <p:txBody>
          <a:bodyPr>
            <a:noAutofit/>
          </a:bodyPr>
          <a:lstStyle>
            <a:lvl1pPr>
              <a:defRPr/>
            </a:lvl1pPr>
          </a:lstStyle>
          <a:p>
            <a:r>
              <a:rPr lang="en-US" b="1" dirty="0"/>
              <a:t>© 2019 Health Level Seven ® International. Licensed under Creative Commons Attribution 4.0 International</a:t>
            </a:r>
          </a:p>
          <a:p>
            <a:r>
              <a:rPr lang="en-US" b="1" dirty="0"/>
              <a:t>HL7, Health Level Seven, FHIR and the FHIR flame logo are registered trademarks of Health Level Seven International. Reg. U.S. TM Office.</a:t>
            </a:r>
          </a:p>
        </p:txBody>
      </p:sp>
      <p:sp>
        <p:nvSpPr>
          <p:cNvPr id="24" name="Slide Number Placeholder 5">
            <a:extLst>
              <a:ext uri="{FF2B5EF4-FFF2-40B4-BE49-F238E27FC236}">
                <a16:creationId xmlns:a16="http://schemas.microsoft.com/office/drawing/2014/main" id="{87358656-6BAF-4839-9468-448334EC23F1}"/>
              </a:ext>
            </a:extLst>
          </p:cNvPr>
          <p:cNvSpPr>
            <a:spLocks noGrp="1"/>
          </p:cNvSpPr>
          <p:nvPr>
            <p:ph type="sldNum" sz="quarter" idx="11"/>
          </p:nvPr>
        </p:nvSpPr>
        <p:spPr>
          <a:xfrm>
            <a:off x="10217150" y="6411413"/>
            <a:ext cx="361951" cy="211667"/>
          </a:xfrm>
        </p:spPr>
        <p:txBody>
          <a:bodyPr/>
          <a:lstStyle>
            <a:lvl1pPr>
              <a:defRPr/>
            </a:lvl1pPr>
          </a:lstStyle>
          <a:p>
            <a:fld id="{6CACE926-AEF5-4BFE-8BD7-24414108CB7B}" type="slidenum">
              <a:rPr lang="en-US" altLang="en-US"/>
              <a:pPr/>
              <a:t>‹#›</a:t>
            </a:fld>
            <a:endParaRPr lang="en-US" altLang="en-US" dirty="0"/>
          </a:p>
        </p:txBody>
      </p:sp>
      <p:pic>
        <p:nvPicPr>
          <p:cNvPr id="14" name="Picture 13">
            <a:extLst>
              <a:ext uri="{FF2B5EF4-FFF2-40B4-BE49-F238E27FC236}">
                <a16:creationId xmlns:a16="http://schemas.microsoft.com/office/drawing/2014/main" id="{05F398E7-6FEF-4D50-828A-862C7A6A8A1D}"/>
              </a:ext>
            </a:extLst>
          </p:cNvPr>
          <p:cNvPicPr>
            <a:picLocks noChangeAspect="1"/>
          </p:cNvPicPr>
          <p:nvPr userDrawn="1"/>
        </p:nvPicPr>
        <p:blipFill>
          <a:blip r:embed="rId3"/>
          <a:stretch>
            <a:fillRect/>
          </a:stretch>
        </p:blipFill>
        <p:spPr>
          <a:xfrm>
            <a:off x="11265957" y="6036324"/>
            <a:ext cx="445587" cy="65869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361628163"/>
      </p:ext>
    </p:extLst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over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Rectangle 4">
            <a:extLst>
              <a:ext uri="{FF2B5EF4-FFF2-40B4-BE49-F238E27FC236}">
                <a16:creationId xmlns:a16="http://schemas.microsoft.com/office/drawing/2014/main" id="{DCDE7049-8656-4A52-909A-CA015733F8B7}"/>
              </a:ext>
            </a:extLst>
          </p:cNvPr>
          <p:cNvSpPr/>
          <p:nvPr/>
        </p:nvSpPr>
        <p:spPr>
          <a:xfrm>
            <a:off x="609600" y="0"/>
            <a:ext cx="7605184" cy="6858000"/>
          </a:xfrm>
          <a:prstGeom prst="rect">
            <a:avLst/>
          </a:prstGeom>
          <a:solidFill>
            <a:srgbClr val="BABCB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0" tIns="0" rIns="0" bIns="0" anchor="ctr"/>
          <a:lstStyle/>
          <a:p>
            <a:pPr algn="ctr" fontAlgn="auto">
              <a:spcBef>
                <a:spcPts val="0"/>
              </a:spcBef>
              <a:spcAft>
                <a:spcPts val="0"/>
              </a:spcAft>
              <a:defRPr/>
            </a:pPr>
            <a:endParaRPr lang="en-US" sz="2400"/>
          </a:p>
        </p:txBody>
      </p:sp>
      <p:pic>
        <p:nvPicPr>
          <p:cNvPr id="6" name="Picture 7">
            <a:extLst>
              <a:ext uri="{FF2B5EF4-FFF2-40B4-BE49-F238E27FC236}">
                <a16:creationId xmlns:a16="http://schemas.microsoft.com/office/drawing/2014/main" id="{C8AE2DB7-DAEF-4F3E-85D5-E352F4BCAC29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9062716" y="1921143"/>
            <a:ext cx="2309283" cy="12573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cxnSp>
        <p:nvCxnSpPr>
          <p:cNvPr id="7" name="Straight Connector 6">
            <a:extLst>
              <a:ext uri="{FF2B5EF4-FFF2-40B4-BE49-F238E27FC236}">
                <a16:creationId xmlns:a16="http://schemas.microsoft.com/office/drawing/2014/main" id="{949C8297-3E7F-4E22-8269-869CEA5AABB8}"/>
              </a:ext>
            </a:extLst>
          </p:cNvPr>
          <p:cNvCxnSpPr/>
          <p:nvPr/>
        </p:nvCxnSpPr>
        <p:spPr>
          <a:xfrm>
            <a:off x="1111251" y="1166284"/>
            <a:ext cx="0" cy="2834216"/>
          </a:xfrm>
          <a:prstGeom prst="line">
            <a:avLst/>
          </a:prstGeom>
          <a:ln w="63500">
            <a:solidFill>
              <a:srgbClr val="000000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" name="Title 1"/>
          <p:cNvSpPr>
            <a:spLocks noGrp="1"/>
          </p:cNvSpPr>
          <p:nvPr>
            <p:ph type="ctrTitle" hasCustomPrompt="1"/>
          </p:nvPr>
        </p:nvSpPr>
        <p:spPr>
          <a:xfrm>
            <a:off x="1574494" y="1194068"/>
            <a:ext cx="6317929" cy="1535560"/>
          </a:xfrm>
        </p:spPr>
        <p:txBody>
          <a:bodyPr anchor="b">
            <a:noAutofit/>
          </a:bodyPr>
          <a:lstStyle>
            <a:lvl1pPr algn="l">
              <a:defRPr sz="4000" b="1" i="0" spc="160">
                <a:latin typeface="Arial"/>
                <a:cs typeface="Arial"/>
              </a:defRPr>
            </a:lvl1pPr>
          </a:lstStyle>
          <a:p>
            <a:r>
              <a:rPr lang="en-US" dirty="0"/>
              <a:t>FHIR Experience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 hasCustomPrompt="1"/>
          </p:nvPr>
        </p:nvSpPr>
        <p:spPr>
          <a:xfrm>
            <a:off x="1574494" y="3049597"/>
            <a:ext cx="6224927" cy="1169617"/>
          </a:xfrm>
        </p:spPr>
        <p:txBody>
          <a:bodyPr>
            <a:noAutofit/>
          </a:bodyPr>
          <a:lstStyle>
            <a:lvl1pPr marL="0" marR="0" indent="0" algn="l" defTabSz="609585" rtl="0" eaLnBrk="1" fontAlgn="base" latinLnBrk="0" hangingPunct="1">
              <a:lnSpc>
                <a:spcPct val="100000"/>
              </a:lnSpc>
              <a:spcBef>
                <a:spcPts val="80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None/>
              <a:tabLst/>
              <a:defRPr sz="3200">
                <a:solidFill>
                  <a:srgbClr val="EC2227"/>
                </a:solidFill>
              </a:defRPr>
            </a:lvl1pPr>
            <a:lvl2pPr marL="609585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121917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828754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2438339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3047924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3657509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4267093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4876678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marL="0" marR="0" lvl="0" indent="0" algn="l" defTabSz="609585" rtl="0" eaLnBrk="1" fontAlgn="base" latinLnBrk="0" hangingPunct="1">
              <a:lnSpc>
                <a:spcPct val="100000"/>
              </a:lnSpc>
              <a:spcBef>
                <a:spcPts val="80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None/>
              <a:tabLst/>
              <a:defRPr/>
            </a:pPr>
            <a:r>
              <a:rPr lang="en-US" dirty="0"/>
              <a:t>Implementation Guides</a:t>
            </a:r>
          </a:p>
          <a:p>
            <a:endParaRPr lang="en-US" dirty="0"/>
          </a:p>
        </p:txBody>
      </p:sp>
      <p:sp>
        <p:nvSpPr>
          <p:cNvPr id="20" name="Text Placeholder 19"/>
          <p:cNvSpPr>
            <a:spLocks noGrp="1"/>
          </p:cNvSpPr>
          <p:nvPr>
            <p:ph type="body" sz="quarter" idx="10" hasCustomPrompt="1"/>
          </p:nvPr>
        </p:nvSpPr>
        <p:spPr>
          <a:xfrm>
            <a:off x="1574800" y="4961611"/>
            <a:ext cx="5368587" cy="550333"/>
          </a:xfrm>
        </p:spPr>
        <p:txBody>
          <a:bodyPr anchor="b">
            <a:noAutofit/>
          </a:bodyPr>
          <a:lstStyle>
            <a:lvl1pPr marL="0" marR="0" indent="0" algn="l" defTabSz="609585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sz="2667"/>
            </a:lvl1pPr>
          </a:lstStyle>
          <a:p>
            <a:pPr lvl="0"/>
            <a:r>
              <a:rPr lang="en-US" noProof="0"/>
              <a:t>Eric Haas</a:t>
            </a:r>
            <a:endParaRPr lang="en-US" noProof="0" dirty="0"/>
          </a:p>
        </p:txBody>
      </p:sp>
      <p:sp>
        <p:nvSpPr>
          <p:cNvPr id="8" name="Footer Placeholder 4">
            <a:extLst>
              <a:ext uri="{FF2B5EF4-FFF2-40B4-BE49-F238E27FC236}">
                <a16:creationId xmlns:a16="http://schemas.microsoft.com/office/drawing/2014/main" id="{8E2087E9-637C-4C09-8985-3BAE95EB3A0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1428751" y="6436784"/>
            <a:ext cx="6305549" cy="209549"/>
          </a:xfrm>
        </p:spPr>
        <p:txBody>
          <a:bodyPr>
            <a:noAutofit/>
          </a:bodyPr>
          <a:lstStyle>
            <a:lvl1pPr>
              <a:defRPr/>
            </a:lvl1pPr>
          </a:lstStyle>
          <a:p>
            <a:r>
              <a:rPr lang="en-US" b="1" dirty="0"/>
              <a:t>© 2019 Health Level Seven ® International. Licensed under Creative Commons Attribution 4.0 International</a:t>
            </a:r>
          </a:p>
          <a:p>
            <a:r>
              <a:rPr lang="en-US" b="1" dirty="0"/>
              <a:t>HL7, Health Level Seven, FHIR and the FHIR flame logo are registered trademarks of Health Level Seven International. Reg. U.S. TM Office.</a:t>
            </a:r>
          </a:p>
        </p:txBody>
      </p:sp>
      <p:sp>
        <p:nvSpPr>
          <p:cNvPr id="9" name="Date Placeholder 3">
            <a:extLst>
              <a:ext uri="{FF2B5EF4-FFF2-40B4-BE49-F238E27FC236}">
                <a16:creationId xmlns:a16="http://schemas.microsoft.com/office/drawing/2014/main" id="{AEAF7E73-D995-4378-86E2-E0B1F5C1F622}"/>
              </a:ext>
            </a:extLst>
          </p:cNvPr>
          <p:cNvSpPr>
            <a:spLocks noGrp="1"/>
          </p:cNvSpPr>
          <p:nvPr>
            <p:ph type="dt" sz="half" idx="12"/>
          </p:nvPr>
        </p:nvSpPr>
        <p:spPr>
          <a:xfrm>
            <a:off x="1574801" y="5670551"/>
            <a:ext cx="1739900" cy="277283"/>
          </a:xfrm>
        </p:spPr>
        <p:txBody>
          <a:bodyPr lIns="0" tIns="0" rIns="0" bIns="0" anchor="b">
            <a:noAutofit/>
          </a:bodyPr>
          <a:lstStyle>
            <a:lvl1pPr>
              <a:defRPr sz="2400"/>
            </a:lvl1pPr>
          </a:lstStyle>
          <a:p>
            <a:fld id="{23F303CC-BC6F-44EE-9A09-81F690F71D2E}" type="datetime1">
              <a:rPr lang="en-US" altLang="en-US" smtClean="0"/>
              <a:t>3/12/2026</a:t>
            </a:fld>
            <a:endParaRPr lang="en-US" altLang="en-US" dirty="0"/>
          </a:p>
        </p:txBody>
      </p:sp>
      <p:pic>
        <p:nvPicPr>
          <p:cNvPr id="15" name="Picture 14" descr="Creative Commons Licence">
            <a:extLst>
              <a:ext uri="{FF2B5EF4-FFF2-40B4-BE49-F238E27FC236}">
                <a16:creationId xmlns:a16="http://schemas.microsoft.com/office/drawing/2014/main" id="{B400A948-C3CD-4AB8-A0B0-5E7E9538E397}"/>
              </a:ext>
            </a:extLst>
          </p:cNvPr>
          <p:cNvPicPr>
            <a:picLocks noChangeAspect="1" noChangeArrowheads="1"/>
          </p:cNvPicPr>
          <p:nvPr userDrawn="1"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0783909" y="6239934"/>
            <a:ext cx="1117600" cy="3937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4" name="Picture 13">
            <a:extLst>
              <a:ext uri="{FF2B5EF4-FFF2-40B4-BE49-F238E27FC236}">
                <a16:creationId xmlns:a16="http://schemas.microsoft.com/office/drawing/2014/main" id="{C8926BE3-F26A-44BC-B1F1-8AC7C357627E}"/>
              </a:ext>
            </a:extLst>
          </p:cNvPr>
          <p:cNvPicPr>
            <a:picLocks noChangeAspect="1"/>
          </p:cNvPicPr>
          <p:nvPr userDrawn="1"/>
        </p:nvPicPr>
        <p:blipFill>
          <a:blip r:embed="rId4"/>
          <a:stretch>
            <a:fillRect/>
          </a:stretch>
        </p:blipFill>
        <p:spPr>
          <a:xfrm>
            <a:off x="8889591" y="3690178"/>
            <a:ext cx="2572405" cy="620644"/>
          </a:xfrm>
          <a:prstGeom prst="rect">
            <a:avLst/>
          </a:prstGeom>
        </p:spPr>
      </p:pic>
      <p:pic>
        <p:nvPicPr>
          <p:cNvPr id="10" name="Picture 9" descr="Logo, company name&#10;&#10;Description automatically generated">
            <a:extLst>
              <a:ext uri="{FF2B5EF4-FFF2-40B4-BE49-F238E27FC236}">
                <a16:creationId xmlns:a16="http://schemas.microsoft.com/office/drawing/2014/main" id="{51175F65-736B-5F4F-8F25-13BBAA44934E}"/>
              </a:ext>
            </a:extLst>
          </p:cNvPr>
          <p:cNvPicPr>
            <a:picLocks noChangeAspect="1"/>
          </p:cNvPicPr>
          <p:nvPr userDrawn="1"/>
        </p:nvPicPr>
        <p:blipFill>
          <a:blip r:embed="rId5"/>
          <a:stretch>
            <a:fillRect/>
          </a:stretch>
        </p:blipFill>
        <p:spPr>
          <a:xfrm>
            <a:off x="8886782" y="4623483"/>
            <a:ext cx="2572405" cy="88846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539042011"/>
      </p:ext>
    </p:extLst>
  </p:cSld>
  <p:clrMapOvr>
    <a:masterClrMapping/>
  </p:clrMapOvr>
  <p:hf hdr="0"/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Divider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Rectangle 2">
            <a:extLst>
              <a:ext uri="{FF2B5EF4-FFF2-40B4-BE49-F238E27FC236}">
                <a16:creationId xmlns:a16="http://schemas.microsoft.com/office/drawing/2014/main" id="{23772DE4-7B37-4BBF-9A7D-6A9C4C776CAE}"/>
              </a:ext>
            </a:extLst>
          </p:cNvPr>
          <p:cNvSpPr/>
          <p:nvPr/>
        </p:nvSpPr>
        <p:spPr>
          <a:xfrm>
            <a:off x="0" y="967317"/>
            <a:ext cx="12192000" cy="3124200"/>
          </a:xfrm>
          <a:prstGeom prst="rect">
            <a:avLst/>
          </a:prstGeom>
          <a:solidFill>
            <a:srgbClr val="BABCB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0" tIns="0" rIns="0" bIns="0" anchor="ctr"/>
          <a:lstStyle/>
          <a:p>
            <a:pPr algn="ctr" fontAlgn="auto">
              <a:spcBef>
                <a:spcPts val="0"/>
              </a:spcBef>
              <a:spcAft>
                <a:spcPts val="0"/>
              </a:spcAft>
              <a:defRPr/>
            </a:pPr>
            <a:endParaRPr lang="en-US" sz="2400"/>
          </a:p>
        </p:txBody>
      </p:sp>
      <p:pic>
        <p:nvPicPr>
          <p:cNvPr id="4" name="Picture 7">
            <a:extLst>
              <a:ext uri="{FF2B5EF4-FFF2-40B4-BE49-F238E27FC236}">
                <a16:creationId xmlns:a16="http://schemas.microsoft.com/office/drawing/2014/main" id="{2A8297D7-F64D-40E5-9A05-32B16C0C76CD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95818" y="6231467"/>
            <a:ext cx="706967" cy="38311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cxnSp>
        <p:nvCxnSpPr>
          <p:cNvPr id="5" name="Straight Connector 4">
            <a:extLst>
              <a:ext uri="{FF2B5EF4-FFF2-40B4-BE49-F238E27FC236}">
                <a16:creationId xmlns:a16="http://schemas.microsoft.com/office/drawing/2014/main" id="{73FCBA1A-7FAD-4191-9B4F-C104C0F01C31}"/>
              </a:ext>
            </a:extLst>
          </p:cNvPr>
          <p:cNvCxnSpPr/>
          <p:nvPr/>
        </p:nvCxnSpPr>
        <p:spPr>
          <a:xfrm>
            <a:off x="1305984" y="6184900"/>
            <a:ext cx="0" cy="510117"/>
          </a:xfrm>
          <a:prstGeom prst="line">
            <a:avLst/>
          </a:prstGeom>
          <a:ln w="6350">
            <a:solidFill>
              <a:srgbClr val="3D3029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" name="Straight Connector 5">
            <a:extLst>
              <a:ext uri="{FF2B5EF4-FFF2-40B4-BE49-F238E27FC236}">
                <a16:creationId xmlns:a16="http://schemas.microsoft.com/office/drawing/2014/main" id="{4E36367C-A9EE-4A42-8187-82709238888C}"/>
              </a:ext>
            </a:extLst>
          </p:cNvPr>
          <p:cNvCxnSpPr/>
          <p:nvPr/>
        </p:nvCxnSpPr>
        <p:spPr>
          <a:xfrm>
            <a:off x="10174816" y="6389683"/>
            <a:ext cx="459317" cy="0"/>
          </a:xfrm>
          <a:prstGeom prst="line">
            <a:avLst/>
          </a:prstGeom>
          <a:ln>
            <a:solidFill>
              <a:srgbClr val="000000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7" name="Straight Connector 6">
            <a:extLst>
              <a:ext uri="{FF2B5EF4-FFF2-40B4-BE49-F238E27FC236}">
                <a16:creationId xmlns:a16="http://schemas.microsoft.com/office/drawing/2014/main" id="{D36E5EE3-C0A6-45E3-B498-80B24E58FEBC}"/>
              </a:ext>
            </a:extLst>
          </p:cNvPr>
          <p:cNvCxnSpPr/>
          <p:nvPr/>
        </p:nvCxnSpPr>
        <p:spPr>
          <a:xfrm>
            <a:off x="609600" y="1454151"/>
            <a:ext cx="0" cy="2150533"/>
          </a:xfrm>
          <a:prstGeom prst="line">
            <a:avLst/>
          </a:prstGeom>
          <a:ln w="63500">
            <a:solidFill>
              <a:srgbClr val="000000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63084" y="1173980"/>
            <a:ext cx="10748461" cy="2710827"/>
          </a:xfrm>
        </p:spPr>
        <p:txBody>
          <a:bodyPr>
            <a:noAutofit/>
          </a:bodyPr>
          <a:lstStyle>
            <a:lvl1pPr marL="0" marR="0" indent="0" algn="l" defTabSz="609585" rtl="0" eaLnBrk="1" fontAlgn="auto" latinLnBrk="0" hangingPunct="1">
              <a:lnSpc>
                <a:spcPct val="100000"/>
              </a:lnSpc>
              <a:spcBef>
                <a:spcPct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sz="4000" b="1" cap="all" spc="160"/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8" name="Footer Placeholder 4">
            <a:extLst>
              <a:ext uri="{FF2B5EF4-FFF2-40B4-BE49-F238E27FC236}">
                <a16:creationId xmlns:a16="http://schemas.microsoft.com/office/drawing/2014/main" id="{9170F17B-552A-4993-A6F0-1A6FE335872E}"/>
              </a:ext>
            </a:extLst>
          </p:cNvPr>
          <p:cNvSpPr>
            <a:spLocks noGrp="1"/>
          </p:cNvSpPr>
          <p:nvPr>
            <p:ph type="ftr" sz="quarter" idx="10"/>
          </p:nvPr>
        </p:nvSpPr>
        <p:spPr/>
        <p:txBody>
          <a:bodyPr>
            <a:noAutofit/>
          </a:bodyPr>
          <a:lstStyle>
            <a:lvl1pPr>
              <a:defRPr/>
            </a:lvl1pPr>
          </a:lstStyle>
          <a:p>
            <a:r>
              <a:rPr lang="en-US" b="1" dirty="0"/>
              <a:t>© 2019 Health Level Seven ® International. Licensed under Creative Commons Attribution 4.0 International</a:t>
            </a:r>
          </a:p>
          <a:p>
            <a:r>
              <a:rPr lang="en-US" b="1" dirty="0"/>
              <a:t>HL7, Health Level Seven, FHIR and the FHIR flame logo are registered trademarks of Health Level Seven International. Reg. U.S. TM Office.</a:t>
            </a:r>
          </a:p>
        </p:txBody>
      </p:sp>
      <p:sp>
        <p:nvSpPr>
          <p:cNvPr id="9" name="Slide Number Placeholder 5">
            <a:extLst>
              <a:ext uri="{FF2B5EF4-FFF2-40B4-BE49-F238E27FC236}">
                <a16:creationId xmlns:a16="http://schemas.microsoft.com/office/drawing/2014/main" id="{BB0BA930-B0EF-47CE-BD25-2934A0B21EBF}"/>
              </a:ext>
            </a:extLst>
          </p:cNvPr>
          <p:cNvSpPr>
            <a:spLocks noGrp="1"/>
          </p:cNvSpPr>
          <p:nvPr>
            <p:ph type="sldNum" sz="quarter" idx="11"/>
          </p:nvPr>
        </p:nvSpPr>
        <p:spPr>
          <a:xfrm>
            <a:off x="10229850" y="6389683"/>
            <a:ext cx="361951" cy="226664"/>
          </a:xfrm>
        </p:spPr>
        <p:txBody>
          <a:bodyPr/>
          <a:lstStyle>
            <a:lvl1pPr>
              <a:defRPr/>
            </a:lvl1pPr>
          </a:lstStyle>
          <a:p>
            <a:fld id="{6CACE926-AEF5-4BFE-8BD7-24414108CB7B}" type="slidenum">
              <a:rPr lang="en-US" altLang="en-US"/>
              <a:pPr/>
              <a:t>‹#›</a:t>
            </a:fld>
            <a:endParaRPr lang="en-US" altLang="en-US" dirty="0"/>
          </a:p>
        </p:txBody>
      </p:sp>
      <p:pic>
        <p:nvPicPr>
          <p:cNvPr id="15" name="Picture 14">
            <a:extLst>
              <a:ext uri="{FF2B5EF4-FFF2-40B4-BE49-F238E27FC236}">
                <a16:creationId xmlns:a16="http://schemas.microsoft.com/office/drawing/2014/main" id="{7EE7A39D-7D27-433D-99F1-A2BA7416BCEA}"/>
              </a:ext>
            </a:extLst>
          </p:cNvPr>
          <p:cNvPicPr>
            <a:picLocks noChangeAspect="1"/>
          </p:cNvPicPr>
          <p:nvPr userDrawn="1"/>
        </p:nvPicPr>
        <p:blipFill>
          <a:blip r:embed="rId3"/>
          <a:stretch>
            <a:fillRect/>
          </a:stretch>
        </p:blipFill>
        <p:spPr>
          <a:xfrm>
            <a:off x="11265957" y="5957652"/>
            <a:ext cx="445587" cy="65869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78314760"/>
      </p:ext>
    </p:extLst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Introduction/About HL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Rectangle 4">
            <a:extLst>
              <a:ext uri="{FF2B5EF4-FFF2-40B4-BE49-F238E27FC236}">
                <a16:creationId xmlns:a16="http://schemas.microsoft.com/office/drawing/2014/main" id="{87D5359A-71C1-4F1C-B937-058A7F7778DA}"/>
              </a:ext>
            </a:extLst>
          </p:cNvPr>
          <p:cNvSpPr/>
          <p:nvPr/>
        </p:nvSpPr>
        <p:spPr>
          <a:xfrm>
            <a:off x="0" y="2042584"/>
            <a:ext cx="12192000" cy="3835400"/>
          </a:xfrm>
          <a:prstGeom prst="rect">
            <a:avLst/>
          </a:prstGeom>
          <a:solidFill>
            <a:srgbClr val="74767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0" tIns="0" rIns="0" bIns="0" anchor="ctr"/>
          <a:lstStyle/>
          <a:p>
            <a:pPr algn="ctr" fontAlgn="auto">
              <a:spcBef>
                <a:spcPts val="0"/>
              </a:spcBef>
              <a:spcAft>
                <a:spcPts val="0"/>
              </a:spcAft>
              <a:defRPr/>
            </a:pPr>
            <a:endParaRPr lang="en-US" sz="2400"/>
          </a:p>
        </p:txBody>
      </p:sp>
      <p:cxnSp>
        <p:nvCxnSpPr>
          <p:cNvPr id="7" name="Straight Connector 6">
            <a:extLst>
              <a:ext uri="{FF2B5EF4-FFF2-40B4-BE49-F238E27FC236}">
                <a16:creationId xmlns:a16="http://schemas.microsoft.com/office/drawing/2014/main" id="{7327EDEA-85E0-43BD-98D1-4E2C554ABAE4}"/>
              </a:ext>
            </a:extLst>
          </p:cNvPr>
          <p:cNvCxnSpPr/>
          <p:nvPr/>
        </p:nvCxnSpPr>
        <p:spPr>
          <a:xfrm>
            <a:off x="609600" y="275167"/>
            <a:ext cx="0" cy="1043517"/>
          </a:xfrm>
          <a:prstGeom prst="line">
            <a:avLst/>
          </a:prstGeom>
          <a:ln w="41275">
            <a:solidFill>
              <a:srgbClr val="000000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18197" y="274639"/>
            <a:ext cx="10764204" cy="1043103"/>
          </a:xfrm>
        </p:spPr>
        <p:txBody>
          <a:bodyPr>
            <a:noAutofit/>
          </a:bodyPr>
          <a:lstStyle>
            <a:lvl1pPr algn="l">
              <a:defRPr sz="4000" b="1" i="0" spc="27">
                <a:solidFill>
                  <a:srgbClr val="EC2227"/>
                </a:solidFill>
                <a:latin typeface="Arial"/>
                <a:cs typeface="Arial"/>
              </a:defRPr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818196" y="2404880"/>
            <a:ext cx="5072811" cy="3272915"/>
          </a:xfrm>
        </p:spPr>
        <p:txBody>
          <a:bodyPr>
            <a:noAutofit/>
          </a:bodyPr>
          <a:lstStyle>
            <a:lvl1pPr>
              <a:spcBef>
                <a:spcPts val="800"/>
              </a:spcBef>
              <a:spcAft>
                <a:spcPts val="0"/>
              </a:spcAft>
              <a:defRPr sz="3200">
                <a:solidFill>
                  <a:schemeClr val="bg1"/>
                </a:solidFill>
              </a:defRPr>
            </a:lvl1pPr>
            <a:lvl2pPr>
              <a:spcBef>
                <a:spcPts val="800"/>
              </a:spcBef>
              <a:spcAft>
                <a:spcPts val="0"/>
              </a:spcAft>
              <a:defRPr sz="2667">
                <a:solidFill>
                  <a:schemeClr val="bg1"/>
                </a:solidFill>
              </a:defRPr>
            </a:lvl2pPr>
            <a:lvl3pPr>
              <a:spcBef>
                <a:spcPts val="800"/>
              </a:spcBef>
              <a:spcAft>
                <a:spcPts val="0"/>
              </a:spcAft>
              <a:defRPr sz="2667">
                <a:solidFill>
                  <a:schemeClr val="bg1"/>
                </a:solidFill>
              </a:defRPr>
            </a:lvl3pPr>
            <a:lvl4pPr>
              <a:spcBef>
                <a:spcPts val="800"/>
              </a:spcBef>
              <a:spcAft>
                <a:spcPts val="0"/>
              </a:spcAft>
              <a:defRPr sz="2667">
                <a:solidFill>
                  <a:schemeClr val="bg1"/>
                </a:solidFill>
              </a:defRPr>
            </a:lvl4pPr>
            <a:lvl5pPr>
              <a:spcBef>
                <a:spcPts val="800"/>
              </a:spcBef>
              <a:spcAft>
                <a:spcPts val="0"/>
              </a:spcAft>
              <a:defRPr sz="2667">
                <a:solidFill>
                  <a:schemeClr val="bg1"/>
                </a:solidFill>
              </a:defRPr>
            </a:lvl5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15" name="Content Placeholder 2"/>
          <p:cNvSpPr>
            <a:spLocks noGrp="1"/>
          </p:cNvSpPr>
          <p:nvPr>
            <p:ph idx="13"/>
          </p:nvPr>
        </p:nvSpPr>
        <p:spPr>
          <a:xfrm>
            <a:off x="6552678" y="2404880"/>
            <a:ext cx="5115820" cy="3272915"/>
          </a:xfrm>
        </p:spPr>
        <p:txBody>
          <a:bodyPr>
            <a:noAutofit/>
          </a:bodyPr>
          <a:lstStyle>
            <a:lvl1pPr>
              <a:spcBef>
                <a:spcPts val="800"/>
              </a:spcBef>
              <a:spcAft>
                <a:spcPts val="0"/>
              </a:spcAft>
              <a:defRPr sz="3200">
                <a:solidFill>
                  <a:schemeClr val="bg1"/>
                </a:solidFill>
              </a:defRPr>
            </a:lvl1pPr>
            <a:lvl2pPr>
              <a:spcBef>
                <a:spcPts val="800"/>
              </a:spcBef>
              <a:spcAft>
                <a:spcPts val="0"/>
              </a:spcAft>
              <a:defRPr sz="2667">
                <a:solidFill>
                  <a:schemeClr val="bg1"/>
                </a:solidFill>
              </a:defRPr>
            </a:lvl2pPr>
            <a:lvl3pPr>
              <a:spcBef>
                <a:spcPts val="800"/>
              </a:spcBef>
              <a:spcAft>
                <a:spcPts val="0"/>
              </a:spcAft>
              <a:defRPr sz="2667">
                <a:solidFill>
                  <a:schemeClr val="bg1"/>
                </a:solidFill>
              </a:defRPr>
            </a:lvl3pPr>
            <a:lvl4pPr>
              <a:spcBef>
                <a:spcPts val="800"/>
              </a:spcBef>
              <a:spcAft>
                <a:spcPts val="0"/>
              </a:spcAft>
              <a:defRPr sz="2667">
                <a:solidFill>
                  <a:schemeClr val="bg1"/>
                </a:solidFill>
              </a:defRPr>
            </a:lvl4pPr>
            <a:lvl5pPr>
              <a:spcBef>
                <a:spcPts val="800"/>
              </a:spcBef>
              <a:spcAft>
                <a:spcPts val="0"/>
              </a:spcAft>
              <a:defRPr sz="2667">
                <a:solidFill>
                  <a:schemeClr val="bg1"/>
                </a:solidFill>
              </a:defRPr>
            </a:lvl5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pic>
        <p:nvPicPr>
          <p:cNvPr id="22" name="Picture 7">
            <a:extLst>
              <a:ext uri="{FF2B5EF4-FFF2-40B4-BE49-F238E27FC236}">
                <a16:creationId xmlns:a16="http://schemas.microsoft.com/office/drawing/2014/main" id="{067910ED-D018-4319-88FD-DAB2B5D4BDE3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95818" y="6231467"/>
            <a:ext cx="706967" cy="38311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cxnSp>
        <p:nvCxnSpPr>
          <p:cNvPr id="23" name="Straight Connector 22">
            <a:extLst>
              <a:ext uri="{FF2B5EF4-FFF2-40B4-BE49-F238E27FC236}">
                <a16:creationId xmlns:a16="http://schemas.microsoft.com/office/drawing/2014/main" id="{1B79FEF5-9CA3-4F0D-B630-32AFA2457A35}"/>
              </a:ext>
            </a:extLst>
          </p:cNvPr>
          <p:cNvCxnSpPr/>
          <p:nvPr userDrawn="1"/>
        </p:nvCxnSpPr>
        <p:spPr>
          <a:xfrm>
            <a:off x="1305984" y="6184900"/>
            <a:ext cx="0" cy="510117"/>
          </a:xfrm>
          <a:prstGeom prst="line">
            <a:avLst/>
          </a:prstGeom>
          <a:ln w="6350">
            <a:solidFill>
              <a:srgbClr val="3D3029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4" name="Straight Connector 23">
            <a:extLst>
              <a:ext uri="{FF2B5EF4-FFF2-40B4-BE49-F238E27FC236}">
                <a16:creationId xmlns:a16="http://schemas.microsoft.com/office/drawing/2014/main" id="{E3138C42-3D0D-49E6-AEDA-875F61C1D236}"/>
              </a:ext>
            </a:extLst>
          </p:cNvPr>
          <p:cNvCxnSpPr/>
          <p:nvPr userDrawn="1"/>
        </p:nvCxnSpPr>
        <p:spPr>
          <a:xfrm>
            <a:off x="9990756" y="6333307"/>
            <a:ext cx="459317" cy="0"/>
          </a:xfrm>
          <a:prstGeom prst="line">
            <a:avLst/>
          </a:prstGeom>
          <a:ln>
            <a:solidFill>
              <a:srgbClr val="000000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5" name="Footer Placeholder 4">
            <a:extLst>
              <a:ext uri="{FF2B5EF4-FFF2-40B4-BE49-F238E27FC236}">
                <a16:creationId xmlns:a16="http://schemas.microsoft.com/office/drawing/2014/main" id="{6C4765DB-7105-45CC-BD97-DDD21BCA1C4A}"/>
              </a:ext>
            </a:extLst>
          </p:cNvPr>
          <p:cNvSpPr>
            <a:spLocks noGrp="1"/>
          </p:cNvSpPr>
          <p:nvPr>
            <p:ph type="ftr" sz="quarter" idx="10"/>
          </p:nvPr>
        </p:nvSpPr>
        <p:spPr>
          <a:xfrm>
            <a:off x="1600201" y="6390217"/>
            <a:ext cx="6040967" cy="211667"/>
          </a:xfrm>
        </p:spPr>
        <p:txBody>
          <a:bodyPr>
            <a:noAutofit/>
          </a:bodyPr>
          <a:lstStyle>
            <a:lvl1pPr>
              <a:defRPr/>
            </a:lvl1pPr>
          </a:lstStyle>
          <a:p>
            <a:r>
              <a:rPr lang="en-US" b="1" dirty="0"/>
              <a:t>© 2019 Health Level Seven ® International. Licensed under Creative Commons Attribution 4.0 International</a:t>
            </a:r>
          </a:p>
          <a:p>
            <a:r>
              <a:rPr lang="en-US" b="1" dirty="0"/>
              <a:t>HL7, Health Level Seven, FHIR and the FHIR flame logo are registered trademarks of Health Level Seven International. Reg. U.S. TM Office.</a:t>
            </a:r>
          </a:p>
        </p:txBody>
      </p:sp>
      <p:sp>
        <p:nvSpPr>
          <p:cNvPr id="26" name="Slide Number Placeholder 5">
            <a:extLst>
              <a:ext uri="{FF2B5EF4-FFF2-40B4-BE49-F238E27FC236}">
                <a16:creationId xmlns:a16="http://schemas.microsoft.com/office/drawing/2014/main" id="{B27C9CD6-C0E0-49A9-B421-58D41DC0407D}"/>
              </a:ext>
            </a:extLst>
          </p:cNvPr>
          <p:cNvSpPr>
            <a:spLocks noGrp="1"/>
          </p:cNvSpPr>
          <p:nvPr>
            <p:ph type="sldNum" sz="quarter" idx="11"/>
          </p:nvPr>
        </p:nvSpPr>
        <p:spPr>
          <a:xfrm>
            <a:off x="10044955" y="6369115"/>
            <a:ext cx="361951" cy="211667"/>
          </a:xfrm>
        </p:spPr>
        <p:txBody>
          <a:bodyPr/>
          <a:lstStyle>
            <a:lvl1pPr>
              <a:defRPr/>
            </a:lvl1pPr>
          </a:lstStyle>
          <a:p>
            <a:fld id="{6CACE926-AEF5-4BFE-8BD7-24414108CB7B}" type="slidenum">
              <a:rPr lang="en-US" altLang="en-US"/>
              <a:pPr/>
              <a:t>‹#›</a:t>
            </a:fld>
            <a:endParaRPr lang="en-US" altLang="en-US" dirty="0"/>
          </a:p>
        </p:txBody>
      </p:sp>
      <p:pic>
        <p:nvPicPr>
          <p:cNvPr id="16" name="Picture 15">
            <a:extLst>
              <a:ext uri="{FF2B5EF4-FFF2-40B4-BE49-F238E27FC236}">
                <a16:creationId xmlns:a16="http://schemas.microsoft.com/office/drawing/2014/main" id="{A8FD7BF5-33BE-4FBC-8618-5123D8168DEC}"/>
              </a:ext>
            </a:extLst>
          </p:cNvPr>
          <p:cNvPicPr>
            <a:picLocks noChangeAspect="1"/>
          </p:cNvPicPr>
          <p:nvPr userDrawn="1"/>
        </p:nvPicPr>
        <p:blipFill>
          <a:blip r:embed="rId3"/>
          <a:stretch>
            <a:fillRect/>
          </a:stretch>
        </p:blipFill>
        <p:spPr>
          <a:xfrm>
            <a:off x="11265957" y="5957652"/>
            <a:ext cx="445587" cy="65869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000980518"/>
      </p:ext>
    </p:extLst>
  </p:cSld>
  <p:clrMapOvr>
    <a:masterClrMapping/>
  </p:clrMapOvr>
</p:sldLayout>
</file>

<file path=ppt/slideLayouts/slideLayout1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Our Team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15" name="Straight Connector 14">
            <a:extLst>
              <a:ext uri="{FF2B5EF4-FFF2-40B4-BE49-F238E27FC236}">
                <a16:creationId xmlns:a16="http://schemas.microsoft.com/office/drawing/2014/main" id="{CBE319CE-C3E8-4959-82B4-EDCA67B60E60}"/>
              </a:ext>
            </a:extLst>
          </p:cNvPr>
          <p:cNvCxnSpPr/>
          <p:nvPr/>
        </p:nvCxnSpPr>
        <p:spPr>
          <a:xfrm>
            <a:off x="609600" y="275167"/>
            <a:ext cx="0" cy="1043517"/>
          </a:xfrm>
          <a:prstGeom prst="line">
            <a:avLst/>
          </a:prstGeom>
          <a:ln w="41275">
            <a:solidFill>
              <a:srgbClr val="000000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18197" y="277847"/>
            <a:ext cx="2917044" cy="1039895"/>
          </a:xfrm>
        </p:spPr>
        <p:txBody>
          <a:bodyPr>
            <a:noAutofit/>
          </a:bodyPr>
          <a:lstStyle>
            <a:lvl1pPr algn="l">
              <a:defRPr sz="2667" b="1">
                <a:solidFill>
                  <a:srgbClr val="EC2227"/>
                </a:solidFill>
              </a:defRPr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17" name="Text Placeholder 16"/>
          <p:cNvSpPr>
            <a:spLocks noGrp="1"/>
          </p:cNvSpPr>
          <p:nvPr>
            <p:ph type="body" sz="quarter" idx="13"/>
          </p:nvPr>
        </p:nvSpPr>
        <p:spPr>
          <a:xfrm>
            <a:off x="4262967" y="469592"/>
            <a:ext cx="7448551" cy="1151291"/>
          </a:xfrm>
        </p:spPr>
        <p:txBody>
          <a:bodyPr>
            <a:noAutofit/>
          </a:bodyPr>
          <a:lstStyle>
            <a:lvl1pPr marL="0" indent="0">
              <a:buNone/>
              <a:defRPr sz="4000"/>
            </a:lvl1pPr>
            <a:lvl2pPr marL="609585" indent="0">
              <a:buNone/>
              <a:defRPr sz="1733"/>
            </a:lvl2pPr>
            <a:lvl3pPr marL="1219170" indent="0">
              <a:buNone/>
              <a:defRPr sz="1733"/>
            </a:lvl3pPr>
            <a:lvl4pPr marL="1828754" indent="0">
              <a:buNone/>
              <a:defRPr sz="1733"/>
            </a:lvl4pPr>
            <a:lvl5pPr marL="2438339" indent="0">
              <a:buNone/>
              <a:defRPr sz="1733"/>
            </a:lvl5pPr>
          </a:lstStyle>
          <a:p>
            <a:pPr lvl="0"/>
            <a:r>
              <a:rPr lang="en-US" dirty="0"/>
              <a:t>Click to edit Master text styles</a:t>
            </a:r>
          </a:p>
        </p:txBody>
      </p:sp>
      <p:sp>
        <p:nvSpPr>
          <p:cNvPr id="19" name="Text Placeholder 18"/>
          <p:cNvSpPr>
            <a:spLocks noGrp="1"/>
          </p:cNvSpPr>
          <p:nvPr>
            <p:ph type="body" sz="quarter" idx="14"/>
          </p:nvPr>
        </p:nvSpPr>
        <p:spPr>
          <a:xfrm>
            <a:off x="4262967" y="3956147"/>
            <a:ext cx="2133188" cy="504979"/>
          </a:xfrm>
        </p:spPr>
        <p:txBody>
          <a:bodyPr anchor="b">
            <a:noAutofit/>
          </a:bodyPr>
          <a:lstStyle>
            <a:lvl1pPr marL="0" indent="0">
              <a:buNone/>
              <a:defRPr sz="1600" b="1"/>
            </a:lvl1pPr>
            <a:lvl2pPr marL="609585" indent="0">
              <a:buNone/>
              <a:defRPr sz="1600"/>
            </a:lvl2pPr>
            <a:lvl3pPr marL="1219170" indent="0">
              <a:buNone/>
              <a:defRPr sz="1600"/>
            </a:lvl3pPr>
            <a:lvl4pPr marL="1828754" indent="0">
              <a:buNone/>
              <a:defRPr sz="1600"/>
            </a:lvl4pPr>
            <a:lvl5pPr marL="2438339" indent="0">
              <a:buNone/>
              <a:defRPr sz="1600"/>
            </a:lvl5pPr>
          </a:lstStyle>
          <a:p>
            <a:pPr lvl="0"/>
            <a:r>
              <a:rPr lang="en-US" dirty="0"/>
              <a:t>Click to edit Master text styles</a:t>
            </a:r>
          </a:p>
        </p:txBody>
      </p:sp>
      <p:sp>
        <p:nvSpPr>
          <p:cNvPr id="21" name="Picture Placeholder 20"/>
          <p:cNvSpPr>
            <a:spLocks noGrp="1"/>
          </p:cNvSpPr>
          <p:nvPr>
            <p:ph type="pic" sz="quarter" idx="15"/>
          </p:nvPr>
        </p:nvSpPr>
        <p:spPr>
          <a:xfrm>
            <a:off x="4262968" y="2036064"/>
            <a:ext cx="2133187" cy="1772501"/>
          </a:xfrm>
        </p:spPr>
        <p:txBody>
          <a:bodyPr rtlCol="0" anchor="ctr">
            <a:noAutofit/>
          </a:bodyPr>
          <a:lstStyle>
            <a:lvl1pPr algn="ctr">
              <a:defRPr sz="1200"/>
            </a:lvl1pPr>
          </a:lstStyle>
          <a:p>
            <a:pPr lvl="0"/>
            <a:r>
              <a:rPr lang="en-US" noProof="0" dirty="0"/>
              <a:t>Click icon to add picture</a:t>
            </a:r>
          </a:p>
        </p:txBody>
      </p:sp>
      <p:sp>
        <p:nvSpPr>
          <p:cNvPr id="22" name="Text Placeholder 18"/>
          <p:cNvSpPr>
            <a:spLocks noGrp="1"/>
          </p:cNvSpPr>
          <p:nvPr>
            <p:ph type="body" sz="quarter" idx="16"/>
          </p:nvPr>
        </p:nvSpPr>
        <p:spPr>
          <a:xfrm>
            <a:off x="4262967" y="4546695"/>
            <a:ext cx="2133188" cy="1259171"/>
          </a:xfrm>
        </p:spPr>
        <p:txBody>
          <a:bodyPr>
            <a:noAutofit/>
          </a:bodyPr>
          <a:lstStyle>
            <a:lvl1pPr marL="0" indent="0">
              <a:buNone/>
              <a:defRPr sz="1200" b="0"/>
            </a:lvl1pPr>
            <a:lvl2pPr marL="609585" indent="0">
              <a:buNone/>
              <a:defRPr sz="1600"/>
            </a:lvl2pPr>
            <a:lvl3pPr marL="1219170" indent="0">
              <a:buNone/>
              <a:defRPr sz="1600"/>
            </a:lvl3pPr>
            <a:lvl4pPr marL="1828754" indent="0">
              <a:buNone/>
              <a:defRPr sz="1600"/>
            </a:lvl4pPr>
            <a:lvl5pPr marL="2438339" indent="0">
              <a:buNone/>
              <a:defRPr sz="1600"/>
            </a:lvl5pPr>
          </a:lstStyle>
          <a:p>
            <a:pPr lvl="0"/>
            <a:r>
              <a:rPr lang="en-US" dirty="0"/>
              <a:t>Click to edit Master text styles</a:t>
            </a:r>
          </a:p>
        </p:txBody>
      </p:sp>
      <p:sp>
        <p:nvSpPr>
          <p:cNvPr id="29" name="Text Placeholder 18"/>
          <p:cNvSpPr>
            <a:spLocks noGrp="1"/>
          </p:cNvSpPr>
          <p:nvPr>
            <p:ph type="body" sz="quarter" idx="17"/>
          </p:nvPr>
        </p:nvSpPr>
        <p:spPr>
          <a:xfrm>
            <a:off x="9578358" y="3956147"/>
            <a:ext cx="2133188" cy="504979"/>
          </a:xfrm>
        </p:spPr>
        <p:txBody>
          <a:bodyPr anchor="b">
            <a:noAutofit/>
          </a:bodyPr>
          <a:lstStyle>
            <a:lvl1pPr marL="0" indent="0">
              <a:buNone/>
              <a:defRPr sz="1600" b="1"/>
            </a:lvl1pPr>
            <a:lvl2pPr marL="609585" indent="0">
              <a:buNone/>
              <a:defRPr sz="1600"/>
            </a:lvl2pPr>
            <a:lvl3pPr marL="1219170" indent="0">
              <a:buNone/>
              <a:defRPr sz="1600"/>
            </a:lvl3pPr>
            <a:lvl4pPr marL="1828754" indent="0">
              <a:buNone/>
              <a:defRPr sz="1600"/>
            </a:lvl4pPr>
            <a:lvl5pPr marL="2438339" indent="0">
              <a:buNone/>
              <a:defRPr sz="1600"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0" name="Picture Placeholder 20"/>
          <p:cNvSpPr>
            <a:spLocks noGrp="1"/>
          </p:cNvSpPr>
          <p:nvPr>
            <p:ph type="pic" sz="quarter" idx="18"/>
          </p:nvPr>
        </p:nvSpPr>
        <p:spPr>
          <a:xfrm>
            <a:off x="9578359" y="2036064"/>
            <a:ext cx="2133187" cy="1772501"/>
          </a:xfrm>
        </p:spPr>
        <p:txBody>
          <a:bodyPr rtlCol="0" anchor="ctr">
            <a:noAutofit/>
          </a:bodyPr>
          <a:lstStyle>
            <a:lvl1pPr algn="ctr">
              <a:defRPr sz="1200"/>
            </a:lvl1pPr>
          </a:lstStyle>
          <a:p>
            <a:pPr lvl="0"/>
            <a:r>
              <a:rPr lang="en-US" noProof="0"/>
              <a:t>Click icon to add picture</a:t>
            </a:r>
            <a:endParaRPr lang="en-US" noProof="0" dirty="0"/>
          </a:p>
        </p:txBody>
      </p:sp>
      <p:sp>
        <p:nvSpPr>
          <p:cNvPr id="31" name="Text Placeholder 18"/>
          <p:cNvSpPr>
            <a:spLocks noGrp="1"/>
          </p:cNvSpPr>
          <p:nvPr>
            <p:ph type="body" sz="quarter" idx="19"/>
          </p:nvPr>
        </p:nvSpPr>
        <p:spPr>
          <a:xfrm>
            <a:off x="9578358" y="4546695"/>
            <a:ext cx="2133188" cy="1259171"/>
          </a:xfrm>
        </p:spPr>
        <p:txBody>
          <a:bodyPr>
            <a:noAutofit/>
          </a:bodyPr>
          <a:lstStyle>
            <a:lvl1pPr marL="0" indent="0">
              <a:buNone/>
              <a:defRPr sz="1200" b="0"/>
            </a:lvl1pPr>
            <a:lvl2pPr marL="609585" indent="0">
              <a:buNone/>
              <a:defRPr sz="1600"/>
            </a:lvl2pPr>
            <a:lvl3pPr marL="1219170" indent="0">
              <a:buNone/>
              <a:defRPr sz="1600"/>
            </a:lvl3pPr>
            <a:lvl4pPr marL="1828754" indent="0">
              <a:buNone/>
              <a:defRPr sz="1600"/>
            </a:lvl4pPr>
            <a:lvl5pPr marL="2438339" indent="0">
              <a:buNone/>
              <a:defRPr sz="1600"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2" name="Text Placeholder 18"/>
          <p:cNvSpPr>
            <a:spLocks noGrp="1"/>
          </p:cNvSpPr>
          <p:nvPr>
            <p:ph type="body" sz="quarter" idx="20"/>
          </p:nvPr>
        </p:nvSpPr>
        <p:spPr>
          <a:xfrm>
            <a:off x="6917445" y="3956147"/>
            <a:ext cx="2133188" cy="504979"/>
          </a:xfrm>
        </p:spPr>
        <p:txBody>
          <a:bodyPr anchor="b">
            <a:noAutofit/>
          </a:bodyPr>
          <a:lstStyle>
            <a:lvl1pPr marL="0" indent="0">
              <a:buNone/>
              <a:defRPr sz="1600" b="1"/>
            </a:lvl1pPr>
            <a:lvl2pPr marL="609585" indent="0">
              <a:buNone/>
              <a:defRPr sz="1600"/>
            </a:lvl2pPr>
            <a:lvl3pPr marL="1219170" indent="0">
              <a:buNone/>
              <a:defRPr sz="1600"/>
            </a:lvl3pPr>
            <a:lvl4pPr marL="1828754" indent="0">
              <a:buNone/>
              <a:defRPr sz="1600"/>
            </a:lvl4pPr>
            <a:lvl5pPr marL="2438339" indent="0">
              <a:buNone/>
              <a:defRPr sz="1600"/>
            </a:lvl5pPr>
          </a:lstStyle>
          <a:p>
            <a:pPr lvl="0"/>
            <a:r>
              <a:rPr lang="en-US" dirty="0"/>
              <a:t>Click to edit Master text styles</a:t>
            </a:r>
          </a:p>
        </p:txBody>
      </p:sp>
      <p:sp>
        <p:nvSpPr>
          <p:cNvPr id="33" name="Picture Placeholder 20"/>
          <p:cNvSpPr>
            <a:spLocks noGrp="1"/>
          </p:cNvSpPr>
          <p:nvPr>
            <p:ph type="pic" sz="quarter" idx="21"/>
          </p:nvPr>
        </p:nvSpPr>
        <p:spPr>
          <a:xfrm>
            <a:off x="6917445" y="2036064"/>
            <a:ext cx="2133187" cy="1772501"/>
          </a:xfrm>
        </p:spPr>
        <p:txBody>
          <a:bodyPr rtlCol="0" anchor="ctr">
            <a:noAutofit/>
          </a:bodyPr>
          <a:lstStyle>
            <a:lvl1pPr algn="ctr">
              <a:defRPr sz="1200"/>
            </a:lvl1pPr>
          </a:lstStyle>
          <a:p>
            <a:pPr lvl="0"/>
            <a:r>
              <a:rPr lang="en-US" noProof="0"/>
              <a:t>Click icon to add picture</a:t>
            </a:r>
            <a:endParaRPr lang="en-US" noProof="0" dirty="0"/>
          </a:p>
        </p:txBody>
      </p:sp>
      <p:sp>
        <p:nvSpPr>
          <p:cNvPr id="34" name="Text Placeholder 18"/>
          <p:cNvSpPr>
            <a:spLocks noGrp="1"/>
          </p:cNvSpPr>
          <p:nvPr>
            <p:ph type="body" sz="quarter" idx="22"/>
          </p:nvPr>
        </p:nvSpPr>
        <p:spPr>
          <a:xfrm>
            <a:off x="6917445" y="4546695"/>
            <a:ext cx="2133188" cy="1259171"/>
          </a:xfrm>
        </p:spPr>
        <p:txBody>
          <a:bodyPr>
            <a:noAutofit/>
          </a:bodyPr>
          <a:lstStyle>
            <a:lvl1pPr marL="0" indent="0">
              <a:buNone/>
              <a:defRPr sz="1200" b="0"/>
            </a:lvl1pPr>
            <a:lvl2pPr marL="609585" indent="0">
              <a:buNone/>
              <a:defRPr sz="1600"/>
            </a:lvl2pPr>
            <a:lvl3pPr marL="1219170" indent="0">
              <a:buNone/>
              <a:defRPr sz="1600"/>
            </a:lvl3pPr>
            <a:lvl4pPr marL="1828754" indent="0">
              <a:buNone/>
              <a:defRPr sz="1600"/>
            </a:lvl4pPr>
            <a:lvl5pPr marL="2438339" indent="0">
              <a:buNone/>
              <a:defRPr sz="1600"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pic>
        <p:nvPicPr>
          <p:cNvPr id="38" name="Picture 7">
            <a:extLst>
              <a:ext uri="{FF2B5EF4-FFF2-40B4-BE49-F238E27FC236}">
                <a16:creationId xmlns:a16="http://schemas.microsoft.com/office/drawing/2014/main" id="{A1F7B16F-FA00-4CF8-85FF-23562FF8C58F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95818" y="6231467"/>
            <a:ext cx="706967" cy="38311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cxnSp>
        <p:nvCxnSpPr>
          <p:cNvPr id="39" name="Straight Connector 38">
            <a:extLst>
              <a:ext uri="{FF2B5EF4-FFF2-40B4-BE49-F238E27FC236}">
                <a16:creationId xmlns:a16="http://schemas.microsoft.com/office/drawing/2014/main" id="{E7A3F6A3-4446-4B1D-8AE4-E339A1D12BF5}"/>
              </a:ext>
            </a:extLst>
          </p:cNvPr>
          <p:cNvCxnSpPr/>
          <p:nvPr userDrawn="1"/>
        </p:nvCxnSpPr>
        <p:spPr>
          <a:xfrm>
            <a:off x="1305984" y="6184900"/>
            <a:ext cx="0" cy="510117"/>
          </a:xfrm>
          <a:prstGeom prst="line">
            <a:avLst/>
          </a:prstGeom>
          <a:ln w="6350">
            <a:solidFill>
              <a:srgbClr val="3D3029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0" name="Straight Connector 39">
            <a:extLst>
              <a:ext uri="{FF2B5EF4-FFF2-40B4-BE49-F238E27FC236}">
                <a16:creationId xmlns:a16="http://schemas.microsoft.com/office/drawing/2014/main" id="{FC165DAB-93B1-47DA-9A7A-30183B302BFA}"/>
              </a:ext>
            </a:extLst>
          </p:cNvPr>
          <p:cNvCxnSpPr/>
          <p:nvPr userDrawn="1"/>
        </p:nvCxnSpPr>
        <p:spPr>
          <a:xfrm>
            <a:off x="10174816" y="6389683"/>
            <a:ext cx="459317" cy="0"/>
          </a:xfrm>
          <a:prstGeom prst="line">
            <a:avLst/>
          </a:prstGeom>
          <a:ln>
            <a:solidFill>
              <a:srgbClr val="000000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1" name="Footer Placeholder 4">
            <a:extLst>
              <a:ext uri="{FF2B5EF4-FFF2-40B4-BE49-F238E27FC236}">
                <a16:creationId xmlns:a16="http://schemas.microsoft.com/office/drawing/2014/main" id="{86364F0F-A2BB-480B-88A7-F41748072267}"/>
              </a:ext>
            </a:extLst>
          </p:cNvPr>
          <p:cNvSpPr>
            <a:spLocks noGrp="1"/>
          </p:cNvSpPr>
          <p:nvPr>
            <p:ph type="ftr" sz="quarter" idx="10"/>
          </p:nvPr>
        </p:nvSpPr>
        <p:spPr>
          <a:xfrm>
            <a:off x="1600201" y="6390217"/>
            <a:ext cx="6040967" cy="211667"/>
          </a:xfrm>
        </p:spPr>
        <p:txBody>
          <a:bodyPr>
            <a:noAutofit/>
          </a:bodyPr>
          <a:lstStyle>
            <a:lvl1pPr>
              <a:defRPr/>
            </a:lvl1pPr>
          </a:lstStyle>
          <a:p>
            <a:r>
              <a:rPr lang="en-US" b="1" dirty="0"/>
              <a:t>© 2019 Health Level Seven ® International. Licensed under Creative Commons Attribution 4.0 International</a:t>
            </a:r>
          </a:p>
          <a:p>
            <a:r>
              <a:rPr lang="en-US" b="1" dirty="0"/>
              <a:t>HL7, Health Level Seven, FHIR and the FHIR flame logo are registered trademarks of Health Level Seven International. Reg. U.S. TM Office.</a:t>
            </a:r>
          </a:p>
        </p:txBody>
      </p:sp>
      <p:sp>
        <p:nvSpPr>
          <p:cNvPr id="42" name="Slide Number Placeholder 5">
            <a:extLst>
              <a:ext uri="{FF2B5EF4-FFF2-40B4-BE49-F238E27FC236}">
                <a16:creationId xmlns:a16="http://schemas.microsoft.com/office/drawing/2014/main" id="{CF4B7E0D-AED0-4F82-A3F4-D689786256AC}"/>
              </a:ext>
            </a:extLst>
          </p:cNvPr>
          <p:cNvSpPr>
            <a:spLocks noGrp="1"/>
          </p:cNvSpPr>
          <p:nvPr>
            <p:ph type="sldNum" sz="quarter" idx="11"/>
          </p:nvPr>
        </p:nvSpPr>
        <p:spPr>
          <a:xfrm>
            <a:off x="10229850" y="6412509"/>
            <a:ext cx="361951" cy="211667"/>
          </a:xfrm>
        </p:spPr>
        <p:txBody>
          <a:bodyPr/>
          <a:lstStyle>
            <a:lvl1pPr>
              <a:defRPr/>
            </a:lvl1pPr>
          </a:lstStyle>
          <a:p>
            <a:fld id="{6CACE926-AEF5-4BFE-8BD7-24414108CB7B}" type="slidenum">
              <a:rPr lang="en-US" altLang="en-US"/>
              <a:pPr/>
              <a:t>‹#›</a:t>
            </a:fld>
            <a:endParaRPr lang="en-US" altLang="en-US" dirty="0"/>
          </a:p>
        </p:txBody>
      </p:sp>
      <p:pic>
        <p:nvPicPr>
          <p:cNvPr id="23" name="Picture 22">
            <a:extLst>
              <a:ext uri="{FF2B5EF4-FFF2-40B4-BE49-F238E27FC236}">
                <a16:creationId xmlns:a16="http://schemas.microsoft.com/office/drawing/2014/main" id="{E45B2C87-FDD9-4E77-B156-EB0F304DBA95}"/>
              </a:ext>
            </a:extLst>
          </p:cNvPr>
          <p:cNvPicPr>
            <a:picLocks noChangeAspect="1"/>
          </p:cNvPicPr>
          <p:nvPr userDrawn="1"/>
        </p:nvPicPr>
        <p:blipFill>
          <a:blip r:embed="rId3"/>
          <a:stretch>
            <a:fillRect/>
          </a:stretch>
        </p:blipFill>
        <p:spPr>
          <a:xfrm>
            <a:off x="11306528" y="6059062"/>
            <a:ext cx="445587" cy="65869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680530749"/>
      </p:ext>
    </p:extLst>
  </p:cSld>
  <p:clrMapOvr>
    <a:masterClrMapping/>
  </p:clrMapOvr>
</p:sldLayout>
</file>

<file path=ppt/slideLayouts/slideLayout1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-Column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6" name="Straight Connector 5">
            <a:extLst>
              <a:ext uri="{FF2B5EF4-FFF2-40B4-BE49-F238E27FC236}">
                <a16:creationId xmlns:a16="http://schemas.microsoft.com/office/drawing/2014/main" id="{9E222CE2-2441-4806-BD21-3C89814DB123}"/>
              </a:ext>
            </a:extLst>
          </p:cNvPr>
          <p:cNvCxnSpPr/>
          <p:nvPr/>
        </p:nvCxnSpPr>
        <p:spPr>
          <a:xfrm>
            <a:off x="609600" y="275167"/>
            <a:ext cx="0" cy="1043517"/>
          </a:xfrm>
          <a:prstGeom prst="line">
            <a:avLst/>
          </a:prstGeom>
          <a:ln w="41275">
            <a:solidFill>
              <a:srgbClr val="000000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18196" y="274639"/>
            <a:ext cx="10972800" cy="1043103"/>
          </a:xfrm>
        </p:spPr>
        <p:txBody>
          <a:bodyPr>
            <a:noAutofit/>
          </a:bodyPr>
          <a:lstStyle>
            <a:lvl1pPr algn="l">
              <a:defRPr sz="4000" b="1">
                <a:solidFill>
                  <a:srgbClr val="EC2227"/>
                </a:solidFill>
              </a:defRPr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17" name="Text Placeholder 16"/>
          <p:cNvSpPr>
            <a:spLocks noGrp="1"/>
          </p:cNvSpPr>
          <p:nvPr>
            <p:ph type="body" sz="quarter" idx="13"/>
          </p:nvPr>
        </p:nvSpPr>
        <p:spPr>
          <a:xfrm>
            <a:off x="819150" y="1513192"/>
            <a:ext cx="10971844" cy="4501401"/>
          </a:xfrm>
        </p:spPr>
        <p:txBody>
          <a:bodyPr>
            <a:noAutofit/>
          </a:bodyPr>
          <a:lstStyle>
            <a:lvl1pPr marL="243834" indent="-243834" algn="l">
              <a:spcBef>
                <a:spcPts val="800"/>
              </a:spcBef>
              <a:spcAft>
                <a:spcPts val="0"/>
              </a:spcAft>
              <a:defRPr sz="3200"/>
            </a:lvl1pPr>
            <a:lvl2pPr>
              <a:spcBef>
                <a:spcPts val="800"/>
              </a:spcBef>
              <a:spcAft>
                <a:spcPts val="0"/>
              </a:spcAft>
              <a:defRPr sz="2667"/>
            </a:lvl2pPr>
            <a:lvl3pPr>
              <a:spcBef>
                <a:spcPts val="800"/>
              </a:spcBef>
              <a:spcAft>
                <a:spcPts val="0"/>
              </a:spcAft>
              <a:defRPr sz="2400"/>
            </a:lvl3pPr>
            <a:lvl4pPr>
              <a:spcBef>
                <a:spcPts val="800"/>
              </a:spcBef>
              <a:spcAft>
                <a:spcPts val="0"/>
              </a:spcAft>
              <a:defRPr sz="2400"/>
            </a:lvl4pPr>
            <a:lvl5pPr>
              <a:spcBef>
                <a:spcPts val="800"/>
              </a:spcBef>
              <a:spcAft>
                <a:spcPts val="0"/>
              </a:spcAft>
              <a:defRPr sz="2400"/>
            </a:lvl5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pic>
        <p:nvPicPr>
          <p:cNvPr id="20" name="Picture 7">
            <a:extLst>
              <a:ext uri="{FF2B5EF4-FFF2-40B4-BE49-F238E27FC236}">
                <a16:creationId xmlns:a16="http://schemas.microsoft.com/office/drawing/2014/main" id="{FF1A4796-4A3E-4E23-A65F-C2EDA7AAAAFB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95818" y="6231467"/>
            <a:ext cx="706967" cy="38311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cxnSp>
        <p:nvCxnSpPr>
          <p:cNvPr id="21" name="Straight Connector 20">
            <a:extLst>
              <a:ext uri="{FF2B5EF4-FFF2-40B4-BE49-F238E27FC236}">
                <a16:creationId xmlns:a16="http://schemas.microsoft.com/office/drawing/2014/main" id="{9DDE4C12-BE4C-4EEF-82CA-ADF374584E2B}"/>
              </a:ext>
            </a:extLst>
          </p:cNvPr>
          <p:cNvCxnSpPr/>
          <p:nvPr userDrawn="1"/>
        </p:nvCxnSpPr>
        <p:spPr>
          <a:xfrm>
            <a:off x="1305984" y="6184900"/>
            <a:ext cx="0" cy="510117"/>
          </a:xfrm>
          <a:prstGeom prst="line">
            <a:avLst/>
          </a:prstGeom>
          <a:ln w="6350">
            <a:solidFill>
              <a:srgbClr val="3D3029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2" name="Straight Connector 21">
            <a:extLst>
              <a:ext uri="{FF2B5EF4-FFF2-40B4-BE49-F238E27FC236}">
                <a16:creationId xmlns:a16="http://schemas.microsoft.com/office/drawing/2014/main" id="{23C98D77-F5F9-4313-9DC7-5F790F5F2129}"/>
              </a:ext>
            </a:extLst>
          </p:cNvPr>
          <p:cNvCxnSpPr/>
          <p:nvPr userDrawn="1"/>
        </p:nvCxnSpPr>
        <p:spPr>
          <a:xfrm>
            <a:off x="10174816" y="6389683"/>
            <a:ext cx="459317" cy="0"/>
          </a:xfrm>
          <a:prstGeom prst="line">
            <a:avLst/>
          </a:prstGeom>
          <a:ln>
            <a:solidFill>
              <a:srgbClr val="000000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3" name="Footer Placeholder 4">
            <a:extLst>
              <a:ext uri="{FF2B5EF4-FFF2-40B4-BE49-F238E27FC236}">
                <a16:creationId xmlns:a16="http://schemas.microsoft.com/office/drawing/2014/main" id="{3278E695-3242-46C8-A5D0-91F98BE1AA7A}"/>
              </a:ext>
            </a:extLst>
          </p:cNvPr>
          <p:cNvSpPr>
            <a:spLocks noGrp="1"/>
          </p:cNvSpPr>
          <p:nvPr>
            <p:ph type="ftr" sz="quarter" idx="10"/>
          </p:nvPr>
        </p:nvSpPr>
        <p:spPr>
          <a:xfrm>
            <a:off x="1600201" y="6390217"/>
            <a:ext cx="6040967" cy="211667"/>
          </a:xfrm>
        </p:spPr>
        <p:txBody>
          <a:bodyPr>
            <a:noAutofit/>
          </a:bodyPr>
          <a:lstStyle>
            <a:lvl1pPr>
              <a:defRPr/>
            </a:lvl1pPr>
          </a:lstStyle>
          <a:p>
            <a:r>
              <a:rPr lang="en-US" b="1" dirty="0"/>
              <a:t>© 2019 Health Level Seven ® International. Licensed under Creative Commons Attribution 4.0 International</a:t>
            </a:r>
          </a:p>
          <a:p>
            <a:r>
              <a:rPr lang="en-US" b="1" dirty="0"/>
              <a:t>HL7, Health Level Seven, FHIR and the FHIR flame logo are registered trademarks of Health Level Seven International. Reg. U.S. TM Office.</a:t>
            </a:r>
          </a:p>
        </p:txBody>
      </p:sp>
      <p:sp>
        <p:nvSpPr>
          <p:cNvPr id="24" name="Slide Number Placeholder 5">
            <a:extLst>
              <a:ext uri="{FF2B5EF4-FFF2-40B4-BE49-F238E27FC236}">
                <a16:creationId xmlns:a16="http://schemas.microsoft.com/office/drawing/2014/main" id="{87358656-6BAF-4839-9468-448334EC23F1}"/>
              </a:ext>
            </a:extLst>
          </p:cNvPr>
          <p:cNvSpPr>
            <a:spLocks noGrp="1"/>
          </p:cNvSpPr>
          <p:nvPr>
            <p:ph type="sldNum" sz="quarter" idx="11"/>
          </p:nvPr>
        </p:nvSpPr>
        <p:spPr>
          <a:xfrm>
            <a:off x="10217150" y="6411413"/>
            <a:ext cx="361951" cy="211667"/>
          </a:xfrm>
        </p:spPr>
        <p:txBody>
          <a:bodyPr/>
          <a:lstStyle>
            <a:lvl1pPr>
              <a:defRPr/>
            </a:lvl1pPr>
          </a:lstStyle>
          <a:p>
            <a:fld id="{6CACE926-AEF5-4BFE-8BD7-24414108CB7B}" type="slidenum">
              <a:rPr lang="en-US" altLang="en-US"/>
              <a:pPr/>
              <a:t>‹#›</a:t>
            </a:fld>
            <a:endParaRPr lang="en-US" altLang="en-US" dirty="0"/>
          </a:p>
        </p:txBody>
      </p:sp>
      <p:pic>
        <p:nvPicPr>
          <p:cNvPr id="14" name="Picture 13">
            <a:extLst>
              <a:ext uri="{FF2B5EF4-FFF2-40B4-BE49-F238E27FC236}">
                <a16:creationId xmlns:a16="http://schemas.microsoft.com/office/drawing/2014/main" id="{05F398E7-6FEF-4D50-828A-862C7A6A8A1D}"/>
              </a:ext>
            </a:extLst>
          </p:cNvPr>
          <p:cNvPicPr>
            <a:picLocks noChangeAspect="1"/>
          </p:cNvPicPr>
          <p:nvPr userDrawn="1"/>
        </p:nvPicPr>
        <p:blipFill>
          <a:blip r:embed="rId3"/>
          <a:stretch>
            <a:fillRect/>
          </a:stretch>
        </p:blipFill>
        <p:spPr>
          <a:xfrm>
            <a:off x="11265957" y="6036324"/>
            <a:ext cx="445587" cy="65869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354628541"/>
      </p:ext>
    </p:extLst>
  </p:cSld>
  <p:clrMapOvr>
    <a:masterClrMapping/>
  </p:clrMapOvr>
</p:sldLayout>
</file>

<file path=ppt/slideLayouts/slideLayout2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2-Column Text with Intr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8" name="Straight Connector 7">
            <a:extLst>
              <a:ext uri="{FF2B5EF4-FFF2-40B4-BE49-F238E27FC236}">
                <a16:creationId xmlns:a16="http://schemas.microsoft.com/office/drawing/2014/main" id="{E466D48E-528D-484A-A925-566493FD62D7}"/>
              </a:ext>
            </a:extLst>
          </p:cNvPr>
          <p:cNvCxnSpPr/>
          <p:nvPr/>
        </p:nvCxnSpPr>
        <p:spPr>
          <a:xfrm>
            <a:off x="609600" y="275167"/>
            <a:ext cx="0" cy="1043517"/>
          </a:xfrm>
          <a:prstGeom prst="line">
            <a:avLst/>
          </a:prstGeom>
          <a:ln w="41275">
            <a:solidFill>
              <a:srgbClr val="000000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18197" y="277847"/>
            <a:ext cx="2995305" cy="1039895"/>
          </a:xfrm>
        </p:spPr>
        <p:txBody>
          <a:bodyPr>
            <a:noAutofit/>
          </a:bodyPr>
          <a:lstStyle>
            <a:lvl1pPr algn="l">
              <a:defRPr sz="2667" b="1">
                <a:solidFill>
                  <a:srgbClr val="EC2227"/>
                </a:solidFill>
              </a:defRPr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17" name="Text Placeholder 16"/>
          <p:cNvSpPr>
            <a:spLocks noGrp="1"/>
          </p:cNvSpPr>
          <p:nvPr>
            <p:ph type="body" sz="quarter" idx="13"/>
          </p:nvPr>
        </p:nvSpPr>
        <p:spPr>
          <a:xfrm>
            <a:off x="4262967" y="469592"/>
            <a:ext cx="7448551" cy="1151291"/>
          </a:xfrm>
        </p:spPr>
        <p:txBody>
          <a:bodyPr>
            <a:noAutofit/>
          </a:bodyPr>
          <a:lstStyle>
            <a:lvl1pPr marL="0" indent="0">
              <a:buNone/>
              <a:defRPr sz="4000"/>
            </a:lvl1pPr>
            <a:lvl2pPr marL="609585" indent="0">
              <a:buNone/>
              <a:defRPr sz="1733"/>
            </a:lvl2pPr>
            <a:lvl3pPr marL="1219170" indent="0">
              <a:buNone/>
              <a:defRPr sz="1733"/>
            </a:lvl3pPr>
            <a:lvl4pPr marL="1828754" indent="0">
              <a:buNone/>
              <a:defRPr sz="1733"/>
            </a:lvl4pPr>
            <a:lvl5pPr marL="2438339" indent="0">
              <a:buNone/>
              <a:defRPr sz="1733"/>
            </a:lvl5pPr>
          </a:lstStyle>
          <a:p>
            <a:pPr lvl="0"/>
            <a:r>
              <a:rPr lang="en-US" dirty="0"/>
              <a:t>Click to edit Master text styles</a:t>
            </a:r>
          </a:p>
        </p:txBody>
      </p:sp>
      <p:sp>
        <p:nvSpPr>
          <p:cNvPr id="10" name="Text Placeholder 9"/>
          <p:cNvSpPr>
            <a:spLocks noGrp="1"/>
          </p:cNvSpPr>
          <p:nvPr>
            <p:ph type="body" sz="quarter" idx="16"/>
          </p:nvPr>
        </p:nvSpPr>
        <p:spPr>
          <a:xfrm>
            <a:off x="818197" y="2036064"/>
            <a:ext cx="5172416" cy="3359025"/>
          </a:xfrm>
        </p:spPr>
        <p:txBody>
          <a:bodyPr>
            <a:noAutofit/>
          </a:bodyPr>
          <a:lstStyle>
            <a:lvl1pPr marL="243834" indent="-243834">
              <a:spcBef>
                <a:spcPts val="800"/>
              </a:spcBef>
              <a:spcAft>
                <a:spcPts val="0"/>
              </a:spcAft>
              <a:defRPr sz="3200"/>
            </a:lvl1pPr>
            <a:lvl2pPr>
              <a:spcBef>
                <a:spcPts val="800"/>
              </a:spcBef>
              <a:spcAft>
                <a:spcPts val="0"/>
              </a:spcAft>
              <a:defRPr sz="2667"/>
            </a:lvl2pPr>
            <a:lvl3pPr>
              <a:spcBef>
                <a:spcPts val="800"/>
              </a:spcBef>
              <a:spcAft>
                <a:spcPts val="0"/>
              </a:spcAft>
              <a:defRPr sz="2667"/>
            </a:lvl3pPr>
            <a:lvl4pPr>
              <a:spcBef>
                <a:spcPts val="800"/>
              </a:spcBef>
              <a:spcAft>
                <a:spcPts val="0"/>
              </a:spcAft>
              <a:defRPr sz="2667"/>
            </a:lvl4pPr>
            <a:lvl5pPr>
              <a:spcBef>
                <a:spcPts val="800"/>
              </a:spcBef>
              <a:spcAft>
                <a:spcPts val="0"/>
              </a:spcAft>
              <a:defRPr sz="2667"/>
            </a:lvl5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24" name="Text Placeholder 9"/>
          <p:cNvSpPr>
            <a:spLocks noGrp="1"/>
          </p:cNvSpPr>
          <p:nvPr>
            <p:ph type="body" sz="quarter" idx="17"/>
          </p:nvPr>
        </p:nvSpPr>
        <p:spPr>
          <a:xfrm>
            <a:off x="6417497" y="2036064"/>
            <a:ext cx="5171664" cy="3359025"/>
          </a:xfrm>
        </p:spPr>
        <p:txBody>
          <a:bodyPr>
            <a:noAutofit/>
          </a:bodyPr>
          <a:lstStyle>
            <a:lvl1pPr marL="243834" indent="-243834">
              <a:spcBef>
                <a:spcPts val="800"/>
              </a:spcBef>
              <a:spcAft>
                <a:spcPts val="0"/>
              </a:spcAft>
              <a:defRPr sz="3200"/>
            </a:lvl1pPr>
            <a:lvl2pPr>
              <a:spcBef>
                <a:spcPts val="800"/>
              </a:spcBef>
              <a:spcAft>
                <a:spcPts val="0"/>
              </a:spcAft>
              <a:defRPr sz="2667"/>
            </a:lvl2pPr>
            <a:lvl3pPr>
              <a:spcBef>
                <a:spcPts val="800"/>
              </a:spcBef>
              <a:spcAft>
                <a:spcPts val="0"/>
              </a:spcAft>
              <a:defRPr sz="2667"/>
            </a:lvl3pPr>
            <a:lvl4pPr>
              <a:spcBef>
                <a:spcPts val="800"/>
              </a:spcBef>
              <a:spcAft>
                <a:spcPts val="0"/>
              </a:spcAft>
              <a:defRPr sz="2667"/>
            </a:lvl4pPr>
            <a:lvl5pPr>
              <a:spcBef>
                <a:spcPts val="800"/>
              </a:spcBef>
              <a:spcAft>
                <a:spcPts val="0"/>
              </a:spcAft>
              <a:defRPr sz="2667"/>
            </a:lvl5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pic>
        <p:nvPicPr>
          <p:cNvPr id="23" name="Picture 7">
            <a:extLst>
              <a:ext uri="{FF2B5EF4-FFF2-40B4-BE49-F238E27FC236}">
                <a16:creationId xmlns:a16="http://schemas.microsoft.com/office/drawing/2014/main" id="{6706B998-D951-4F97-BE9F-3BD5E562471A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95818" y="6231467"/>
            <a:ext cx="706967" cy="38311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cxnSp>
        <p:nvCxnSpPr>
          <p:cNvPr id="25" name="Straight Connector 24">
            <a:extLst>
              <a:ext uri="{FF2B5EF4-FFF2-40B4-BE49-F238E27FC236}">
                <a16:creationId xmlns:a16="http://schemas.microsoft.com/office/drawing/2014/main" id="{B75F1D15-790E-4D43-B620-7A5D6CBCA9E0}"/>
              </a:ext>
            </a:extLst>
          </p:cNvPr>
          <p:cNvCxnSpPr/>
          <p:nvPr userDrawn="1"/>
        </p:nvCxnSpPr>
        <p:spPr>
          <a:xfrm>
            <a:off x="1305984" y="6184900"/>
            <a:ext cx="0" cy="510117"/>
          </a:xfrm>
          <a:prstGeom prst="line">
            <a:avLst/>
          </a:prstGeom>
          <a:ln w="6350">
            <a:solidFill>
              <a:srgbClr val="3D3029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6" name="Straight Connector 25">
            <a:extLst>
              <a:ext uri="{FF2B5EF4-FFF2-40B4-BE49-F238E27FC236}">
                <a16:creationId xmlns:a16="http://schemas.microsoft.com/office/drawing/2014/main" id="{88FD0DB0-BF01-4579-921F-67BE5D8B0BF0}"/>
              </a:ext>
            </a:extLst>
          </p:cNvPr>
          <p:cNvCxnSpPr/>
          <p:nvPr userDrawn="1"/>
        </p:nvCxnSpPr>
        <p:spPr>
          <a:xfrm>
            <a:off x="10174816" y="6389683"/>
            <a:ext cx="459317" cy="0"/>
          </a:xfrm>
          <a:prstGeom prst="line">
            <a:avLst/>
          </a:prstGeom>
          <a:ln>
            <a:solidFill>
              <a:srgbClr val="000000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7" name="Footer Placeholder 4">
            <a:extLst>
              <a:ext uri="{FF2B5EF4-FFF2-40B4-BE49-F238E27FC236}">
                <a16:creationId xmlns:a16="http://schemas.microsoft.com/office/drawing/2014/main" id="{1B1954A0-3B1F-45BD-8FA9-A14758770218}"/>
              </a:ext>
            </a:extLst>
          </p:cNvPr>
          <p:cNvSpPr>
            <a:spLocks noGrp="1"/>
          </p:cNvSpPr>
          <p:nvPr>
            <p:ph type="ftr" sz="quarter" idx="10"/>
          </p:nvPr>
        </p:nvSpPr>
        <p:spPr>
          <a:xfrm>
            <a:off x="1600201" y="6390217"/>
            <a:ext cx="6040967" cy="211667"/>
          </a:xfrm>
        </p:spPr>
        <p:txBody>
          <a:bodyPr>
            <a:noAutofit/>
          </a:bodyPr>
          <a:lstStyle>
            <a:lvl1pPr>
              <a:defRPr/>
            </a:lvl1pPr>
          </a:lstStyle>
          <a:p>
            <a:r>
              <a:rPr lang="en-US" b="1" dirty="0"/>
              <a:t>© 2019 Health Level Seven ® International. Licensed under Creative Commons Attribution 4.0 International</a:t>
            </a:r>
          </a:p>
          <a:p>
            <a:r>
              <a:rPr lang="en-US" b="1" dirty="0"/>
              <a:t>HL7, Health Level Seven, FHIR and the FHIR flame logo are registered trademarks of Health Level Seven International. Reg. U.S. TM Office.</a:t>
            </a:r>
          </a:p>
        </p:txBody>
      </p:sp>
      <p:sp>
        <p:nvSpPr>
          <p:cNvPr id="28" name="Slide Number Placeholder 5">
            <a:extLst>
              <a:ext uri="{FF2B5EF4-FFF2-40B4-BE49-F238E27FC236}">
                <a16:creationId xmlns:a16="http://schemas.microsoft.com/office/drawing/2014/main" id="{B51710B4-0861-40EE-BAF9-A32A1CE1642E}"/>
              </a:ext>
            </a:extLst>
          </p:cNvPr>
          <p:cNvSpPr>
            <a:spLocks noGrp="1"/>
          </p:cNvSpPr>
          <p:nvPr>
            <p:ph type="sldNum" sz="quarter" idx="11"/>
          </p:nvPr>
        </p:nvSpPr>
        <p:spPr>
          <a:xfrm>
            <a:off x="10229850" y="6396033"/>
            <a:ext cx="361951" cy="211667"/>
          </a:xfrm>
        </p:spPr>
        <p:txBody>
          <a:bodyPr/>
          <a:lstStyle>
            <a:lvl1pPr>
              <a:defRPr/>
            </a:lvl1pPr>
          </a:lstStyle>
          <a:p>
            <a:fld id="{6CACE926-AEF5-4BFE-8BD7-24414108CB7B}" type="slidenum">
              <a:rPr lang="en-US" altLang="en-US"/>
              <a:pPr/>
              <a:t>‹#›</a:t>
            </a:fld>
            <a:endParaRPr lang="en-US" altLang="en-US" dirty="0"/>
          </a:p>
        </p:txBody>
      </p:sp>
      <p:pic>
        <p:nvPicPr>
          <p:cNvPr id="16" name="Picture 15">
            <a:extLst>
              <a:ext uri="{FF2B5EF4-FFF2-40B4-BE49-F238E27FC236}">
                <a16:creationId xmlns:a16="http://schemas.microsoft.com/office/drawing/2014/main" id="{E263FCF1-A627-45FF-9162-523A4427A605}"/>
              </a:ext>
            </a:extLst>
          </p:cNvPr>
          <p:cNvPicPr>
            <a:picLocks noChangeAspect="1"/>
          </p:cNvPicPr>
          <p:nvPr userDrawn="1"/>
        </p:nvPicPr>
        <p:blipFill>
          <a:blip r:embed="rId3"/>
          <a:stretch>
            <a:fillRect/>
          </a:stretch>
        </p:blipFill>
        <p:spPr>
          <a:xfrm>
            <a:off x="11265957" y="5957652"/>
            <a:ext cx="445587" cy="65869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746354118"/>
      </p:ext>
    </p:extLst>
  </p:cSld>
  <p:clrMapOvr>
    <a:masterClrMapping/>
  </p:clrMapOvr>
</p:sldLayout>
</file>

<file path=ppt/slideLayouts/slideLayout2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3-Column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8" name="Straight Connector 7">
            <a:extLst>
              <a:ext uri="{FF2B5EF4-FFF2-40B4-BE49-F238E27FC236}">
                <a16:creationId xmlns:a16="http://schemas.microsoft.com/office/drawing/2014/main" id="{68CD3726-52B7-4D64-8B2A-E9ECFDF6DFE8}"/>
              </a:ext>
            </a:extLst>
          </p:cNvPr>
          <p:cNvCxnSpPr/>
          <p:nvPr/>
        </p:nvCxnSpPr>
        <p:spPr>
          <a:xfrm>
            <a:off x="609600" y="275167"/>
            <a:ext cx="0" cy="1043517"/>
          </a:xfrm>
          <a:prstGeom prst="line">
            <a:avLst/>
          </a:prstGeom>
          <a:ln w="41275">
            <a:solidFill>
              <a:srgbClr val="000000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18196" y="277847"/>
            <a:ext cx="10850301" cy="1039895"/>
          </a:xfrm>
        </p:spPr>
        <p:txBody>
          <a:bodyPr>
            <a:noAutofit/>
          </a:bodyPr>
          <a:lstStyle>
            <a:lvl1pPr algn="l">
              <a:defRPr sz="4000" b="1">
                <a:solidFill>
                  <a:srgbClr val="EC2227"/>
                </a:solidFill>
              </a:defRPr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10" name="Text Placeholder 9"/>
          <p:cNvSpPr>
            <a:spLocks noGrp="1"/>
          </p:cNvSpPr>
          <p:nvPr>
            <p:ph type="body" sz="quarter" idx="16"/>
          </p:nvPr>
        </p:nvSpPr>
        <p:spPr>
          <a:xfrm>
            <a:off x="818199" y="2036064"/>
            <a:ext cx="3514680" cy="3359025"/>
          </a:xfrm>
        </p:spPr>
        <p:txBody>
          <a:bodyPr>
            <a:noAutofit/>
          </a:bodyPr>
          <a:lstStyle>
            <a:lvl1pPr marL="0" indent="0">
              <a:spcBef>
                <a:spcPts val="800"/>
              </a:spcBef>
              <a:spcAft>
                <a:spcPts val="800"/>
              </a:spcAft>
              <a:buNone/>
              <a:defRPr sz="3200"/>
            </a:lvl1pPr>
            <a:lvl2pPr marL="609585" indent="0">
              <a:buNone/>
              <a:defRPr sz="1867"/>
            </a:lvl2pPr>
            <a:lvl3pPr marL="1219170" indent="0">
              <a:buNone/>
              <a:defRPr sz="1867"/>
            </a:lvl3pPr>
            <a:lvl4pPr marL="1828754" indent="0">
              <a:buNone/>
              <a:defRPr sz="1867"/>
            </a:lvl4pPr>
            <a:lvl5pPr marL="2438339" indent="0">
              <a:buNone/>
              <a:defRPr sz="1867"/>
            </a:lvl5pPr>
          </a:lstStyle>
          <a:p>
            <a:pPr lvl="0"/>
            <a:r>
              <a:rPr lang="en-US" dirty="0"/>
              <a:t>Click to edit Master text styles</a:t>
            </a:r>
          </a:p>
        </p:txBody>
      </p:sp>
      <p:sp>
        <p:nvSpPr>
          <p:cNvPr id="12" name="Text Placeholder 9"/>
          <p:cNvSpPr>
            <a:spLocks noGrp="1"/>
          </p:cNvSpPr>
          <p:nvPr>
            <p:ph type="body" sz="quarter" idx="17"/>
          </p:nvPr>
        </p:nvSpPr>
        <p:spPr>
          <a:xfrm>
            <a:off x="8196865" y="2036064"/>
            <a:ext cx="3514680" cy="3359025"/>
          </a:xfrm>
        </p:spPr>
        <p:txBody>
          <a:bodyPr>
            <a:noAutofit/>
          </a:bodyPr>
          <a:lstStyle>
            <a:lvl1pPr marL="0" indent="0">
              <a:spcBef>
                <a:spcPts val="800"/>
              </a:spcBef>
              <a:spcAft>
                <a:spcPts val="800"/>
              </a:spcAft>
              <a:buNone/>
              <a:defRPr sz="3200"/>
            </a:lvl1pPr>
            <a:lvl2pPr marL="609585" indent="0">
              <a:buNone/>
              <a:defRPr sz="1867"/>
            </a:lvl2pPr>
            <a:lvl3pPr marL="1219170" indent="0">
              <a:buNone/>
              <a:defRPr sz="1867"/>
            </a:lvl3pPr>
            <a:lvl4pPr marL="1828754" indent="0">
              <a:buNone/>
              <a:defRPr sz="1867"/>
            </a:lvl4pPr>
            <a:lvl5pPr marL="2438339" indent="0">
              <a:buNone/>
              <a:defRPr sz="1867"/>
            </a:lvl5pPr>
          </a:lstStyle>
          <a:p>
            <a:pPr lvl="0"/>
            <a:r>
              <a:rPr lang="en-US" dirty="0"/>
              <a:t>Click to edit Master text styles</a:t>
            </a:r>
          </a:p>
        </p:txBody>
      </p:sp>
      <p:sp>
        <p:nvSpPr>
          <p:cNvPr id="14" name="Text Placeholder 9"/>
          <p:cNvSpPr>
            <a:spLocks noGrp="1"/>
          </p:cNvSpPr>
          <p:nvPr>
            <p:ph type="body" sz="quarter" idx="18"/>
          </p:nvPr>
        </p:nvSpPr>
        <p:spPr>
          <a:xfrm>
            <a:off x="4504313" y="2036064"/>
            <a:ext cx="3514680" cy="3359025"/>
          </a:xfrm>
        </p:spPr>
        <p:txBody>
          <a:bodyPr>
            <a:noAutofit/>
          </a:bodyPr>
          <a:lstStyle>
            <a:lvl1pPr marL="0" indent="0">
              <a:spcBef>
                <a:spcPts val="800"/>
              </a:spcBef>
              <a:spcAft>
                <a:spcPts val="800"/>
              </a:spcAft>
              <a:buNone/>
              <a:defRPr sz="3200"/>
            </a:lvl1pPr>
            <a:lvl2pPr marL="609585" indent="0">
              <a:buNone/>
              <a:defRPr sz="1867"/>
            </a:lvl2pPr>
            <a:lvl3pPr marL="1219170" indent="0">
              <a:buNone/>
              <a:defRPr sz="1867"/>
            </a:lvl3pPr>
            <a:lvl4pPr marL="1828754" indent="0">
              <a:buNone/>
              <a:defRPr sz="1867"/>
            </a:lvl4pPr>
            <a:lvl5pPr marL="2438339" indent="0">
              <a:buNone/>
              <a:defRPr sz="1867"/>
            </a:lvl5pPr>
          </a:lstStyle>
          <a:p>
            <a:pPr lvl="0"/>
            <a:r>
              <a:rPr lang="en-US" dirty="0"/>
              <a:t>Click to edit Master text styles</a:t>
            </a:r>
          </a:p>
        </p:txBody>
      </p:sp>
      <p:pic>
        <p:nvPicPr>
          <p:cNvPr id="24" name="Picture 7">
            <a:extLst>
              <a:ext uri="{FF2B5EF4-FFF2-40B4-BE49-F238E27FC236}">
                <a16:creationId xmlns:a16="http://schemas.microsoft.com/office/drawing/2014/main" id="{604E4302-EBCD-43F8-87C1-3B809E0D7B86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95818" y="6231467"/>
            <a:ext cx="706967" cy="38311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cxnSp>
        <p:nvCxnSpPr>
          <p:cNvPr id="25" name="Straight Connector 24">
            <a:extLst>
              <a:ext uri="{FF2B5EF4-FFF2-40B4-BE49-F238E27FC236}">
                <a16:creationId xmlns:a16="http://schemas.microsoft.com/office/drawing/2014/main" id="{E02F4A6A-E078-44C5-8E0D-7BCEDBC74B2C}"/>
              </a:ext>
            </a:extLst>
          </p:cNvPr>
          <p:cNvCxnSpPr/>
          <p:nvPr userDrawn="1"/>
        </p:nvCxnSpPr>
        <p:spPr>
          <a:xfrm>
            <a:off x="1305984" y="6184900"/>
            <a:ext cx="0" cy="510117"/>
          </a:xfrm>
          <a:prstGeom prst="line">
            <a:avLst/>
          </a:prstGeom>
          <a:ln w="6350">
            <a:solidFill>
              <a:srgbClr val="3D3029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6" name="Straight Connector 25">
            <a:extLst>
              <a:ext uri="{FF2B5EF4-FFF2-40B4-BE49-F238E27FC236}">
                <a16:creationId xmlns:a16="http://schemas.microsoft.com/office/drawing/2014/main" id="{4019E297-7697-47A9-81FB-2A72209EB648}"/>
              </a:ext>
            </a:extLst>
          </p:cNvPr>
          <p:cNvCxnSpPr/>
          <p:nvPr userDrawn="1"/>
        </p:nvCxnSpPr>
        <p:spPr>
          <a:xfrm>
            <a:off x="10174816" y="6389683"/>
            <a:ext cx="459317" cy="0"/>
          </a:xfrm>
          <a:prstGeom prst="line">
            <a:avLst/>
          </a:prstGeom>
          <a:ln>
            <a:solidFill>
              <a:srgbClr val="000000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7" name="Footer Placeholder 4">
            <a:extLst>
              <a:ext uri="{FF2B5EF4-FFF2-40B4-BE49-F238E27FC236}">
                <a16:creationId xmlns:a16="http://schemas.microsoft.com/office/drawing/2014/main" id="{3E9F65D5-F0E8-4EA4-B4AD-024D025D4000}"/>
              </a:ext>
            </a:extLst>
          </p:cNvPr>
          <p:cNvSpPr>
            <a:spLocks noGrp="1"/>
          </p:cNvSpPr>
          <p:nvPr>
            <p:ph type="ftr" sz="quarter" idx="10"/>
          </p:nvPr>
        </p:nvSpPr>
        <p:spPr>
          <a:xfrm>
            <a:off x="1600201" y="6390217"/>
            <a:ext cx="6040967" cy="211667"/>
          </a:xfrm>
        </p:spPr>
        <p:txBody>
          <a:bodyPr>
            <a:noAutofit/>
          </a:bodyPr>
          <a:lstStyle>
            <a:lvl1pPr>
              <a:defRPr/>
            </a:lvl1pPr>
          </a:lstStyle>
          <a:p>
            <a:r>
              <a:rPr lang="en-US" b="1" dirty="0"/>
              <a:t>© 2019 Health Level Seven ® International. Licensed under Creative Commons Attribution 4.0 International</a:t>
            </a:r>
          </a:p>
          <a:p>
            <a:r>
              <a:rPr lang="en-US" b="1" dirty="0"/>
              <a:t>HL7, Health Level Seven, FHIR and the FHIR flame logo are registered trademarks of Health Level Seven International. Reg. U.S. TM Office.</a:t>
            </a:r>
          </a:p>
        </p:txBody>
      </p:sp>
      <p:sp>
        <p:nvSpPr>
          <p:cNvPr id="28" name="Slide Number Placeholder 5">
            <a:extLst>
              <a:ext uri="{FF2B5EF4-FFF2-40B4-BE49-F238E27FC236}">
                <a16:creationId xmlns:a16="http://schemas.microsoft.com/office/drawing/2014/main" id="{953908D7-AAD6-4959-A912-FDB612681FB0}"/>
              </a:ext>
            </a:extLst>
          </p:cNvPr>
          <p:cNvSpPr>
            <a:spLocks noGrp="1"/>
          </p:cNvSpPr>
          <p:nvPr>
            <p:ph type="sldNum" sz="quarter" idx="11"/>
          </p:nvPr>
        </p:nvSpPr>
        <p:spPr>
          <a:xfrm>
            <a:off x="10229850" y="6396033"/>
            <a:ext cx="361951" cy="211667"/>
          </a:xfrm>
        </p:spPr>
        <p:txBody>
          <a:bodyPr/>
          <a:lstStyle>
            <a:lvl1pPr>
              <a:defRPr/>
            </a:lvl1pPr>
          </a:lstStyle>
          <a:p>
            <a:fld id="{6CACE926-AEF5-4BFE-8BD7-24414108CB7B}" type="slidenum">
              <a:rPr lang="en-US" altLang="en-US"/>
              <a:pPr/>
              <a:t>‹#›</a:t>
            </a:fld>
            <a:endParaRPr lang="en-US" altLang="en-US" dirty="0"/>
          </a:p>
        </p:txBody>
      </p:sp>
      <p:pic>
        <p:nvPicPr>
          <p:cNvPr id="16" name="Picture 15">
            <a:extLst>
              <a:ext uri="{FF2B5EF4-FFF2-40B4-BE49-F238E27FC236}">
                <a16:creationId xmlns:a16="http://schemas.microsoft.com/office/drawing/2014/main" id="{4E888F42-DC23-4311-B11C-554FD24267BA}"/>
              </a:ext>
            </a:extLst>
          </p:cNvPr>
          <p:cNvPicPr>
            <a:picLocks noChangeAspect="1"/>
          </p:cNvPicPr>
          <p:nvPr userDrawn="1"/>
        </p:nvPicPr>
        <p:blipFill>
          <a:blip r:embed="rId3"/>
          <a:stretch>
            <a:fillRect/>
          </a:stretch>
        </p:blipFill>
        <p:spPr>
          <a:xfrm>
            <a:off x="11265957" y="5957652"/>
            <a:ext cx="445587" cy="65869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419125916"/>
      </p:ext>
    </p:extLst>
  </p:cSld>
  <p:clrMapOvr>
    <a:masterClrMapping/>
  </p:clrMapOvr>
</p:sldLayout>
</file>

<file path=ppt/slideLayouts/slideLayout2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-column with imag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Picture 6">
            <a:extLst>
              <a:ext uri="{FF2B5EF4-FFF2-40B4-BE49-F238E27FC236}">
                <a16:creationId xmlns:a16="http://schemas.microsoft.com/office/drawing/2014/main" id="{57877E05-DEA4-4FC5-879E-20570832F5DB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504267" y="6231467"/>
            <a:ext cx="706967" cy="38311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cxnSp>
        <p:nvCxnSpPr>
          <p:cNvPr id="6" name="Straight Connector 5">
            <a:extLst>
              <a:ext uri="{FF2B5EF4-FFF2-40B4-BE49-F238E27FC236}">
                <a16:creationId xmlns:a16="http://schemas.microsoft.com/office/drawing/2014/main" id="{4E5C8F04-F07B-4668-9F9F-8BDD89357081}"/>
              </a:ext>
            </a:extLst>
          </p:cNvPr>
          <p:cNvCxnSpPr/>
          <p:nvPr/>
        </p:nvCxnSpPr>
        <p:spPr>
          <a:xfrm>
            <a:off x="5414433" y="6184900"/>
            <a:ext cx="0" cy="510117"/>
          </a:xfrm>
          <a:prstGeom prst="line">
            <a:avLst/>
          </a:prstGeom>
          <a:ln w="6350">
            <a:solidFill>
              <a:srgbClr val="3D3029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8" name="Straight Connector 7">
            <a:extLst>
              <a:ext uri="{FF2B5EF4-FFF2-40B4-BE49-F238E27FC236}">
                <a16:creationId xmlns:a16="http://schemas.microsoft.com/office/drawing/2014/main" id="{8419A212-4F29-4E75-A434-E7B0CFE2C07F}"/>
              </a:ext>
            </a:extLst>
          </p:cNvPr>
          <p:cNvCxnSpPr/>
          <p:nvPr/>
        </p:nvCxnSpPr>
        <p:spPr>
          <a:xfrm>
            <a:off x="4294717" y="275167"/>
            <a:ext cx="0" cy="1043517"/>
          </a:xfrm>
          <a:prstGeom prst="line">
            <a:avLst/>
          </a:prstGeom>
          <a:ln w="41275">
            <a:solidFill>
              <a:srgbClr val="000000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04313" y="273050"/>
            <a:ext cx="7207231" cy="1044692"/>
          </a:xfrm>
        </p:spPr>
        <p:txBody>
          <a:bodyPr>
            <a:noAutofit/>
          </a:bodyPr>
          <a:lstStyle>
            <a:lvl1pPr algn="l">
              <a:defRPr sz="4000" b="1">
                <a:solidFill>
                  <a:srgbClr val="EC2227"/>
                </a:solidFill>
              </a:defRPr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04313" y="2036062"/>
            <a:ext cx="7207232" cy="3684423"/>
          </a:xfrm>
        </p:spPr>
        <p:txBody>
          <a:bodyPr>
            <a:noAutofit/>
          </a:bodyPr>
          <a:lstStyle>
            <a:lvl1pPr marL="0" indent="0">
              <a:spcBef>
                <a:spcPts val="800"/>
              </a:spcBef>
              <a:spcAft>
                <a:spcPts val="0"/>
              </a:spcAft>
              <a:buNone/>
              <a:defRPr sz="3200"/>
            </a:lvl1pPr>
            <a:lvl2pPr marL="609585" indent="0">
              <a:buNone/>
              <a:defRPr sz="1600"/>
            </a:lvl2pPr>
            <a:lvl3pPr marL="1219170" indent="0">
              <a:buNone/>
              <a:defRPr sz="1333"/>
            </a:lvl3pPr>
            <a:lvl4pPr marL="1828754" indent="0">
              <a:buNone/>
              <a:defRPr sz="1200"/>
            </a:lvl4pPr>
            <a:lvl5pPr marL="2438339" indent="0">
              <a:buNone/>
              <a:defRPr sz="1200"/>
            </a:lvl5pPr>
            <a:lvl6pPr marL="3047924" indent="0">
              <a:buNone/>
              <a:defRPr sz="1200"/>
            </a:lvl6pPr>
            <a:lvl7pPr marL="3657509" indent="0">
              <a:buNone/>
              <a:defRPr sz="1200"/>
            </a:lvl7pPr>
            <a:lvl8pPr marL="4267093" indent="0">
              <a:buNone/>
              <a:defRPr sz="1200"/>
            </a:lvl8pPr>
            <a:lvl9pPr marL="4876678" indent="0">
              <a:buNone/>
              <a:defRPr sz="1200"/>
            </a:lvl9pPr>
          </a:lstStyle>
          <a:p>
            <a:pPr lvl="0"/>
            <a:r>
              <a:rPr lang="en-US" dirty="0"/>
              <a:t>Click to edit Master text styles</a:t>
            </a:r>
          </a:p>
        </p:txBody>
      </p:sp>
      <p:sp>
        <p:nvSpPr>
          <p:cNvPr id="20" name="Picture Placeholder 19"/>
          <p:cNvSpPr>
            <a:spLocks noGrp="1"/>
          </p:cNvSpPr>
          <p:nvPr>
            <p:ph type="pic" sz="quarter" idx="13"/>
          </p:nvPr>
        </p:nvSpPr>
        <p:spPr>
          <a:xfrm>
            <a:off x="1" y="0"/>
            <a:ext cx="4034367" cy="6858000"/>
          </a:xfrm>
        </p:spPr>
        <p:txBody>
          <a:bodyPr rtlCol="0" anchor="ctr">
            <a:normAutofit/>
          </a:bodyPr>
          <a:lstStyle>
            <a:lvl1pPr algn="ctr">
              <a:defRPr sz="1200"/>
            </a:lvl1pPr>
          </a:lstStyle>
          <a:p>
            <a:pPr lvl="0"/>
            <a:r>
              <a:rPr lang="en-US" noProof="0"/>
              <a:t>Click icon to add picture</a:t>
            </a:r>
            <a:endParaRPr lang="en-US" noProof="0" dirty="0"/>
          </a:p>
        </p:txBody>
      </p:sp>
      <p:sp>
        <p:nvSpPr>
          <p:cNvPr id="9" name="Footer Placeholder 5">
            <a:extLst>
              <a:ext uri="{FF2B5EF4-FFF2-40B4-BE49-F238E27FC236}">
                <a16:creationId xmlns:a16="http://schemas.microsoft.com/office/drawing/2014/main" id="{50BB96CA-A2ED-4646-843D-EEE743521AEF}"/>
              </a:ext>
            </a:extLst>
          </p:cNvPr>
          <p:cNvSpPr>
            <a:spLocks noGrp="1"/>
          </p:cNvSpPr>
          <p:nvPr>
            <p:ph type="ftr" sz="quarter" idx="14"/>
          </p:nvPr>
        </p:nvSpPr>
        <p:spPr>
          <a:xfrm>
            <a:off x="5708650" y="6383867"/>
            <a:ext cx="4138083" cy="266700"/>
          </a:xfrm>
        </p:spPr>
        <p:txBody>
          <a:bodyPr>
            <a:noAutofit/>
          </a:bodyPr>
          <a:lstStyle>
            <a:lvl1pPr>
              <a:defRPr/>
            </a:lvl1pPr>
          </a:lstStyle>
          <a:p>
            <a:r>
              <a:rPr lang="en-US" b="1"/>
              <a:t>© 2019 Health Level Seven ® International. Licensed under Creative Commons Attribution 4.0 International HL7, Health Level Seven, FHIR and the FHIR flame logo are registered trademarks of Health Level Seven International. Reg. U.S. TM Office.</a:t>
            </a:r>
            <a:endParaRPr lang="en-US" b="1" dirty="0"/>
          </a:p>
        </p:txBody>
      </p:sp>
      <p:cxnSp>
        <p:nvCxnSpPr>
          <p:cNvPr id="19" name="Straight Connector 18">
            <a:extLst>
              <a:ext uri="{FF2B5EF4-FFF2-40B4-BE49-F238E27FC236}">
                <a16:creationId xmlns:a16="http://schemas.microsoft.com/office/drawing/2014/main" id="{C5C7035E-9192-4B77-84BD-DB09E8D8D0D5}"/>
              </a:ext>
            </a:extLst>
          </p:cNvPr>
          <p:cNvCxnSpPr/>
          <p:nvPr userDrawn="1"/>
        </p:nvCxnSpPr>
        <p:spPr>
          <a:xfrm>
            <a:off x="10174816" y="6389683"/>
            <a:ext cx="459317" cy="0"/>
          </a:xfrm>
          <a:prstGeom prst="line">
            <a:avLst/>
          </a:prstGeom>
          <a:ln>
            <a:solidFill>
              <a:srgbClr val="000000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1" name="Slide Number Placeholder 5">
            <a:extLst>
              <a:ext uri="{FF2B5EF4-FFF2-40B4-BE49-F238E27FC236}">
                <a16:creationId xmlns:a16="http://schemas.microsoft.com/office/drawing/2014/main" id="{3A1335D0-084F-4898-B8A1-A485E3328A1E}"/>
              </a:ext>
            </a:extLst>
          </p:cNvPr>
          <p:cNvSpPr>
            <a:spLocks noGrp="1"/>
          </p:cNvSpPr>
          <p:nvPr>
            <p:ph type="sldNum" sz="quarter" idx="11"/>
          </p:nvPr>
        </p:nvSpPr>
        <p:spPr>
          <a:xfrm>
            <a:off x="10229850" y="6396033"/>
            <a:ext cx="361951" cy="211667"/>
          </a:xfrm>
        </p:spPr>
        <p:txBody>
          <a:bodyPr/>
          <a:lstStyle>
            <a:lvl1pPr>
              <a:defRPr/>
            </a:lvl1pPr>
          </a:lstStyle>
          <a:p>
            <a:fld id="{6CACE926-AEF5-4BFE-8BD7-24414108CB7B}" type="slidenum">
              <a:rPr lang="en-US" altLang="en-US"/>
              <a:pPr/>
              <a:t>‹#›</a:t>
            </a:fld>
            <a:endParaRPr lang="en-US" altLang="en-US" dirty="0"/>
          </a:p>
        </p:txBody>
      </p:sp>
      <p:pic>
        <p:nvPicPr>
          <p:cNvPr id="22" name="Picture 21">
            <a:extLst>
              <a:ext uri="{FF2B5EF4-FFF2-40B4-BE49-F238E27FC236}">
                <a16:creationId xmlns:a16="http://schemas.microsoft.com/office/drawing/2014/main" id="{D32F6708-D3B4-4D74-A64C-F0F9110AA7D7}"/>
              </a:ext>
            </a:extLst>
          </p:cNvPr>
          <p:cNvPicPr>
            <a:picLocks noChangeAspect="1"/>
          </p:cNvPicPr>
          <p:nvPr userDrawn="1"/>
        </p:nvPicPr>
        <p:blipFill>
          <a:blip r:embed="rId3"/>
          <a:stretch>
            <a:fillRect/>
          </a:stretch>
        </p:blipFill>
        <p:spPr>
          <a:xfrm>
            <a:off x="11265957" y="5957652"/>
            <a:ext cx="445587" cy="65869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140810321"/>
      </p:ext>
    </p:extLst>
  </p:cSld>
  <p:clrMapOvr>
    <a:masterClrMapping/>
  </p:clrMapOvr>
</p:sldLayout>
</file>

<file path=ppt/slideLayouts/slideLayout23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Footer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6" name="Picture 7">
            <a:extLst>
              <a:ext uri="{FF2B5EF4-FFF2-40B4-BE49-F238E27FC236}">
                <a16:creationId xmlns:a16="http://schemas.microsoft.com/office/drawing/2014/main" id="{438007AB-9407-42C5-AF1D-FDCF3B49A260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95818" y="6231467"/>
            <a:ext cx="706967" cy="38311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cxnSp>
        <p:nvCxnSpPr>
          <p:cNvPr id="17" name="Straight Connector 16">
            <a:extLst>
              <a:ext uri="{FF2B5EF4-FFF2-40B4-BE49-F238E27FC236}">
                <a16:creationId xmlns:a16="http://schemas.microsoft.com/office/drawing/2014/main" id="{B4832B80-8B2A-4954-A529-4265A63CAB4D}"/>
              </a:ext>
            </a:extLst>
          </p:cNvPr>
          <p:cNvCxnSpPr/>
          <p:nvPr userDrawn="1"/>
        </p:nvCxnSpPr>
        <p:spPr>
          <a:xfrm>
            <a:off x="1305984" y="6184900"/>
            <a:ext cx="0" cy="510117"/>
          </a:xfrm>
          <a:prstGeom prst="line">
            <a:avLst/>
          </a:prstGeom>
          <a:ln w="6350">
            <a:solidFill>
              <a:srgbClr val="3D3029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8" name="Straight Connector 17">
            <a:extLst>
              <a:ext uri="{FF2B5EF4-FFF2-40B4-BE49-F238E27FC236}">
                <a16:creationId xmlns:a16="http://schemas.microsoft.com/office/drawing/2014/main" id="{CE892B0C-0831-4140-965A-7EFB8731A638}"/>
              </a:ext>
            </a:extLst>
          </p:cNvPr>
          <p:cNvCxnSpPr/>
          <p:nvPr userDrawn="1"/>
        </p:nvCxnSpPr>
        <p:spPr>
          <a:xfrm>
            <a:off x="10174816" y="6389683"/>
            <a:ext cx="459317" cy="0"/>
          </a:xfrm>
          <a:prstGeom prst="line">
            <a:avLst/>
          </a:prstGeom>
          <a:ln>
            <a:solidFill>
              <a:srgbClr val="000000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9" name="Footer Placeholder 4">
            <a:extLst>
              <a:ext uri="{FF2B5EF4-FFF2-40B4-BE49-F238E27FC236}">
                <a16:creationId xmlns:a16="http://schemas.microsoft.com/office/drawing/2014/main" id="{736339CA-3043-4229-B59B-66EFA864600D}"/>
              </a:ext>
            </a:extLst>
          </p:cNvPr>
          <p:cNvSpPr>
            <a:spLocks noGrp="1"/>
          </p:cNvSpPr>
          <p:nvPr>
            <p:ph type="ftr" sz="quarter" idx="10"/>
          </p:nvPr>
        </p:nvSpPr>
        <p:spPr>
          <a:xfrm>
            <a:off x="1600201" y="6390217"/>
            <a:ext cx="6040967" cy="211667"/>
          </a:xfrm>
        </p:spPr>
        <p:txBody>
          <a:bodyPr>
            <a:noAutofit/>
          </a:bodyPr>
          <a:lstStyle>
            <a:lvl1pPr>
              <a:defRPr/>
            </a:lvl1pPr>
          </a:lstStyle>
          <a:p>
            <a:r>
              <a:rPr lang="en-US" b="1" dirty="0"/>
              <a:t>© 2019 Health Level Seven ® International. Licensed under Creative Commons Attribution 4.0 International</a:t>
            </a:r>
          </a:p>
          <a:p>
            <a:r>
              <a:rPr lang="en-US" b="1" dirty="0"/>
              <a:t>HL7, Health Level Seven, FHIR and the FHIR flame logo are registered trademarks of Health Level Seven International. Reg. U.S. TM Office.</a:t>
            </a:r>
          </a:p>
        </p:txBody>
      </p:sp>
      <p:sp>
        <p:nvSpPr>
          <p:cNvPr id="20" name="Slide Number Placeholder 5">
            <a:extLst>
              <a:ext uri="{FF2B5EF4-FFF2-40B4-BE49-F238E27FC236}">
                <a16:creationId xmlns:a16="http://schemas.microsoft.com/office/drawing/2014/main" id="{93E785D7-5D87-40DD-9617-7BFD7CC78D0F}"/>
              </a:ext>
            </a:extLst>
          </p:cNvPr>
          <p:cNvSpPr>
            <a:spLocks noGrp="1"/>
          </p:cNvSpPr>
          <p:nvPr>
            <p:ph type="sldNum" sz="quarter" idx="11"/>
          </p:nvPr>
        </p:nvSpPr>
        <p:spPr>
          <a:xfrm>
            <a:off x="10229850" y="6396033"/>
            <a:ext cx="361951" cy="211667"/>
          </a:xfrm>
        </p:spPr>
        <p:txBody>
          <a:bodyPr/>
          <a:lstStyle>
            <a:lvl1pPr>
              <a:defRPr/>
            </a:lvl1pPr>
          </a:lstStyle>
          <a:p>
            <a:fld id="{6CACE926-AEF5-4BFE-8BD7-24414108CB7B}" type="slidenum">
              <a:rPr lang="en-US" altLang="en-US"/>
              <a:pPr/>
              <a:t>‹#›</a:t>
            </a:fld>
            <a:endParaRPr lang="en-US" altLang="en-US" dirty="0"/>
          </a:p>
        </p:txBody>
      </p:sp>
      <p:pic>
        <p:nvPicPr>
          <p:cNvPr id="11" name="Picture 10">
            <a:extLst>
              <a:ext uri="{FF2B5EF4-FFF2-40B4-BE49-F238E27FC236}">
                <a16:creationId xmlns:a16="http://schemas.microsoft.com/office/drawing/2014/main" id="{3D05C5EE-2A92-4D4B-A616-F54674BEF8C9}"/>
              </a:ext>
            </a:extLst>
          </p:cNvPr>
          <p:cNvPicPr>
            <a:picLocks noChangeAspect="1"/>
          </p:cNvPicPr>
          <p:nvPr userDrawn="1"/>
        </p:nvPicPr>
        <p:blipFill>
          <a:blip r:embed="rId3"/>
          <a:stretch>
            <a:fillRect/>
          </a:stretch>
        </p:blipFill>
        <p:spPr>
          <a:xfrm>
            <a:off x="11265957" y="5957652"/>
            <a:ext cx="445587" cy="65869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753285830"/>
      </p:ext>
    </p:extLst>
  </p:cSld>
  <p:clrMapOvr>
    <a:masterClrMapping/>
  </p:clrMapOvr>
</p:sldLayout>
</file>

<file path=ppt/slideLayouts/slideLayout2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>
            <a:extLst>
              <a:ext uri="{FF2B5EF4-FFF2-40B4-BE49-F238E27FC236}">
                <a16:creationId xmlns:a16="http://schemas.microsoft.com/office/drawing/2014/main" id="{A9726A6D-74FA-43B6-9403-2499E7750D86}"/>
              </a:ext>
            </a:extLst>
          </p:cNvPr>
          <p:cNvPicPr>
            <a:picLocks noChangeAspect="1"/>
          </p:cNvPicPr>
          <p:nvPr userDrawn="1"/>
        </p:nvPicPr>
        <p:blipFill>
          <a:blip r:embed="rId2"/>
          <a:stretch>
            <a:fillRect/>
          </a:stretch>
        </p:blipFill>
        <p:spPr>
          <a:xfrm>
            <a:off x="11265957" y="5957652"/>
            <a:ext cx="445587" cy="65869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616109815"/>
      </p:ext>
    </p:extLst>
  </p:cSld>
  <p:clrMapOvr>
    <a:masterClrMapping/>
  </p:clrMapOvr>
</p:sldLayout>
</file>

<file path=ppt/slideLayouts/slideLayout25.xml><?xml version="1.0" encoding="utf-8"?>
<p:sldLayout xmlns:a="http://schemas.openxmlformats.org/drawingml/2006/main" xmlns:r="http://schemas.openxmlformats.org/officeDocument/2006/relationships" xmlns:p="http://schemas.openxmlformats.org/presentationml/2006/main" type="obj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CD1152A-151E-4431-B878-B8C070B3FBF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B33B6A5F-6452-43C7-A2F4-490D3DD3CEEB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B2371FBB-52FC-4D4F-8ECA-D7192B22F58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E232C92-DF21-4A04-859B-AAF8BD4EC904}" type="datetimeFigureOut">
              <a:rPr lang="en-US" smtClean="0"/>
              <a:t>3/12/2026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90499911-42D1-4B70-BF90-39190818B37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CC654252-880C-46E6-B074-D976A1AAF13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5E607B5-1CAF-438C-8693-BC134B2F1E5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92217905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theme" Target="../theme/theme1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/Relationships>
</file>

<file path=ppt/slideMasters/_rels/slideMaster2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22.xml"/><Relationship Id="rId3" Type="http://schemas.openxmlformats.org/officeDocument/2006/relationships/slideLayout" Target="../slideLayouts/slideLayout17.xml"/><Relationship Id="rId7" Type="http://schemas.openxmlformats.org/officeDocument/2006/relationships/slideLayout" Target="../slideLayouts/slideLayout21.xml"/><Relationship Id="rId12" Type="http://schemas.openxmlformats.org/officeDocument/2006/relationships/theme" Target="../theme/theme2.xml"/><Relationship Id="rId2" Type="http://schemas.openxmlformats.org/officeDocument/2006/relationships/slideLayout" Target="../slideLayouts/slideLayout16.xml"/><Relationship Id="rId1" Type="http://schemas.openxmlformats.org/officeDocument/2006/relationships/slideLayout" Target="../slideLayouts/slideLayout15.xml"/><Relationship Id="rId6" Type="http://schemas.openxmlformats.org/officeDocument/2006/relationships/slideLayout" Target="../slideLayouts/slideLayout20.xml"/><Relationship Id="rId11" Type="http://schemas.openxmlformats.org/officeDocument/2006/relationships/slideLayout" Target="../slideLayouts/slideLayout25.xml"/><Relationship Id="rId5" Type="http://schemas.openxmlformats.org/officeDocument/2006/relationships/slideLayout" Target="../slideLayouts/slideLayout19.xml"/><Relationship Id="rId10" Type="http://schemas.openxmlformats.org/officeDocument/2006/relationships/slideLayout" Target="../slideLayouts/slideLayout24.xml"/><Relationship Id="rId4" Type="http://schemas.openxmlformats.org/officeDocument/2006/relationships/slideLayout" Target="../slideLayouts/slideLayout18.xml"/><Relationship Id="rId9" Type="http://schemas.openxmlformats.org/officeDocument/2006/relationships/slideLayout" Target="../slideLayouts/slideLayout23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BD1EDC82-E650-4AC5-99D5-AB2F94E5F55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590824E7-FB30-4170-B4EE-760E475DE6BE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756A65AC-487B-45CF-B36D-5DD66D695E2B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3E232C92-DF21-4A04-859B-AAF8BD4EC904}" type="datetimeFigureOut">
              <a:rPr lang="en-US" smtClean="0"/>
              <a:t>3/12/2026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DB1C60DE-DC20-4DE3-A02F-BBAAB0723302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A6C72C9F-D302-41D1-A10A-2CE560C1B6EE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5E607B5-1CAF-438C-8693-BC134B2F1E5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63375200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  <p:sldLayoutId id="2147483671" r:id="rId12"/>
    <p:sldLayoutId id="2147483673" r:id="rId13"/>
    <p:sldLayoutId id="2147483674" r:id="rId14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2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6" name="Title Placeholder 1">
            <a:extLst>
              <a:ext uri="{FF2B5EF4-FFF2-40B4-BE49-F238E27FC236}">
                <a16:creationId xmlns:a16="http://schemas.microsoft.com/office/drawing/2014/main" id="{F61C90A7-CCEE-4CD4-A796-FAE18E5706C7}"/>
              </a:ext>
            </a:extLst>
          </p:cNvPr>
          <p:cNvSpPr>
            <a:spLocks noGrp="1"/>
          </p:cNvSpPr>
          <p:nvPr>
            <p:ph type="title"/>
          </p:nvPr>
        </p:nvSpPr>
        <p:spPr bwMode="auto">
          <a:xfrm>
            <a:off x="609600" y="275167"/>
            <a:ext cx="10972800" cy="11430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0" tIns="0" rIns="0" bIns="0" numCol="1" anchor="ctr" anchorCtr="0" compatLnSpc="1">
            <a:prstTxWarp prst="textNoShape">
              <a:avLst/>
            </a:prstTxWarp>
          </a:bodyPr>
          <a:lstStyle/>
          <a:p>
            <a:pPr lvl="0"/>
            <a:r>
              <a:rPr lang="en-US" altLang="en-US" dirty="0"/>
              <a:t>Click to edit Master title style</a:t>
            </a:r>
          </a:p>
        </p:txBody>
      </p:sp>
      <p:sp>
        <p:nvSpPr>
          <p:cNvPr id="1027" name="Text Placeholder 2">
            <a:extLst>
              <a:ext uri="{FF2B5EF4-FFF2-40B4-BE49-F238E27FC236}">
                <a16:creationId xmlns:a16="http://schemas.microsoft.com/office/drawing/2014/main" id="{734F8ABE-9AAD-4F94-B2B2-2FE8B41D2846}"/>
              </a:ext>
            </a:extLst>
          </p:cNvPr>
          <p:cNvSpPr>
            <a:spLocks noGrp="1"/>
          </p:cNvSpPr>
          <p:nvPr>
            <p:ph type="body" idx="1"/>
          </p:nvPr>
        </p:nvSpPr>
        <p:spPr bwMode="auto">
          <a:xfrm>
            <a:off x="609600" y="1600201"/>
            <a:ext cx="10972800" cy="452543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0" tIns="0" rIns="0" bIns="0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en-US" altLang="en-US" dirty="0"/>
              <a:t>Click to edit Master text styles</a:t>
            </a:r>
          </a:p>
          <a:p>
            <a:pPr lvl="1"/>
            <a:r>
              <a:rPr lang="en-US" altLang="en-US" dirty="0"/>
              <a:t>Second level</a:t>
            </a:r>
          </a:p>
          <a:p>
            <a:pPr lvl="2"/>
            <a:r>
              <a:rPr lang="en-US" altLang="en-US" dirty="0"/>
              <a:t>Third level</a:t>
            </a:r>
          </a:p>
          <a:p>
            <a:pPr lvl="3"/>
            <a:r>
              <a:rPr lang="en-US" altLang="en-US" dirty="0"/>
              <a:t>Fourth level</a:t>
            </a:r>
          </a:p>
          <a:p>
            <a:pPr lvl="4"/>
            <a:r>
              <a:rPr lang="en-US" altLang="en-US" dirty="0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2E3AFBDA-EF00-4D5A-B47F-2811257990CC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609600" y="5916085"/>
            <a:ext cx="2844800" cy="366183"/>
          </a:xfrm>
          <a:prstGeom prst="rect">
            <a:avLst/>
          </a:prstGeom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>
            <a:lvl1pPr>
              <a:defRPr sz="1600">
                <a:solidFill>
                  <a:srgbClr val="000000"/>
                </a:solidFill>
                <a:cs typeface="Arial" panose="020B0604020202020204" pitchFamily="34" charset="0"/>
              </a:defRPr>
            </a:lvl1pPr>
          </a:lstStyle>
          <a:p>
            <a:fld id="{7CE3BD8C-C39F-4FFF-9CD5-05E4806DBFF3}" type="datetime1">
              <a:rPr lang="en-US" altLang="en-US" smtClean="0"/>
              <a:t>3/12/2026</a:t>
            </a:fld>
            <a:endParaRPr lang="en-US" alt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B9753632-C492-4515-B901-41AFB25873CC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1600201" y="6390217"/>
            <a:ext cx="6040967" cy="211667"/>
          </a:xfrm>
          <a:prstGeom prst="rect">
            <a:avLst/>
          </a:prstGeom>
        </p:spPr>
        <p:txBody>
          <a:bodyPr vert="horz" wrap="square" lIns="0" tIns="0" rIns="0" bIns="0" numCol="1" anchor="b" anchorCtr="0" compatLnSpc="1">
            <a:prstTxWarp prst="textNoShape">
              <a:avLst/>
            </a:prstTxWarp>
          </a:bodyPr>
          <a:lstStyle>
            <a:lvl1pPr>
              <a:defRPr sz="667">
                <a:solidFill>
                  <a:srgbClr val="747679"/>
                </a:solidFill>
                <a:cs typeface="Arial" panose="020B0604020202020204" pitchFamily="34" charset="0"/>
              </a:defRPr>
            </a:lvl1pPr>
          </a:lstStyle>
          <a:p>
            <a:r>
              <a:rPr lang="en-US" b="1"/>
              <a:t>© 2019 Health Level Seven ® International. Licensed under Creative Commons Attribution 4.0 International HL7, Health Level Seven, FHIR and the FHIR flame logo are registered trademarks of Health Level Seven International. Reg. U.S. TM Office.</a:t>
            </a:r>
            <a:endParaRPr lang="en-US" b="1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F71A2006-CD71-435D-B767-98CFF7C45BE9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1307234" y="6390217"/>
            <a:ext cx="361951" cy="211667"/>
          </a:xfrm>
          <a:prstGeom prst="rect">
            <a:avLst/>
          </a:prstGeom>
        </p:spPr>
        <p:txBody>
          <a:bodyPr vert="horz" wrap="square" lIns="0" tIns="0" rIns="0" bIns="0" numCol="1" anchor="b" anchorCtr="0" compatLnSpc="1">
            <a:prstTxWarp prst="textNoShape">
              <a:avLst/>
            </a:prstTxWarp>
          </a:bodyPr>
          <a:lstStyle>
            <a:lvl1pPr algn="ctr">
              <a:defRPr sz="933">
                <a:cs typeface="Arial" panose="020B0604020202020204" pitchFamily="34" charset="0"/>
              </a:defRPr>
            </a:lvl1pPr>
          </a:lstStyle>
          <a:p>
            <a:fld id="{1D7CB6CA-6139-4024-BF52-A3AF11B6BCF5}" type="slidenum">
              <a:rPr lang="en-US" altLang="en-US"/>
              <a:pPr/>
              <a:t>‹#›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1816370006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  <p:sldLayoutId id="2147483666" r:id="rId6"/>
    <p:sldLayoutId id="2147483667" r:id="rId7"/>
    <p:sldLayoutId id="2147483668" r:id="rId8"/>
    <p:sldLayoutId id="2147483669" r:id="rId9"/>
    <p:sldLayoutId id="2147483670" r:id="rId10"/>
    <p:sldLayoutId id="2147483672" r:id="rId11"/>
  </p:sldLayoutIdLst>
  <p:hf hdr="0" dt="0"/>
  <p:txStyles>
    <p:titleStyle>
      <a:lvl1pPr algn="ctr" defTabSz="609585" rtl="0" eaLnBrk="1" fontAlgn="base" hangingPunct="1">
        <a:spcBef>
          <a:spcPct val="0"/>
        </a:spcBef>
        <a:spcAft>
          <a:spcPct val="0"/>
        </a:spcAft>
        <a:defRPr sz="5867" kern="1200">
          <a:solidFill>
            <a:schemeClr val="tx1"/>
          </a:solidFill>
          <a:latin typeface="Arial"/>
          <a:ea typeface="ヒラギノ角ゴ Pro W3" pitchFamily="-126" charset="-128"/>
          <a:cs typeface="Arial"/>
        </a:defRPr>
      </a:lvl1pPr>
      <a:lvl2pPr algn="ctr" defTabSz="609585" rtl="0" eaLnBrk="1" fontAlgn="base" hangingPunct="1">
        <a:spcBef>
          <a:spcPct val="0"/>
        </a:spcBef>
        <a:spcAft>
          <a:spcPct val="0"/>
        </a:spcAft>
        <a:defRPr sz="5867">
          <a:solidFill>
            <a:schemeClr val="tx1"/>
          </a:solidFill>
          <a:latin typeface="Arial" panose="020B0604020202020204" pitchFamily="34" charset="0"/>
          <a:ea typeface="ヒラギノ角ゴ Pro W3" pitchFamily="-126" charset="-128"/>
        </a:defRPr>
      </a:lvl2pPr>
      <a:lvl3pPr algn="ctr" defTabSz="609585" rtl="0" eaLnBrk="1" fontAlgn="base" hangingPunct="1">
        <a:spcBef>
          <a:spcPct val="0"/>
        </a:spcBef>
        <a:spcAft>
          <a:spcPct val="0"/>
        </a:spcAft>
        <a:defRPr sz="5867">
          <a:solidFill>
            <a:schemeClr val="tx1"/>
          </a:solidFill>
          <a:latin typeface="Arial" panose="020B0604020202020204" pitchFamily="34" charset="0"/>
          <a:ea typeface="ヒラギノ角ゴ Pro W3" pitchFamily="-126" charset="-128"/>
        </a:defRPr>
      </a:lvl3pPr>
      <a:lvl4pPr algn="ctr" defTabSz="609585" rtl="0" eaLnBrk="1" fontAlgn="base" hangingPunct="1">
        <a:spcBef>
          <a:spcPct val="0"/>
        </a:spcBef>
        <a:spcAft>
          <a:spcPct val="0"/>
        </a:spcAft>
        <a:defRPr sz="5867">
          <a:solidFill>
            <a:schemeClr val="tx1"/>
          </a:solidFill>
          <a:latin typeface="Arial" panose="020B0604020202020204" pitchFamily="34" charset="0"/>
          <a:ea typeface="ヒラギノ角ゴ Pro W3" pitchFamily="-126" charset="-128"/>
        </a:defRPr>
      </a:lvl4pPr>
      <a:lvl5pPr algn="ctr" defTabSz="609585" rtl="0" eaLnBrk="1" fontAlgn="base" hangingPunct="1">
        <a:spcBef>
          <a:spcPct val="0"/>
        </a:spcBef>
        <a:spcAft>
          <a:spcPct val="0"/>
        </a:spcAft>
        <a:defRPr sz="5867">
          <a:solidFill>
            <a:schemeClr val="tx1"/>
          </a:solidFill>
          <a:latin typeface="Arial" panose="020B0604020202020204" pitchFamily="34" charset="0"/>
          <a:ea typeface="ヒラギノ角ゴ Pro W3" pitchFamily="-126" charset="-128"/>
        </a:defRPr>
      </a:lvl5pPr>
      <a:lvl6pPr marL="609585" algn="ctr" defTabSz="609585" rtl="0" eaLnBrk="1" fontAlgn="base" hangingPunct="1">
        <a:spcBef>
          <a:spcPct val="0"/>
        </a:spcBef>
        <a:spcAft>
          <a:spcPct val="0"/>
        </a:spcAft>
        <a:defRPr sz="5867">
          <a:solidFill>
            <a:schemeClr val="tx1"/>
          </a:solidFill>
          <a:latin typeface="Arial" panose="020B0604020202020204" pitchFamily="34" charset="0"/>
          <a:ea typeface="ヒラギノ角ゴ Pro W3" pitchFamily="-126" charset="-128"/>
        </a:defRPr>
      </a:lvl6pPr>
      <a:lvl7pPr marL="1219170" algn="ctr" defTabSz="609585" rtl="0" eaLnBrk="1" fontAlgn="base" hangingPunct="1">
        <a:spcBef>
          <a:spcPct val="0"/>
        </a:spcBef>
        <a:spcAft>
          <a:spcPct val="0"/>
        </a:spcAft>
        <a:defRPr sz="5867">
          <a:solidFill>
            <a:schemeClr val="tx1"/>
          </a:solidFill>
          <a:latin typeface="Arial" panose="020B0604020202020204" pitchFamily="34" charset="0"/>
          <a:ea typeface="ヒラギノ角ゴ Pro W3" pitchFamily="-126" charset="-128"/>
        </a:defRPr>
      </a:lvl7pPr>
      <a:lvl8pPr marL="1828754" algn="ctr" defTabSz="609585" rtl="0" eaLnBrk="1" fontAlgn="base" hangingPunct="1">
        <a:spcBef>
          <a:spcPct val="0"/>
        </a:spcBef>
        <a:spcAft>
          <a:spcPct val="0"/>
        </a:spcAft>
        <a:defRPr sz="5867">
          <a:solidFill>
            <a:schemeClr val="tx1"/>
          </a:solidFill>
          <a:latin typeface="Arial" panose="020B0604020202020204" pitchFamily="34" charset="0"/>
          <a:ea typeface="ヒラギノ角ゴ Pro W3" pitchFamily="-126" charset="-128"/>
        </a:defRPr>
      </a:lvl8pPr>
      <a:lvl9pPr marL="2438339" algn="ctr" defTabSz="609585" rtl="0" eaLnBrk="1" fontAlgn="base" hangingPunct="1">
        <a:spcBef>
          <a:spcPct val="0"/>
        </a:spcBef>
        <a:spcAft>
          <a:spcPct val="0"/>
        </a:spcAft>
        <a:defRPr sz="5867">
          <a:solidFill>
            <a:schemeClr val="tx1"/>
          </a:solidFill>
          <a:latin typeface="Arial" panose="020B0604020202020204" pitchFamily="34" charset="0"/>
          <a:ea typeface="ヒラギノ角ゴ Pro W3" pitchFamily="-126" charset="-128"/>
        </a:defRPr>
      </a:lvl9pPr>
    </p:titleStyle>
    <p:bodyStyle>
      <a:lvl1pPr marL="457189" indent="-457189" algn="l" defTabSz="609585" rtl="0" eaLnBrk="1" fontAlgn="base" hangingPunct="1">
        <a:spcBef>
          <a:spcPts val="800"/>
        </a:spcBef>
        <a:spcAft>
          <a:spcPct val="0"/>
        </a:spcAft>
        <a:buFont typeface="Arial" panose="020B0604020202020204" pitchFamily="34" charset="0"/>
        <a:buChar char="•"/>
        <a:defRPr sz="4267" kern="1200">
          <a:solidFill>
            <a:schemeClr val="tx1"/>
          </a:solidFill>
          <a:latin typeface="Arial"/>
          <a:ea typeface="ヒラギノ角ゴ Pro W3" pitchFamily="-126" charset="-128"/>
          <a:cs typeface="Arial"/>
        </a:defRPr>
      </a:lvl1pPr>
      <a:lvl2pPr marL="990575" indent="-380990" algn="l" defTabSz="609585" rtl="0" eaLnBrk="1" fontAlgn="base" hangingPunct="1">
        <a:spcBef>
          <a:spcPts val="800"/>
        </a:spcBef>
        <a:spcAft>
          <a:spcPct val="0"/>
        </a:spcAft>
        <a:buFont typeface="Arial" panose="020B0604020202020204" pitchFamily="34" charset="0"/>
        <a:buChar char="–"/>
        <a:defRPr sz="3733" kern="1200">
          <a:solidFill>
            <a:schemeClr val="tx1"/>
          </a:solidFill>
          <a:latin typeface="Arial"/>
          <a:ea typeface="ヒラギノ角ゴ Pro W3" pitchFamily="-126" charset="-128"/>
          <a:cs typeface="Arial"/>
        </a:defRPr>
      </a:lvl2pPr>
      <a:lvl3pPr marL="1523962" indent="-304792" algn="l" defTabSz="609585" rtl="0" eaLnBrk="1" fontAlgn="base" hangingPunct="1">
        <a:spcBef>
          <a:spcPts val="800"/>
        </a:spcBef>
        <a:spcAft>
          <a:spcPct val="0"/>
        </a:spcAft>
        <a:buFont typeface="Arial" panose="020B0604020202020204" pitchFamily="34" charset="0"/>
        <a:buChar char="•"/>
        <a:defRPr sz="3200" kern="1200">
          <a:solidFill>
            <a:schemeClr val="tx1"/>
          </a:solidFill>
          <a:latin typeface="Arial"/>
          <a:ea typeface="ヒラギノ角ゴ Pro W3" pitchFamily="-126" charset="-128"/>
          <a:cs typeface="Arial"/>
        </a:defRPr>
      </a:lvl3pPr>
      <a:lvl4pPr marL="2133547" indent="-304792" algn="l" defTabSz="609585" rtl="0" eaLnBrk="1" fontAlgn="base" hangingPunct="1">
        <a:spcBef>
          <a:spcPts val="800"/>
        </a:spcBef>
        <a:spcAft>
          <a:spcPct val="0"/>
        </a:spcAft>
        <a:buFont typeface="Arial" panose="020B0604020202020204" pitchFamily="34" charset="0"/>
        <a:buChar char="–"/>
        <a:defRPr sz="2667" kern="1200">
          <a:solidFill>
            <a:schemeClr val="tx1"/>
          </a:solidFill>
          <a:latin typeface="Arial"/>
          <a:ea typeface="ヒラギノ角ゴ Pro W3" pitchFamily="-126" charset="-128"/>
          <a:cs typeface="Arial"/>
        </a:defRPr>
      </a:lvl4pPr>
      <a:lvl5pPr marL="2743131" indent="-304792" algn="l" defTabSz="609585" rtl="0" eaLnBrk="1" fontAlgn="base" hangingPunct="1">
        <a:spcBef>
          <a:spcPts val="800"/>
        </a:spcBef>
        <a:spcAft>
          <a:spcPct val="0"/>
        </a:spcAft>
        <a:buFont typeface="Arial" panose="020B0604020202020204" pitchFamily="34" charset="0"/>
        <a:buChar char="»"/>
        <a:defRPr sz="2667" kern="1200">
          <a:solidFill>
            <a:schemeClr val="tx1"/>
          </a:solidFill>
          <a:latin typeface="Arial"/>
          <a:ea typeface="ヒラギノ角ゴ Pro W3" pitchFamily="-126" charset="-128"/>
          <a:cs typeface="Arial"/>
        </a:defRPr>
      </a:lvl5pPr>
      <a:lvl6pPr marL="3352716" indent="-304792" algn="l" defTabSz="609585" rtl="0" eaLnBrk="1" latinLnBrk="0" hangingPunct="1">
        <a:spcBef>
          <a:spcPct val="20000"/>
        </a:spcBef>
        <a:buFont typeface="Arial"/>
        <a:buChar char="•"/>
        <a:defRPr sz="2667" kern="1200">
          <a:solidFill>
            <a:schemeClr val="tx1"/>
          </a:solidFill>
          <a:latin typeface="+mn-lt"/>
          <a:ea typeface="+mn-ea"/>
          <a:cs typeface="+mn-cs"/>
        </a:defRPr>
      </a:lvl6pPr>
      <a:lvl7pPr marL="3962301" indent="-304792" algn="l" defTabSz="609585" rtl="0" eaLnBrk="1" latinLnBrk="0" hangingPunct="1">
        <a:spcBef>
          <a:spcPct val="20000"/>
        </a:spcBef>
        <a:buFont typeface="Arial"/>
        <a:buChar char="•"/>
        <a:defRPr sz="2667" kern="1200">
          <a:solidFill>
            <a:schemeClr val="tx1"/>
          </a:solidFill>
          <a:latin typeface="+mn-lt"/>
          <a:ea typeface="+mn-ea"/>
          <a:cs typeface="+mn-cs"/>
        </a:defRPr>
      </a:lvl7pPr>
      <a:lvl8pPr marL="4571886" indent="-304792" algn="l" defTabSz="609585" rtl="0" eaLnBrk="1" latinLnBrk="0" hangingPunct="1">
        <a:spcBef>
          <a:spcPct val="20000"/>
        </a:spcBef>
        <a:buFont typeface="Arial"/>
        <a:buChar char="•"/>
        <a:defRPr sz="2667" kern="1200">
          <a:solidFill>
            <a:schemeClr val="tx1"/>
          </a:solidFill>
          <a:latin typeface="+mn-lt"/>
          <a:ea typeface="+mn-ea"/>
          <a:cs typeface="+mn-cs"/>
        </a:defRPr>
      </a:lvl8pPr>
      <a:lvl9pPr marL="5181470" indent="-304792" algn="l" defTabSz="609585" rtl="0" eaLnBrk="1" latinLnBrk="0" hangingPunct="1">
        <a:spcBef>
          <a:spcPct val="20000"/>
        </a:spcBef>
        <a:buFont typeface="Arial"/>
        <a:buChar char="•"/>
        <a:defRPr sz="2667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609585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1pPr>
      <a:lvl2pPr marL="609585" algn="l" defTabSz="609585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219170" algn="l" defTabSz="609585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828754" algn="l" defTabSz="609585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4pPr>
      <a:lvl5pPr marL="2438339" algn="l" defTabSz="609585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5pPr>
      <a:lvl6pPr marL="3047924" algn="l" defTabSz="609585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6pPr>
      <a:lvl7pPr marL="3657509" algn="l" defTabSz="609585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7pPr>
      <a:lvl8pPr marL="4267093" algn="l" defTabSz="609585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8pPr>
      <a:lvl9pPr marL="4876678" algn="l" defTabSz="609585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3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svg"/><Relationship Id="rId7" Type="http://schemas.openxmlformats.org/officeDocument/2006/relationships/image" Target="../media/image12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4.xml"/><Relationship Id="rId6" Type="http://schemas.openxmlformats.org/officeDocument/2006/relationships/image" Target="../media/image11.svg"/><Relationship Id="rId5" Type="http://schemas.openxmlformats.org/officeDocument/2006/relationships/image" Target="../media/image10.svg"/><Relationship Id="rId4" Type="http://schemas.openxmlformats.org/officeDocument/2006/relationships/image" Target="../media/image9.svg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3.sv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4.xml"/><Relationship Id="rId4" Type="http://schemas.openxmlformats.org/officeDocument/2006/relationships/image" Target="../media/image14.svg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3.sv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4.xml"/><Relationship Id="rId4" Type="http://schemas.openxmlformats.org/officeDocument/2006/relationships/image" Target="../media/image14.svg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3.sv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4.xml"/><Relationship Id="rId4" Type="http://schemas.openxmlformats.org/officeDocument/2006/relationships/image" Target="../media/image14.svg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3.sv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4.xml"/><Relationship Id="rId4" Type="http://schemas.openxmlformats.org/officeDocument/2006/relationships/image" Target="../media/image14.svg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4.sv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4.xml"/><Relationship Id="rId5" Type="http://schemas.openxmlformats.org/officeDocument/2006/relationships/image" Target="../media/image16.svg"/><Relationship Id="rId4" Type="http://schemas.openxmlformats.org/officeDocument/2006/relationships/image" Target="../media/image15.svg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7.sv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4.xml"/><Relationship Id="rId4" Type="http://schemas.openxmlformats.org/officeDocument/2006/relationships/image" Target="../media/image16.svg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4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4.xml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7.svg"/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14.xml"/><Relationship Id="rId5" Type="http://schemas.openxmlformats.org/officeDocument/2006/relationships/image" Target="../media/image16.svg"/><Relationship Id="rId4" Type="http://schemas.openxmlformats.org/officeDocument/2006/relationships/image" Target="../media/image15.svg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7.svg"/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14.xml"/><Relationship Id="rId5" Type="http://schemas.openxmlformats.org/officeDocument/2006/relationships/image" Target="../media/image16.svg"/><Relationship Id="rId4" Type="http://schemas.openxmlformats.org/officeDocument/2006/relationships/image" Target="../media/image15.svg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7.svg"/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14.xml"/><Relationship Id="rId5" Type="http://schemas.openxmlformats.org/officeDocument/2006/relationships/image" Target="../media/image15.svg"/><Relationship Id="rId4" Type="http://schemas.openxmlformats.org/officeDocument/2006/relationships/image" Target="../media/image16.svg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7.svg"/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14.xml"/><Relationship Id="rId5" Type="http://schemas.openxmlformats.org/officeDocument/2006/relationships/image" Target="../media/image15.svg"/><Relationship Id="rId4" Type="http://schemas.openxmlformats.org/officeDocument/2006/relationships/image" Target="../media/image16.svg"/></Relationships>
</file>

<file path=ppt/slides/_rels/slide1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6.svg"/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14.xml"/><Relationship Id="rId4" Type="http://schemas.openxmlformats.org/officeDocument/2006/relationships/image" Target="../media/image15.svg"/></Relationships>
</file>

<file path=ppt/slides/_rels/slide1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7.svg"/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14.xml"/><Relationship Id="rId5" Type="http://schemas.openxmlformats.org/officeDocument/2006/relationships/image" Target="../media/image16.svg"/><Relationship Id="rId4" Type="http://schemas.openxmlformats.org/officeDocument/2006/relationships/image" Target="../media/image15.svg"/></Relationships>
</file>

<file path=ppt/slides/_rels/slide1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7.svg"/><Relationship Id="rId2" Type="http://schemas.openxmlformats.org/officeDocument/2006/relationships/notesSlide" Target="../notesSlides/notesSlide16.xml"/><Relationship Id="rId1" Type="http://schemas.openxmlformats.org/officeDocument/2006/relationships/slideLayout" Target="../slideLayouts/slideLayout14.xml"/><Relationship Id="rId5" Type="http://schemas.openxmlformats.org/officeDocument/2006/relationships/image" Target="../media/image16.svg"/><Relationship Id="rId4" Type="http://schemas.openxmlformats.org/officeDocument/2006/relationships/image" Target="../media/image15.svg"/></Relationships>
</file>

<file path=ppt/slides/_rels/slide1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7.svg"/><Relationship Id="rId2" Type="http://schemas.openxmlformats.org/officeDocument/2006/relationships/notesSlide" Target="../notesSlides/notesSlide17.xml"/><Relationship Id="rId1" Type="http://schemas.openxmlformats.org/officeDocument/2006/relationships/slideLayout" Target="../slideLayouts/slideLayout14.xml"/><Relationship Id="rId5" Type="http://schemas.openxmlformats.org/officeDocument/2006/relationships/image" Target="../media/image16.svg"/><Relationship Id="rId4" Type="http://schemas.openxmlformats.org/officeDocument/2006/relationships/image" Target="../media/image15.svg"/></Relationships>
</file>

<file path=ppt/slides/_rels/slide2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3.svg"/><Relationship Id="rId2" Type="http://schemas.openxmlformats.org/officeDocument/2006/relationships/notesSlide" Target="../notesSlides/notesSlide18.xml"/><Relationship Id="rId1" Type="http://schemas.openxmlformats.org/officeDocument/2006/relationships/slideLayout" Target="../slideLayouts/slideLayout14.xml"/><Relationship Id="rId6" Type="http://schemas.openxmlformats.org/officeDocument/2006/relationships/image" Target="../media/image16.svg"/><Relationship Id="rId5" Type="http://schemas.openxmlformats.org/officeDocument/2006/relationships/image" Target="../media/image15.svg"/><Relationship Id="rId4" Type="http://schemas.openxmlformats.org/officeDocument/2006/relationships/image" Target="../media/image14.svg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6.xml"/></Relationships>
</file>

<file path=ppt/slides/_rels/slide2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9.xml"/><Relationship Id="rId1" Type="http://schemas.openxmlformats.org/officeDocument/2006/relationships/slideLayout" Target="../slideLayouts/slideLayout12.xml"/></Relationships>
</file>

<file path=ppt/slides/_rels/slide2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24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svg"/><Relationship Id="rId7" Type="http://schemas.openxmlformats.org/officeDocument/2006/relationships/image" Target="../media/image12.png"/><Relationship Id="rId2" Type="http://schemas.openxmlformats.org/officeDocument/2006/relationships/notesSlide" Target="../notesSlides/notesSlide20.xml"/><Relationship Id="rId1" Type="http://schemas.openxmlformats.org/officeDocument/2006/relationships/slideLayout" Target="../slideLayouts/slideLayout19.xml"/><Relationship Id="rId6" Type="http://schemas.openxmlformats.org/officeDocument/2006/relationships/image" Target="../media/image11.svg"/><Relationship Id="rId5" Type="http://schemas.openxmlformats.org/officeDocument/2006/relationships/image" Target="../media/image10.svg"/><Relationship Id="rId4" Type="http://schemas.openxmlformats.org/officeDocument/2006/relationships/image" Target="../media/image9.svg"/></Relationships>
</file>

<file path=ppt/slides/_rels/slide25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svg"/><Relationship Id="rId7" Type="http://schemas.openxmlformats.org/officeDocument/2006/relationships/image" Target="../media/image12.png"/><Relationship Id="rId2" Type="http://schemas.openxmlformats.org/officeDocument/2006/relationships/notesSlide" Target="../notesSlides/notesSlide21.xml"/><Relationship Id="rId1" Type="http://schemas.openxmlformats.org/officeDocument/2006/relationships/slideLayout" Target="../slideLayouts/slideLayout19.xml"/><Relationship Id="rId6" Type="http://schemas.openxmlformats.org/officeDocument/2006/relationships/image" Target="../media/image11.svg"/><Relationship Id="rId5" Type="http://schemas.openxmlformats.org/officeDocument/2006/relationships/image" Target="../media/image10.svg"/><Relationship Id="rId4" Type="http://schemas.openxmlformats.org/officeDocument/2006/relationships/image" Target="../media/image9.svg"/></Relationships>
</file>

<file path=ppt/slides/_rels/slide2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8.png"/><Relationship Id="rId2" Type="http://schemas.openxmlformats.org/officeDocument/2006/relationships/notesSlide" Target="../notesSlides/notesSlide22.xml"/><Relationship Id="rId1" Type="http://schemas.openxmlformats.org/officeDocument/2006/relationships/slideLayout" Target="../slideLayouts/slideLayout19.xml"/></Relationships>
</file>

<file path=ppt/slides/_rels/slide2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3.svg"/><Relationship Id="rId2" Type="http://schemas.openxmlformats.org/officeDocument/2006/relationships/notesSlide" Target="../notesSlides/notesSlide23.xml"/><Relationship Id="rId1" Type="http://schemas.openxmlformats.org/officeDocument/2006/relationships/slideLayout" Target="../slideLayouts/slideLayout19.xml"/><Relationship Id="rId4" Type="http://schemas.openxmlformats.org/officeDocument/2006/relationships/image" Target="../media/image14.svg"/></Relationships>
</file>

<file path=ppt/slides/_rels/slide2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3.svg"/><Relationship Id="rId2" Type="http://schemas.openxmlformats.org/officeDocument/2006/relationships/notesSlide" Target="../notesSlides/notesSlide24.xml"/><Relationship Id="rId1" Type="http://schemas.openxmlformats.org/officeDocument/2006/relationships/slideLayout" Target="../slideLayouts/slideLayout19.xml"/><Relationship Id="rId4" Type="http://schemas.openxmlformats.org/officeDocument/2006/relationships/image" Target="../media/image14.svg"/></Relationships>
</file>

<file path=ppt/slides/_rels/slide2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5.xml"/><Relationship Id="rId1" Type="http://schemas.openxmlformats.org/officeDocument/2006/relationships/slideLayout" Target="../slideLayouts/slideLayout23.xml"/></Relationships>
</file>

<file path=ppt/slides/_rels/slide3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9.png"/><Relationship Id="rId2" Type="http://schemas.openxmlformats.org/officeDocument/2006/relationships/notesSlide" Target="../notesSlides/notesSlide26.xml"/><Relationship Id="rId1" Type="http://schemas.openxmlformats.org/officeDocument/2006/relationships/slideLayout" Target="../slideLayouts/slideLayout6.xml"/></Relationships>
</file>

<file path=ppt/slides/_rels/slide3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0.png"/><Relationship Id="rId2" Type="http://schemas.openxmlformats.org/officeDocument/2006/relationships/notesSlide" Target="../notesSlides/notesSlide27.xml"/><Relationship Id="rId1" Type="http://schemas.openxmlformats.org/officeDocument/2006/relationships/slideLayout" Target="../slideLayouts/slideLayout2.xml"/></Relationships>
</file>

<file path=ppt/slides/_rels/slide3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6.xml"/></Relationships>
</file>

<file path=ppt/slides/_rels/slide3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3.svg"/><Relationship Id="rId2" Type="http://schemas.openxmlformats.org/officeDocument/2006/relationships/notesSlide" Target="../notesSlides/notesSlide28.xml"/><Relationship Id="rId1" Type="http://schemas.openxmlformats.org/officeDocument/2006/relationships/slideLayout" Target="../slideLayouts/slideLayout19.xml"/><Relationship Id="rId4" Type="http://schemas.openxmlformats.org/officeDocument/2006/relationships/image" Target="../media/image14.svg"/></Relationships>
</file>

<file path=ppt/slides/_rels/slide3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3.svg"/><Relationship Id="rId2" Type="http://schemas.openxmlformats.org/officeDocument/2006/relationships/notesSlide" Target="../notesSlides/notesSlide29.xml"/><Relationship Id="rId1" Type="http://schemas.openxmlformats.org/officeDocument/2006/relationships/slideLayout" Target="../slideLayouts/slideLayout19.xml"/><Relationship Id="rId4" Type="http://schemas.openxmlformats.org/officeDocument/2006/relationships/image" Target="../media/image14.svg"/></Relationships>
</file>

<file path=ppt/slides/_rels/slide39.xml.rels><?xml version="1.0" encoding="UTF-8" standalone="yes"?>
<Relationships xmlns="http://schemas.openxmlformats.org/package/2006/relationships"><Relationship Id="rId3" Type="http://schemas.openxmlformats.org/officeDocument/2006/relationships/image" Target="../media/image21.png"/><Relationship Id="rId2" Type="http://schemas.openxmlformats.org/officeDocument/2006/relationships/notesSlide" Target="../notesSlides/notesSlide30.xml"/><Relationship Id="rId1" Type="http://schemas.openxmlformats.org/officeDocument/2006/relationships/slideLayout" Target="../slideLayouts/slideLayout19.xml"/></Relationships>
</file>

<file path=ppt/slides/_rels/slide4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1.xml"/><Relationship Id="rId1" Type="http://schemas.openxmlformats.org/officeDocument/2006/relationships/slideLayout" Target="../slideLayouts/slideLayout25.xml"/></Relationships>
</file>

<file path=ppt/slides/_rels/slide4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6.xml"/></Relationships>
</file>

<file path=ppt/slides/_rels/slide4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7.svg"/><Relationship Id="rId2" Type="http://schemas.openxmlformats.org/officeDocument/2006/relationships/notesSlide" Target="../notesSlides/notesSlide32.xml"/><Relationship Id="rId1" Type="http://schemas.openxmlformats.org/officeDocument/2006/relationships/slideLayout" Target="../slideLayouts/slideLayout19.xml"/><Relationship Id="rId5" Type="http://schemas.openxmlformats.org/officeDocument/2006/relationships/image" Target="../media/image16.svg"/><Relationship Id="rId4" Type="http://schemas.openxmlformats.org/officeDocument/2006/relationships/image" Target="../media/image15.svg"/></Relationships>
</file>

<file path=ppt/slides/_rels/slide4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7.svg"/><Relationship Id="rId2" Type="http://schemas.openxmlformats.org/officeDocument/2006/relationships/notesSlide" Target="../notesSlides/notesSlide33.xml"/><Relationship Id="rId1" Type="http://schemas.openxmlformats.org/officeDocument/2006/relationships/slideLayout" Target="../slideLayouts/slideLayout19.xml"/><Relationship Id="rId5" Type="http://schemas.openxmlformats.org/officeDocument/2006/relationships/image" Target="../media/image16.svg"/><Relationship Id="rId4" Type="http://schemas.openxmlformats.org/officeDocument/2006/relationships/image" Target="../media/image15.svg"/></Relationships>
</file>

<file path=ppt/slides/_rels/slide4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4.xml"/><Relationship Id="rId1" Type="http://schemas.openxmlformats.org/officeDocument/2006/relationships/slideLayout" Target="../slideLayouts/slideLayout23.xml"/></Relationships>
</file>

<file path=ppt/slides/_rels/slide4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7.svg"/><Relationship Id="rId2" Type="http://schemas.openxmlformats.org/officeDocument/2006/relationships/notesSlide" Target="../notesSlides/notesSlide35.xml"/><Relationship Id="rId1" Type="http://schemas.openxmlformats.org/officeDocument/2006/relationships/slideLayout" Target="../slideLayouts/slideLayout19.xml"/><Relationship Id="rId5" Type="http://schemas.openxmlformats.org/officeDocument/2006/relationships/image" Target="../media/image16.svg"/><Relationship Id="rId4" Type="http://schemas.openxmlformats.org/officeDocument/2006/relationships/image" Target="../media/image15.svg"/></Relationships>
</file>

<file path=ppt/slides/_rels/slide4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7.svg"/><Relationship Id="rId2" Type="http://schemas.openxmlformats.org/officeDocument/2006/relationships/notesSlide" Target="../notesSlides/notesSlide36.xml"/><Relationship Id="rId1" Type="http://schemas.openxmlformats.org/officeDocument/2006/relationships/slideLayout" Target="../slideLayouts/slideLayout19.xml"/><Relationship Id="rId5" Type="http://schemas.openxmlformats.org/officeDocument/2006/relationships/image" Target="../media/image16.svg"/><Relationship Id="rId4" Type="http://schemas.openxmlformats.org/officeDocument/2006/relationships/image" Target="../media/image15.svg"/></Relationships>
</file>

<file path=ppt/slides/_rels/slide4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7.svg"/><Relationship Id="rId2" Type="http://schemas.openxmlformats.org/officeDocument/2006/relationships/notesSlide" Target="../notesSlides/notesSlide37.xml"/><Relationship Id="rId1" Type="http://schemas.openxmlformats.org/officeDocument/2006/relationships/slideLayout" Target="../slideLayouts/slideLayout19.xml"/><Relationship Id="rId4" Type="http://schemas.openxmlformats.org/officeDocument/2006/relationships/image" Target="../media/image16.svg"/></Relationships>
</file>

<file path=ppt/slides/_rels/slide4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7.svg"/><Relationship Id="rId2" Type="http://schemas.openxmlformats.org/officeDocument/2006/relationships/notesSlide" Target="../notesSlides/notesSlide38.xml"/><Relationship Id="rId1" Type="http://schemas.openxmlformats.org/officeDocument/2006/relationships/slideLayout" Target="../slideLayouts/slideLayout19.xml"/><Relationship Id="rId5" Type="http://schemas.openxmlformats.org/officeDocument/2006/relationships/image" Target="../media/image16.svg"/><Relationship Id="rId4" Type="http://schemas.openxmlformats.org/officeDocument/2006/relationships/image" Target="../media/image15.sv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AD4831D-2366-4258-A53F-2289C5E51B66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en-US" dirty="0"/>
              <a:t>Risk Adjustment Images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AEAF1694-B8BA-45BE-BEC6-D9596138930B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99568736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4F4567D-1FF5-4FD7-9A7C-93079475BC7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>
                <a:latin typeface="Arial" panose="020B0604020202020204" pitchFamily="34" charset="0"/>
                <a:cs typeface="Arial" panose="020B0604020202020204" pitchFamily="34" charset="0"/>
              </a:rPr>
              <a:t>Source images for STU2</a:t>
            </a:r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7078C0B5-F7E9-4D4A-BE30-E8C2FBFA35C3}"/>
              </a:ext>
            </a:extLst>
          </p:cNvPr>
          <p:cNvSpPr>
            <a:spLocks noGrp="1"/>
          </p:cNvSpPr>
          <p:nvPr>
            <p:ph type="ftr" sz="quarter" idx="10"/>
          </p:nvPr>
        </p:nvSpPr>
        <p:spPr/>
        <p:txBody>
          <a:bodyPr/>
          <a:lstStyle/>
          <a:p>
            <a:r>
              <a:rPr lang="en-US" b="1" dirty="0"/>
              <a:t>©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48744D42-5266-4E15-8667-314DF0B70C69}"/>
              </a:ext>
            </a:extLst>
          </p:cNvPr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fld id="{6CACE926-AEF5-4BFE-8BD7-24414108CB7B}" type="slidenum">
              <a:rPr lang="en-US" altLang="en-US" smtClean="0"/>
              <a:pPr/>
              <a:t>2</a:t>
            </a:fld>
            <a:endParaRPr lang="en-US" altLang="en-US" dirty="0"/>
          </a:p>
        </p:txBody>
      </p:sp>
    </p:spTree>
    <p:extLst>
      <p:ext uri="{BB962C8B-B14F-4D97-AF65-F5344CB8AC3E}">
        <p14:creationId xmlns:p14="http://schemas.microsoft.com/office/powerpoint/2010/main" val="864449404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361" name="Title 1">
            <a:extLst>
              <a:ext uri="{FF2B5EF4-FFF2-40B4-BE49-F238E27FC236}">
                <a16:creationId xmlns:a16="http://schemas.microsoft.com/office/drawing/2014/main" id="{9BD03358-C736-4C1A-8E91-843C37ADF1D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en-US" dirty="0"/>
              <a:t>Workflow for Medicare Advantage Population</a:t>
            </a:r>
          </a:p>
        </p:txBody>
      </p:sp>
      <p:sp>
        <p:nvSpPr>
          <p:cNvPr id="15363" name="Footer Placeholder 3">
            <a:extLst>
              <a:ext uri="{FF2B5EF4-FFF2-40B4-BE49-F238E27FC236}">
                <a16:creationId xmlns:a16="http://schemas.microsoft.com/office/drawing/2014/main" id="{62AFA8FB-2E5A-4324-ADD7-1326236DA958}"/>
              </a:ext>
            </a:extLst>
          </p:cNvPr>
          <p:cNvSpPr>
            <a:spLocks noGrp="1"/>
          </p:cNvSpPr>
          <p:nvPr>
            <p:ph type="ftr" sz="quarter" idx="10"/>
          </p:nvPr>
        </p:nvSpPr>
        <p:spPr/>
        <p:txBody>
          <a:bodyPr/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  <a:ea typeface="ヒラギノ角ゴ Pro W3" pitchFamily="-126" charset="-128"/>
              </a:defRPr>
            </a:lvl1pPr>
            <a:lvl2pPr marL="990575" indent="-380990">
              <a:defRPr>
                <a:solidFill>
                  <a:schemeClr val="tx1"/>
                </a:solidFill>
                <a:latin typeface="Arial" panose="020B0604020202020204" pitchFamily="34" charset="0"/>
                <a:ea typeface="ヒラギノ角ゴ Pro W3" pitchFamily="-126" charset="-128"/>
              </a:defRPr>
            </a:lvl2pPr>
            <a:lvl3pPr marL="1523962" indent="-304792">
              <a:defRPr>
                <a:solidFill>
                  <a:schemeClr val="tx1"/>
                </a:solidFill>
                <a:latin typeface="Arial" panose="020B0604020202020204" pitchFamily="34" charset="0"/>
                <a:ea typeface="ヒラギノ角ゴ Pro W3" pitchFamily="-126" charset="-128"/>
              </a:defRPr>
            </a:lvl3pPr>
            <a:lvl4pPr marL="2133547" indent="-304792">
              <a:defRPr>
                <a:solidFill>
                  <a:schemeClr val="tx1"/>
                </a:solidFill>
                <a:latin typeface="Arial" panose="020B0604020202020204" pitchFamily="34" charset="0"/>
                <a:ea typeface="ヒラギノ角ゴ Pro W3" pitchFamily="-126" charset="-128"/>
              </a:defRPr>
            </a:lvl4pPr>
            <a:lvl5pPr marL="2743131" indent="-304792">
              <a:defRPr>
                <a:solidFill>
                  <a:schemeClr val="tx1"/>
                </a:solidFill>
                <a:latin typeface="Arial" panose="020B0604020202020204" pitchFamily="34" charset="0"/>
                <a:ea typeface="ヒラギノ角ゴ Pro W3" pitchFamily="-126" charset="-128"/>
              </a:defRPr>
            </a:lvl5pPr>
            <a:lvl6pPr marL="3352716" indent="-304792" defTabSz="609585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ヒラギノ角ゴ Pro W3" pitchFamily="-126" charset="-128"/>
              </a:defRPr>
            </a:lvl6pPr>
            <a:lvl7pPr marL="3962301" indent="-304792" defTabSz="609585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ヒラギノ角ゴ Pro W3" pitchFamily="-126" charset="-128"/>
              </a:defRPr>
            </a:lvl7pPr>
            <a:lvl8pPr marL="4571886" indent="-304792" defTabSz="609585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ヒラギノ角ゴ Pro W3" pitchFamily="-126" charset="-128"/>
              </a:defRPr>
            </a:lvl8pPr>
            <a:lvl9pPr marL="5181470" indent="-304792" defTabSz="609585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ヒラギノ角ゴ Pro W3" pitchFamily="-126" charset="-128"/>
              </a:defRPr>
            </a:lvl9pPr>
          </a:lstStyle>
          <a:p>
            <a:pPr defTabSz="609585" fontAlgn="base">
              <a:spcBef>
                <a:spcPct val="0"/>
              </a:spcBef>
              <a:spcAft>
                <a:spcPct val="0"/>
              </a:spcAft>
            </a:pPr>
            <a:r>
              <a:rPr lang="en-US" altLang="en-US">
                <a:solidFill>
                  <a:prstClr val="black"/>
                </a:solidFill>
              </a:rPr>
              <a:t>© 2019 Health Level Seven ® International. Licensed under Creative Commons Attribution 4.0 International HL7, Health Level Seven, FHIR and the FHIR flame logo are registered trademarks of Health Level Seven International. Reg. U.S. TM Office.</a:t>
            </a:r>
          </a:p>
        </p:txBody>
      </p:sp>
      <p:sp>
        <p:nvSpPr>
          <p:cNvPr id="15364" name="Slide Number Placeholder 4">
            <a:extLst>
              <a:ext uri="{FF2B5EF4-FFF2-40B4-BE49-F238E27FC236}">
                <a16:creationId xmlns:a16="http://schemas.microsoft.com/office/drawing/2014/main" id="{2EEC91F9-0B4D-4914-992D-9AA65CF32774}"/>
              </a:ext>
            </a:extLst>
          </p:cNvPr>
          <p:cNvSpPr>
            <a:spLocks noGrp="1"/>
          </p:cNvSpPr>
          <p:nvPr>
            <p:ph type="sldNum" sz="quarter" idx="11"/>
          </p:nvPr>
        </p:nvSpPr>
        <p:spPr/>
        <p:txBody>
          <a:bodyPr/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  <a:ea typeface="ヒラギノ角ゴ Pro W3" pitchFamily="-126" charset="-128"/>
              </a:defRPr>
            </a:lvl1pPr>
            <a:lvl2pPr marL="990575" indent="-380990">
              <a:defRPr>
                <a:solidFill>
                  <a:schemeClr val="tx1"/>
                </a:solidFill>
                <a:latin typeface="Arial" panose="020B0604020202020204" pitchFamily="34" charset="0"/>
                <a:ea typeface="ヒラギノ角ゴ Pro W3" pitchFamily="-126" charset="-128"/>
              </a:defRPr>
            </a:lvl2pPr>
            <a:lvl3pPr marL="1523962" indent="-304792">
              <a:defRPr>
                <a:solidFill>
                  <a:schemeClr val="tx1"/>
                </a:solidFill>
                <a:latin typeface="Arial" panose="020B0604020202020204" pitchFamily="34" charset="0"/>
                <a:ea typeface="ヒラギノ角ゴ Pro W3" pitchFamily="-126" charset="-128"/>
              </a:defRPr>
            </a:lvl3pPr>
            <a:lvl4pPr marL="2133547" indent="-304792">
              <a:defRPr>
                <a:solidFill>
                  <a:schemeClr val="tx1"/>
                </a:solidFill>
                <a:latin typeface="Arial" panose="020B0604020202020204" pitchFamily="34" charset="0"/>
                <a:ea typeface="ヒラギノ角ゴ Pro W3" pitchFamily="-126" charset="-128"/>
              </a:defRPr>
            </a:lvl4pPr>
            <a:lvl5pPr marL="2743131" indent="-304792">
              <a:defRPr>
                <a:solidFill>
                  <a:schemeClr val="tx1"/>
                </a:solidFill>
                <a:latin typeface="Arial" panose="020B0604020202020204" pitchFamily="34" charset="0"/>
                <a:ea typeface="ヒラギノ角ゴ Pro W3" pitchFamily="-126" charset="-128"/>
              </a:defRPr>
            </a:lvl5pPr>
            <a:lvl6pPr marL="3352716" indent="-304792" defTabSz="609585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ヒラギノ角ゴ Pro W3" pitchFamily="-126" charset="-128"/>
              </a:defRPr>
            </a:lvl6pPr>
            <a:lvl7pPr marL="3962301" indent="-304792" defTabSz="609585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ヒラギノ角ゴ Pro W3" pitchFamily="-126" charset="-128"/>
              </a:defRPr>
            </a:lvl7pPr>
            <a:lvl8pPr marL="4571886" indent="-304792" defTabSz="609585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ヒラギノ角ゴ Pro W3" pitchFamily="-126" charset="-128"/>
              </a:defRPr>
            </a:lvl8pPr>
            <a:lvl9pPr marL="5181470" indent="-304792" defTabSz="609585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ヒラギノ角ゴ Pro W3" pitchFamily="-126" charset="-128"/>
              </a:defRPr>
            </a:lvl9pPr>
          </a:lstStyle>
          <a:p>
            <a:pPr defTabSz="609585" fontAlgn="base">
              <a:spcBef>
                <a:spcPct val="0"/>
              </a:spcBef>
              <a:spcAft>
                <a:spcPct val="0"/>
              </a:spcAft>
            </a:pPr>
            <a:fld id="{A6B490F0-9F17-4BC8-B7C0-FB1407BB346B}" type="slidenum">
              <a:rPr lang="en-US" altLang="en-US">
                <a:solidFill>
                  <a:prstClr val="black"/>
                </a:solidFill>
              </a:rPr>
              <a:pPr defTabSz="609585" fontAlgn="base">
                <a:spcBef>
                  <a:spcPct val="0"/>
                </a:spcBef>
                <a:spcAft>
                  <a:spcPct val="0"/>
                </a:spcAft>
              </a:pPr>
              <a:t>3</a:t>
            </a:fld>
            <a:endParaRPr lang="en-US" altLang="en-US">
              <a:solidFill>
                <a:prstClr val="black"/>
              </a:solidFill>
            </a:endParaRPr>
          </a:p>
        </p:txBody>
      </p:sp>
      <p:pic>
        <p:nvPicPr>
          <p:cNvPr id="27" name="Graphic 26">
            <a:extLst>
              <a:ext uri="{FF2B5EF4-FFF2-40B4-BE49-F238E27FC236}">
                <a16:creationId xmlns:a16="http://schemas.microsoft.com/office/drawing/2014/main" id="{FCA3DB60-E4FD-411D-BFC4-01DA17A8ABBA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10150582" y="2961684"/>
            <a:ext cx="659817" cy="817600"/>
          </a:xfrm>
          <a:prstGeom prst="rect">
            <a:avLst/>
          </a:prstGeom>
        </p:spPr>
      </p:pic>
      <p:pic>
        <p:nvPicPr>
          <p:cNvPr id="28" name="Graphic 27">
            <a:extLst>
              <a:ext uri="{FF2B5EF4-FFF2-40B4-BE49-F238E27FC236}">
                <a16:creationId xmlns:a16="http://schemas.microsoft.com/office/drawing/2014/main" id="{8129DB4E-D9A3-45FE-9463-3C9796BFFFB2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7512232" y="2961683"/>
            <a:ext cx="659817" cy="996459"/>
          </a:xfrm>
          <a:prstGeom prst="rect">
            <a:avLst/>
          </a:prstGeom>
        </p:spPr>
      </p:pic>
      <p:pic>
        <p:nvPicPr>
          <p:cNvPr id="29" name="Graphic 28">
            <a:extLst>
              <a:ext uri="{FF2B5EF4-FFF2-40B4-BE49-F238E27FC236}">
                <a16:creationId xmlns:a16="http://schemas.microsoft.com/office/drawing/2014/main" id="{D25F9C97-C24C-4ADA-AAB2-031E49EE5393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>
            <a:off x="4445355" y="2979090"/>
            <a:ext cx="814124" cy="899821"/>
          </a:xfrm>
          <a:prstGeom prst="rect">
            <a:avLst/>
          </a:prstGeom>
        </p:spPr>
      </p:pic>
      <p:sp>
        <p:nvSpPr>
          <p:cNvPr id="30" name="Rounded Rectangle 3">
            <a:extLst>
              <a:ext uri="{FF2B5EF4-FFF2-40B4-BE49-F238E27FC236}">
                <a16:creationId xmlns:a16="http://schemas.microsoft.com/office/drawing/2014/main" id="{02FF7B03-5F23-45A9-82FE-ABEE01E53862}"/>
              </a:ext>
            </a:extLst>
          </p:cNvPr>
          <p:cNvSpPr/>
          <p:nvPr/>
        </p:nvSpPr>
        <p:spPr>
          <a:xfrm>
            <a:off x="5601878" y="2381431"/>
            <a:ext cx="1630257" cy="784360"/>
          </a:xfrm>
          <a:prstGeom prst="roundRect">
            <a:avLst/>
          </a:prstGeom>
          <a:solidFill>
            <a:schemeClr val="accent2">
              <a:lumMod val="40000"/>
              <a:lumOff val="60000"/>
            </a:schemeClr>
          </a:solidFill>
          <a:ln w="28575" cap="flat" cmpd="sng" algn="ctr">
            <a:solidFill>
              <a:schemeClr val="accent2">
                <a:lumMod val="60000"/>
                <a:lumOff val="40000"/>
              </a:schemeClr>
            </a:solidFill>
            <a:prstDash val="solid"/>
            <a:miter lim="800000"/>
          </a:ln>
          <a:effectLst/>
        </p:spPr>
        <p:txBody>
          <a:bodyPr rtlCol="0" anchor="t" anchorCtr="0"/>
          <a:lstStyle/>
          <a:p>
            <a:pPr algn="ctr" defTabSz="609585" fontAlgn="base">
              <a:spcBef>
                <a:spcPct val="0"/>
              </a:spcBef>
              <a:spcAft>
                <a:spcPct val="0"/>
              </a:spcAft>
              <a:defRPr/>
            </a:pPr>
            <a:r>
              <a:rPr lang="en-US" sz="1200" b="1" dirty="0">
                <a:solidFill>
                  <a:prstClr val="black"/>
                </a:solidFill>
                <a:latin typeface="Arial" panose="020B0604020202020204" pitchFamily="34" charset="0"/>
                <a:ea typeface="ヒラギノ角ゴ Pro W3" pitchFamily="-126" charset="-128"/>
                <a:cs typeface="Arial" panose="020B0604020202020204" pitchFamily="34" charset="0"/>
              </a:rPr>
              <a:t>Payer sends risk coding gap report to provider group</a:t>
            </a:r>
          </a:p>
        </p:txBody>
      </p:sp>
      <p:cxnSp>
        <p:nvCxnSpPr>
          <p:cNvPr id="31" name="Straight Arrow Connector 30">
            <a:extLst>
              <a:ext uri="{FF2B5EF4-FFF2-40B4-BE49-F238E27FC236}">
                <a16:creationId xmlns:a16="http://schemas.microsoft.com/office/drawing/2014/main" id="{9719D31E-8A9E-445D-B5AE-979F276B314D}"/>
              </a:ext>
            </a:extLst>
          </p:cNvPr>
          <p:cNvCxnSpPr>
            <a:cxnSpLocks/>
          </p:cNvCxnSpPr>
          <p:nvPr/>
        </p:nvCxnSpPr>
        <p:spPr>
          <a:xfrm>
            <a:off x="8416630" y="3676571"/>
            <a:ext cx="1415973" cy="0"/>
          </a:xfrm>
          <a:prstGeom prst="straightConnector1">
            <a:avLst/>
          </a:prstGeom>
          <a:ln w="38100">
            <a:solidFill>
              <a:schemeClr val="bg1">
                <a:lumMod val="75000"/>
              </a:schemeClr>
            </a:solidFill>
            <a:headEnd type="triangl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32" name="Graphic 31">
            <a:extLst>
              <a:ext uri="{FF2B5EF4-FFF2-40B4-BE49-F238E27FC236}">
                <a16:creationId xmlns:a16="http://schemas.microsoft.com/office/drawing/2014/main" id="{67B26F22-9F6E-4E1E-9DFE-1B22426633F9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p:blipFill>
        <p:spPr>
          <a:xfrm>
            <a:off x="7558975" y="3937220"/>
            <a:ext cx="566328" cy="499701"/>
          </a:xfrm>
          <a:prstGeom prst="rect">
            <a:avLst/>
          </a:prstGeom>
        </p:spPr>
      </p:pic>
      <p:cxnSp>
        <p:nvCxnSpPr>
          <p:cNvPr id="33" name="Straight Arrow Connector 32">
            <a:extLst>
              <a:ext uri="{FF2B5EF4-FFF2-40B4-BE49-F238E27FC236}">
                <a16:creationId xmlns:a16="http://schemas.microsoft.com/office/drawing/2014/main" id="{D7F51C0D-6B70-4864-874E-EA5E93427A95}"/>
              </a:ext>
            </a:extLst>
          </p:cNvPr>
          <p:cNvCxnSpPr>
            <a:cxnSpLocks/>
          </p:cNvCxnSpPr>
          <p:nvPr/>
        </p:nvCxnSpPr>
        <p:spPr>
          <a:xfrm flipH="1">
            <a:off x="8416629" y="3434805"/>
            <a:ext cx="1489371" cy="0"/>
          </a:xfrm>
          <a:prstGeom prst="straightConnector1">
            <a:avLst/>
          </a:prstGeom>
          <a:ln w="38100">
            <a:solidFill>
              <a:schemeClr val="bg1">
                <a:lumMod val="75000"/>
              </a:schemeClr>
            </a:solidFill>
            <a:headEnd type="triangl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4" name="Straight Arrow Connector 33">
            <a:extLst>
              <a:ext uri="{FF2B5EF4-FFF2-40B4-BE49-F238E27FC236}">
                <a16:creationId xmlns:a16="http://schemas.microsoft.com/office/drawing/2014/main" id="{F8591E37-DF51-4BFB-9CA6-E112737AFCEF}"/>
              </a:ext>
            </a:extLst>
          </p:cNvPr>
          <p:cNvCxnSpPr>
            <a:cxnSpLocks/>
          </p:cNvCxnSpPr>
          <p:nvPr/>
        </p:nvCxnSpPr>
        <p:spPr>
          <a:xfrm flipH="1">
            <a:off x="5645918" y="3403600"/>
            <a:ext cx="1595364" cy="0"/>
          </a:xfrm>
          <a:prstGeom prst="straightConnector1">
            <a:avLst/>
          </a:prstGeom>
          <a:ln w="38100">
            <a:solidFill>
              <a:schemeClr val="bg1">
                <a:lumMod val="75000"/>
              </a:schemeClr>
            </a:solidFill>
            <a:headEnd type="triangl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5" name="Rounded Rectangle 3">
            <a:extLst>
              <a:ext uri="{FF2B5EF4-FFF2-40B4-BE49-F238E27FC236}">
                <a16:creationId xmlns:a16="http://schemas.microsoft.com/office/drawing/2014/main" id="{DBF3F585-87FF-4A30-A5F2-55205A27B61F}"/>
              </a:ext>
            </a:extLst>
          </p:cNvPr>
          <p:cNvSpPr/>
          <p:nvPr/>
        </p:nvSpPr>
        <p:spPr>
          <a:xfrm>
            <a:off x="5414714" y="3743369"/>
            <a:ext cx="1942279" cy="899820"/>
          </a:xfrm>
          <a:prstGeom prst="roundRect">
            <a:avLst>
              <a:gd name="adj" fmla="val 0"/>
            </a:avLst>
          </a:prstGeom>
          <a:noFill/>
          <a:ln w="12700" cap="flat" cmpd="sng" algn="ctr">
            <a:noFill/>
            <a:prstDash val="solid"/>
            <a:miter lim="800000"/>
          </a:ln>
          <a:effectLst/>
        </p:spPr>
        <p:txBody>
          <a:bodyPr rtlCol="0" anchor="ctr" anchorCtr="0"/>
          <a:lstStyle/>
          <a:p>
            <a:pPr algn="ctr" defTabSz="609585" fontAlgn="base">
              <a:spcBef>
                <a:spcPct val="0"/>
              </a:spcBef>
              <a:spcAft>
                <a:spcPct val="0"/>
              </a:spcAft>
              <a:defRPr/>
            </a:pPr>
            <a:r>
              <a:rPr lang="en-US" sz="1200" b="1" dirty="0">
                <a:solidFill>
                  <a:prstClr val="black"/>
                </a:solidFill>
                <a:latin typeface="Arial" panose="020B0604020202020204" pitchFamily="34" charset="0"/>
                <a:ea typeface="ヒラギノ角ゴ Pro W3" pitchFamily="-126" charset="-128"/>
                <a:cs typeface="Arial" panose="020B0604020202020204" pitchFamily="34" charset="0"/>
              </a:rPr>
              <a:t>Provider</a:t>
            </a:r>
          </a:p>
          <a:p>
            <a:pPr algn="ctr" defTabSz="609585" fontAlgn="base">
              <a:spcBef>
                <a:spcPct val="0"/>
              </a:spcBef>
              <a:spcAft>
                <a:spcPct val="0"/>
              </a:spcAft>
              <a:defRPr/>
            </a:pPr>
            <a:r>
              <a:rPr lang="en-US" sz="1200" b="1" dirty="0">
                <a:solidFill>
                  <a:prstClr val="black"/>
                </a:solidFill>
                <a:latin typeface="Arial" panose="020B0604020202020204" pitchFamily="34" charset="0"/>
                <a:ea typeface="ヒラギノ角ゴ Pro W3" pitchFamily="-126" charset="-128"/>
                <a:cs typeface="Arial" panose="020B0604020202020204" pitchFamily="34" charset="0"/>
              </a:rPr>
              <a:t>submits accurate diagnoses to payer</a:t>
            </a:r>
          </a:p>
        </p:txBody>
      </p:sp>
      <p:pic>
        <p:nvPicPr>
          <p:cNvPr id="36" name="Picture 2" descr="Centers for Medicare &amp; Medicaid Services - Wikipedia">
            <a:extLst>
              <a:ext uri="{FF2B5EF4-FFF2-40B4-BE49-F238E27FC236}">
                <a16:creationId xmlns:a16="http://schemas.microsoft.com/office/drawing/2014/main" id="{890BA03F-6052-4F98-886E-B5C1A9D0AC21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7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52084" y="3235005"/>
            <a:ext cx="1711037" cy="5928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cxnSp>
        <p:nvCxnSpPr>
          <p:cNvPr id="37" name="Straight Arrow Connector 36">
            <a:extLst>
              <a:ext uri="{FF2B5EF4-FFF2-40B4-BE49-F238E27FC236}">
                <a16:creationId xmlns:a16="http://schemas.microsoft.com/office/drawing/2014/main" id="{4A02C928-3291-45D2-AE0A-6DCA2CCAB054}"/>
              </a:ext>
            </a:extLst>
          </p:cNvPr>
          <p:cNvCxnSpPr>
            <a:cxnSpLocks/>
          </p:cNvCxnSpPr>
          <p:nvPr/>
        </p:nvCxnSpPr>
        <p:spPr>
          <a:xfrm flipH="1">
            <a:off x="2594194" y="3429000"/>
            <a:ext cx="1529073" cy="0"/>
          </a:xfrm>
          <a:prstGeom prst="straightConnector1">
            <a:avLst/>
          </a:prstGeom>
          <a:ln w="38100">
            <a:solidFill>
              <a:schemeClr val="bg1">
                <a:lumMod val="75000"/>
              </a:schemeClr>
            </a:solidFill>
            <a:headEnd type="triangl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8" name="Rounded Rectangle 3">
            <a:extLst>
              <a:ext uri="{FF2B5EF4-FFF2-40B4-BE49-F238E27FC236}">
                <a16:creationId xmlns:a16="http://schemas.microsoft.com/office/drawing/2014/main" id="{6DEC7F72-7631-48C7-8470-8BA4F3FE5E2E}"/>
              </a:ext>
            </a:extLst>
          </p:cNvPr>
          <p:cNvSpPr/>
          <p:nvPr/>
        </p:nvSpPr>
        <p:spPr>
          <a:xfrm>
            <a:off x="2167395" y="2557579"/>
            <a:ext cx="2002987" cy="808208"/>
          </a:xfrm>
          <a:prstGeom prst="roundRect">
            <a:avLst>
              <a:gd name="adj" fmla="val 0"/>
            </a:avLst>
          </a:prstGeom>
          <a:noFill/>
          <a:ln w="12700" cap="flat" cmpd="sng" algn="ctr">
            <a:noFill/>
            <a:prstDash val="solid"/>
            <a:miter lim="800000"/>
          </a:ln>
          <a:effectLst/>
        </p:spPr>
        <p:txBody>
          <a:bodyPr rtlCol="0" anchor="b" anchorCtr="0"/>
          <a:lstStyle/>
          <a:p>
            <a:pPr algn="ctr" defTabSz="609585" fontAlgn="base">
              <a:spcBef>
                <a:spcPct val="0"/>
              </a:spcBef>
              <a:spcAft>
                <a:spcPct val="0"/>
              </a:spcAft>
              <a:defRPr/>
            </a:pPr>
            <a:r>
              <a:rPr lang="en-US" sz="1200" b="1" dirty="0">
                <a:solidFill>
                  <a:prstClr val="black"/>
                </a:solidFill>
                <a:latin typeface="Arial" panose="020B0604020202020204" pitchFamily="34" charset="0"/>
                <a:ea typeface="ヒラギノ角ゴ Pro W3" pitchFamily="-126" charset="-128"/>
                <a:cs typeface="Arial" panose="020B0604020202020204" pitchFamily="34" charset="0"/>
              </a:rPr>
              <a:t>CMS allows payer to offer MA plan</a:t>
            </a:r>
          </a:p>
        </p:txBody>
      </p:sp>
      <p:cxnSp>
        <p:nvCxnSpPr>
          <p:cNvPr id="39" name="Straight Arrow Connector 38">
            <a:extLst>
              <a:ext uri="{FF2B5EF4-FFF2-40B4-BE49-F238E27FC236}">
                <a16:creationId xmlns:a16="http://schemas.microsoft.com/office/drawing/2014/main" id="{7F924731-280C-4507-8CA6-D28D52C23F72}"/>
              </a:ext>
            </a:extLst>
          </p:cNvPr>
          <p:cNvCxnSpPr>
            <a:cxnSpLocks/>
          </p:cNvCxnSpPr>
          <p:nvPr/>
        </p:nvCxnSpPr>
        <p:spPr>
          <a:xfrm>
            <a:off x="2594191" y="3676571"/>
            <a:ext cx="1529076" cy="0"/>
          </a:xfrm>
          <a:prstGeom prst="straightConnector1">
            <a:avLst/>
          </a:prstGeom>
          <a:ln w="38100">
            <a:solidFill>
              <a:schemeClr val="bg1">
                <a:lumMod val="75000"/>
              </a:schemeClr>
            </a:solidFill>
            <a:headEnd type="triangl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0" name="Rounded Rectangle 3">
            <a:extLst>
              <a:ext uri="{FF2B5EF4-FFF2-40B4-BE49-F238E27FC236}">
                <a16:creationId xmlns:a16="http://schemas.microsoft.com/office/drawing/2014/main" id="{89FB3CA7-AFC2-4D51-BE81-EBE43508B846}"/>
              </a:ext>
            </a:extLst>
          </p:cNvPr>
          <p:cNvSpPr/>
          <p:nvPr/>
        </p:nvSpPr>
        <p:spPr>
          <a:xfrm>
            <a:off x="8172048" y="2773611"/>
            <a:ext cx="1869760" cy="652728"/>
          </a:xfrm>
          <a:prstGeom prst="roundRect">
            <a:avLst>
              <a:gd name="adj" fmla="val 0"/>
            </a:avLst>
          </a:prstGeom>
          <a:noFill/>
          <a:ln w="12700" cap="flat" cmpd="sng" algn="ctr">
            <a:noFill/>
            <a:prstDash val="solid"/>
            <a:miter lim="800000"/>
          </a:ln>
          <a:effectLst/>
        </p:spPr>
        <p:txBody>
          <a:bodyPr lIns="121920" tIns="60960" rIns="121920" bIns="60960" rtlCol="0" anchor="b" anchorCtr="0"/>
          <a:lstStyle/>
          <a:p>
            <a:pPr algn="ctr" defTabSz="609585" fontAlgn="base">
              <a:spcBef>
                <a:spcPct val="0"/>
              </a:spcBef>
              <a:spcAft>
                <a:spcPct val="0"/>
              </a:spcAft>
              <a:defRPr/>
            </a:pPr>
            <a:r>
              <a:rPr lang="en-US" sz="1200" b="1" dirty="0">
                <a:solidFill>
                  <a:prstClr val="black"/>
                </a:solidFill>
                <a:latin typeface="Arial" panose="020B0604020202020204" pitchFamily="34" charset="0"/>
                <a:ea typeface="ヒラギノ角ゴ Pro W3" pitchFamily="-126" charset="-128"/>
              </a:rPr>
              <a:t>Provider group may schedule a visit with the patient</a:t>
            </a:r>
          </a:p>
        </p:txBody>
      </p:sp>
      <p:sp>
        <p:nvSpPr>
          <p:cNvPr id="41" name="Rounded Rectangle 3">
            <a:extLst>
              <a:ext uri="{FF2B5EF4-FFF2-40B4-BE49-F238E27FC236}">
                <a16:creationId xmlns:a16="http://schemas.microsoft.com/office/drawing/2014/main" id="{93419742-EA41-4935-B639-2E758B2480CE}"/>
              </a:ext>
            </a:extLst>
          </p:cNvPr>
          <p:cNvSpPr/>
          <p:nvPr/>
        </p:nvSpPr>
        <p:spPr>
          <a:xfrm>
            <a:off x="8327284" y="3706981"/>
            <a:ext cx="1705800" cy="803231"/>
          </a:xfrm>
          <a:prstGeom prst="roundRect">
            <a:avLst>
              <a:gd name="adj" fmla="val 0"/>
            </a:avLst>
          </a:prstGeom>
          <a:noFill/>
          <a:ln w="12700" cap="flat" cmpd="sng" algn="ctr">
            <a:noFill/>
            <a:prstDash val="solid"/>
            <a:miter lim="800000"/>
          </a:ln>
          <a:effectLst/>
        </p:spPr>
        <p:txBody>
          <a:bodyPr rtlCol="0" anchor="ctr" anchorCtr="0"/>
          <a:lstStyle/>
          <a:p>
            <a:pPr algn="ctr" defTabSz="609585" fontAlgn="base">
              <a:spcBef>
                <a:spcPct val="0"/>
              </a:spcBef>
              <a:spcAft>
                <a:spcPct val="0"/>
              </a:spcAft>
              <a:defRPr/>
            </a:pPr>
            <a:r>
              <a:rPr lang="en-US" sz="1200" b="1" dirty="0">
                <a:solidFill>
                  <a:prstClr val="black"/>
                </a:solidFill>
                <a:latin typeface="Arial" panose="020B0604020202020204" pitchFamily="34" charset="0"/>
                <a:ea typeface="ヒラギノ角ゴ Pro W3" pitchFamily="-126" charset="-128"/>
                <a:cs typeface="Arial" panose="020B0604020202020204" pitchFamily="34" charset="0"/>
              </a:rPr>
              <a:t>Patient comes in and the appropriate codes get captured</a:t>
            </a:r>
          </a:p>
        </p:txBody>
      </p:sp>
      <p:cxnSp>
        <p:nvCxnSpPr>
          <p:cNvPr id="42" name="Straight Arrow Connector 41">
            <a:extLst>
              <a:ext uri="{FF2B5EF4-FFF2-40B4-BE49-F238E27FC236}">
                <a16:creationId xmlns:a16="http://schemas.microsoft.com/office/drawing/2014/main" id="{864EE59C-9E32-4468-8F5E-0D3BC2F1F405}"/>
              </a:ext>
            </a:extLst>
          </p:cNvPr>
          <p:cNvCxnSpPr>
            <a:cxnSpLocks/>
          </p:cNvCxnSpPr>
          <p:nvPr/>
        </p:nvCxnSpPr>
        <p:spPr>
          <a:xfrm flipV="1">
            <a:off x="5637430" y="3677189"/>
            <a:ext cx="1519164" cy="11924"/>
          </a:xfrm>
          <a:prstGeom prst="straightConnector1">
            <a:avLst/>
          </a:prstGeom>
          <a:ln w="38100">
            <a:solidFill>
              <a:schemeClr val="bg1">
                <a:lumMod val="75000"/>
              </a:schemeClr>
            </a:solidFill>
            <a:headEnd type="triangl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3" name="Rounded Rectangle 3">
            <a:extLst>
              <a:ext uri="{FF2B5EF4-FFF2-40B4-BE49-F238E27FC236}">
                <a16:creationId xmlns:a16="http://schemas.microsoft.com/office/drawing/2014/main" id="{CF99DBC3-EA4C-4379-B165-91BB61B50DAF}"/>
              </a:ext>
            </a:extLst>
          </p:cNvPr>
          <p:cNvSpPr/>
          <p:nvPr/>
        </p:nvSpPr>
        <p:spPr>
          <a:xfrm>
            <a:off x="2247064" y="3739786"/>
            <a:ext cx="2255153" cy="919687"/>
          </a:xfrm>
          <a:prstGeom prst="roundRect">
            <a:avLst>
              <a:gd name="adj" fmla="val 0"/>
            </a:avLst>
          </a:prstGeom>
          <a:noFill/>
          <a:ln w="12700" cap="flat" cmpd="sng" algn="ctr">
            <a:noFill/>
            <a:prstDash val="solid"/>
            <a:miter lim="800000"/>
          </a:ln>
          <a:effectLst/>
        </p:spPr>
        <p:txBody>
          <a:bodyPr rtlCol="0" anchor="ctr" anchorCtr="0"/>
          <a:lstStyle/>
          <a:p>
            <a:pPr algn="ctr" defTabSz="609585" fontAlgn="base">
              <a:spcBef>
                <a:spcPct val="0"/>
              </a:spcBef>
              <a:spcAft>
                <a:spcPct val="0"/>
              </a:spcAft>
              <a:defRPr/>
            </a:pPr>
            <a:r>
              <a:rPr lang="en-US" sz="1200" b="1" dirty="0">
                <a:solidFill>
                  <a:prstClr val="black"/>
                </a:solidFill>
                <a:latin typeface="Arial" panose="020B0604020202020204" pitchFamily="34" charset="0"/>
                <a:ea typeface="ヒラギノ角ゴ Pro W3" pitchFamily="-126" charset="-128"/>
                <a:cs typeface="Arial" panose="020B0604020202020204" pitchFamily="34" charset="0"/>
              </a:rPr>
              <a:t>Payer sends codes to CMS for use in calculating appropriate monthly member premium</a:t>
            </a:r>
          </a:p>
        </p:txBody>
      </p:sp>
      <p:sp>
        <p:nvSpPr>
          <p:cNvPr id="52" name="Rounded Rectangle 15">
            <a:extLst>
              <a:ext uri="{FF2B5EF4-FFF2-40B4-BE49-F238E27FC236}">
                <a16:creationId xmlns:a16="http://schemas.microsoft.com/office/drawing/2014/main" id="{22C6AAF8-C3A5-4B46-B7CD-85F1D3E9DB03}"/>
              </a:ext>
            </a:extLst>
          </p:cNvPr>
          <p:cNvSpPr/>
          <p:nvPr/>
        </p:nvSpPr>
        <p:spPr>
          <a:xfrm>
            <a:off x="9759906" y="2364603"/>
            <a:ext cx="1363173" cy="681056"/>
          </a:xfrm>
          <a:prstGeom prst="roundRect">
            <a:avLst>
              <a:gd name="adj" fmla="val 0"/>
            </a:avLst>
          </a:prstGeom>
          <a:noFill/>
          <a:ln w="12700" cap="flat" cmpd="sng" algn="ctr">
            <a:noFill/>
            <a:prstDash val="solid"/>
            <a:miter lim="800000"/>
          </a:ln>
          <a:effectLst/>
        </p:spPr>
        <p:txBody>
          <a:bodyPr rtlCol="0" anchor="ctr" anchorCtr="0"/>
          <a:lstStyle/>
          <a:p>
            <a:pPr algn="ctr" defTabSz="1219170">
              <a:defRPr/>
            </a:pPr>
            <a:r>
              <a:rPr lang="en-US" sz="1333" b="1" dirty="0">
                <a:solidFill>
                  <a:srgbClr val="C00000"/>
                </a:solidFill>
                <a:latin typeface="Arial"/>
                <a:ea typeface="ヒラギノ角ゴ Pro W3" pitchFamily="-126" charset="-128"/>
              </a:rPr>
              <a:t>Patient</a:t>
            </a:r>
            <a:endParaRPr lang="en-US" sz="1333" b="1" kern="0" dirty="0">
              <a:solidFill>
                <a:srgbClr val="C00000"/>
              </a:solidFill>
              <a:latin typeface="Arial"/>
              <a:ea typeface="ヒラギノ角ゴ Pro W3" pitchFamily="-126" charset="-128"/>
            </a:endParaRPr>
          </a:p>
        </p:txBody>
      </p:sp>
      <p:sp>
        <p:nvSpPr>
          <p:cNvPr id="53" name="TextBox 52">
            <a:extLst>
              <a:ext uri="{FF2B5EF4-FFF2-40B4-BE49-F238E27FC236}">
                <a16:creationId xmlns:a16="http://schemas.microsoft.com/office/drawing/2014/main" id="{BA5094DE-7D34-4FC5-82BA-BAF7A1628703}"/>
              </a:ext>
            </a:extLst>
          </p:cNvPr>
          <p:cNvSpPr txBox="1"/>
          <p:nvPr/>
        </p:nvSpPr>
        <p:spPr>
          <a:xfrm>
            <a:off x="7212228" y="2395209"/>
            <a:ext cx="1259821" cy="50257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 defTabSz="609585" fontAlgn="base">
              <a:spcBef>
                <a:spcPct val="0"/>
              </a:spcBef>
              <a:spcAft>
                <a:spcPct val="0"/>
              </a:spcAft>
              <a:defRPr/>
            </a:pPr>
            <a:r>
              <a:rPr lang="en-US" sz="1333" b="1" dirty="0">
                <a:solidFill>
                  <a:srgbClr val="C00000"/>
                </a:solidFill>
                <a:latin typeface="Arial"/>
                <a:ea typeface="ヒラギノ角ゴ Pro W3" pitchFamily="-126" charset="-128"/>
              </a:rPr>
              <a:t>Provider Group</a:t>
            </a:r>
          </a:p>
        </p:txBody>
      </p:sp>
      <p:sp>
        <p:nvSpPr>
          <p:cNvPr id="54" name="TextBox 53">
            <a:extLst>
              <a:ext uri="{FF2B5EF4-FFF2-40B4-BE49-F238E27FC236}">
                <a16:creationId xmlns:a16="http://schemas.microsoft.com/office/drawing/2014/main" id="{1BF9B401-9E22-49A1-8DA8-76E6172C43D0}"/>
              </a:ext>
            </a:extLst>
          </p:cNvPr>
          <p:cNvSpPr txBox="1"/>
          <p:nvPr/>
        </p:nvSpPr>
        <p:spPr>
          <a:xfrm>
            <a:off x="3764497" y="2514002"/>
            <a:ext cx="2115679" cy="2974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 defTabSz="609585" fontAlgn="base">
              <a:spcBef>
                <a:spcPct val="0"/>
              </a:spcBef>
              <a:spcAft>
                <a:spcPct val="0"/>
              </a:spcAft>
              <a:defRPr/>
            </a:pPr>
            <a:r>
              <a:rPr lang="en-US" sz="1333" b="1" dirty="0">
                <a:solidFill>
                  <a:srgbClr val="F79646">
                    <a:lumMod val="50000"/>
                  </a:srgbClr>
                </a:solidFill>
                <a:latin typeface="Arial"/>
                <a:ea typeface="ヒラギノ角ゴ Pro W3" pitchFamily="-126" charset="-128"/>
              </a:rPr>
              <a:t>Payer</a:t>
            </a:r>
          </a:p>
        </p:txBody>
      </p:sp>
      <p:sp>
        <p:nvSpPr>
          <p:cNvPr id="25" name="Oval 24">
            <a:extLst>
              <a:ext uri="{FF2B5EF4-FFF2-40B4-BE49-F238E27FC236}">
                <a16:creationId xmlns:a16="http://schemas.microsoft.com/office/drawing/2014/main" id="{F43AB0FE-EEA9-4B9F-B035-1D4CEC1E964F}"/>
              </a:ext>
            </a:extLst>
          </p:cNvPr>
          <p:cNvSpPr/>
          <p:nvPr/>
        </p:nvSpPr>
        <p:spPr>
          <a:xfrm>
            <a:off x="4325248" y="1548002"/>
            <a:ext cx="4082699" cy="3643198"/>
          </a:xfrm>
          <a:prstGeom prst="ellipse">
            <a:avLst/>
          </a:prstGeom>
          <a:noFill/>
          <a:ln>
            <a:solidFill>
              <a:srgbClr val="00B05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defTabSz="609585" fontAlgn="base">
              <a:spcBef>
                <a:spcPct val="0"/>
              </a:spcBef>
              <a:spcAft>
                <a:spcPct val="0"/>
              </a:spcAft>
            </a:pPr>
            <a:endParaRPr lang="en-US" sz="2400" dirty="0">
              <a:solidFill>
                <a:prstClr val="white"/>
              </a:solidFill>
              <a:latin typeface="Arial"/>
            </a:endParaRPr>
          </a:p>
        </p:txBody>
      </p:sp>
    </p:spTree>
    <p:extLst>
      <p:ext uri="{BB962C8B-B14F-4D97-AF65-F5344CB8AC3E}">
        <p14:creationId xmlns:p14="http://schemas.microsoft.com/office/powerpoint/2010/main" val="257606565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E4FC254-7E84-4C1E-B2B1-8F45C616E91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Updated during STU1 ballot reconciliations: Figure 1-4 (Home page)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4025DF32-5ADE-4348-8F51-B2255B4D83D2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/>
        <p:txBody>
          <a:bodyPr/>
          <a:lstStyle/>
          <a:p>
            <a:pPr marL="0" indent="0">
              <a:buNone/>
            </a:pPr>
            <a:r>
              <a:rPr lang="en-US" dirty="0"/>
              <a:t> </a:t>
            </a:r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ABC91477-8158-43AE-8C67-AA1E9785A906}"/>
              </a:ext>
            </a:extLst>
          </p:cNvPr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fld id="{6CACE926-AEF5-4BFE-8BD7-24414108CB7B}" type="slidenum">
              <a:rPr lang="en-US" altLang="en-US" smtClean="0"/>
              <a:pPr/>
              <a:t>4</a:t>
            </a:fld>
            <a:endParaRPr lang="en-US" altLang="en-US" dirty="0"/>
          </a:p>
        </p:txBody>
      </p:sp>
      <p:pic>
        <p:nvPicPr>
          <p:cNvPr id="6" name="Graphic 5">
            <a:extLst>
              <a:ext uri="{FF2B5EF4-FFF2-40B4-BE49-F238E27FC236}">
                <a16:creationId xmlns:a16="http://schemas.microsoft.com/office/drawing/2014/main" id="{842186CE-C3CB-491F-B90D-334B74F93238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3428016" y="3173224"/>
            <a:ext cx="659817" cy="996459"/>
          </a:xfrm>
          <a:prstGeom prst="rect">
            <a:avLst/>
          </a:prstGeom>
        </p:spPr>
      </p:pic>
      <p:pic>
        <p:nvPicPr>
          <p:cNvPr id="7" name="Graphic 6">
            <a:extLst>
              <a:ext uri="{FF2B5EF4-FFF2-40B4-BE49-F238E27FC236}">
                <a16:creationId xmlns:a16="http://schemas.microsoft.com/office/drawing/2014/main" id="{3E4BF30F-2D52-4FA7-8B6E-989427E65C55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7464510" y="2979089"/>
            <a:ext cx="814124" cy="899821"/>
          </a:xfrm>
          <a:prstGeom prst="rect">
            <a:avLst/>
          </a:prstGeom>
        </p:spPr>
      </p:pic>
      <p:sp>
        <p:nvSpPr>
          <p:cNvPr id="8" name="Arrow: U-Turn 7">
            <a:extLst>
              <a:ext uri="{FF2B5EF4-FFF2-40B4-BE49-F238E27FC236}">
                <a16:creationId xmlns:a16="http://schemas.microsoft.com/office/drawing/2014/main" id="{BBA494F5-C840-4276-B567-19F510FB3BE8}"/>
              </a:ext>
            </a:extLst>
          </p:cNvPr>
          <p:cNvSpPr/>
          <p:nvPr/>
        </p:nvSpPr>
        <p:spPr>
          <a:xfrm rot="10800000" flipH="1" flipV="1">
            <a:off x="3604184" y="2077759"/>
            <a:ext cx="4572963" cy="976568"/>
          </a:xfrm>
          <a:prstGeom prst="uturnArrow">
            <a:avLst/>
          </a:prstGeom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schemeClr val="tx1"/>
              </a:solidFill>
            </a:endParaRPr>
          </a:p>
        </p:txBody>
      </p:sp>
      <p:sp>
        <p:nvSpPr>
          <p:cNvPr id="13" name="Arrow: U-Turn 12">
            <a:extLst>
              <a:ext uri="{FF2B5EF4-FFF2-40B4-BE49-F238E27FC236}">
                <a16:creationId xmlns:a16="http://schemas.microsoft.com/office/drawing/2014/main" id="{174416F3-D18D-44B8-B799-1F518BBC5027}"/>
              </a:ext>
            </a:extLst>
          </p:cNvPr>
          <p:cNvSpPr/>
          <p:nvPr/>
        </p:nvSpPr>
        <p:spPr>
          <a:xfrm rot="10800000">
            <a:off x="3531047" y="3933241"/>
            <a:ext cx="4472642" cy="976568"/>
          </a:xfrm>
          <a:prstGeom prst="uturnArrow">
            <a:avLst/>
          </a:prstGeom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schemeClr val="tx1"/>
              </a:solidFill>
            </a:endParaRPr>
          </a:p>
        </p:txBody>
      </p:sp>
      <p:sp>
        <p:nvSpPr>
          <p:cNvPr id="14" name="Rectangle 13">
            <a:extLst>
              <a:ext uri="{FF2B5EF4-FFF2-40B4-BE49-F238E27FC236}">
                <a16:creationId xmlns:a16="http://schemas.microsoft.com/office/drawing/2014/main" id="{330FFA72-BBBD-4DBC-800E-90E49E5C0B79}"/>
              </a:ext>
            </a:extLst>
          </p:cNvPr>
          <p:cNvSpPr/>
          <p:nvPr/>
        </p:nvSpPr>
        <p:spPr>
          <a:xfrm>
            <a:off x="4875763" y="1919775"/>
            <a:ext cx="1778000" cy="598013"/>
          </a:xfrm>
          <a:prstGeom prst="rect">
            <a:avLst/>
          </a:prstGeom>
          <a:solidFill>
            <a:schemeClr val="bg1"/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600" b="1" dirty="0">
                <a:solidFill>
                  <a:schemeClr val="tx1"/>
                </a:solidFill>
              </a:rPr>
              <a:t>$ra.coding-gaps</a:t>
            </a:r>
          </a:p>
        </p:txBody>
      </p:sp>
      <p:sp>
        <p:nvSpPr>
          <p:cNvPr id="16" name="Rectangle 15">
            <a:extLst>
              <a:ext uri="{FF2B5EF4-FFF2-40B4-BE49-F238E27FC236}">
                <a16:creationId xmlns:a16="http://schemas.microsoft.com/office/drawing/2014/main" id="{6908AAC3-35FE-4372-8B8E-78FD5F752EEB}"/>
              </a:ext>
            </a:extLst>
          </p:cNvPr>
          <p:cNvSpPr/>
          <p:nvPr/>
        </p:nvSpPr>
        <p:spPr>
          <a:xfrm>
            <a:off x="4875763" y="4421525"/>
            <a:ext cx="1775396" cy="658153"/>
          </a:xfrm>
          <a:prstGeom prst="rect">
            <a:avLst/>
          </a:prstGeom>
          <a:solidFill>
            <a:schemeClr val="bg1"/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400" b="1" dirty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Risk Adjustment Coding Gap MeasureReport</a:t>
            </a:r>
          </a:p>
        </p:txBody>
      </p:sp>
      <p:sp>
        <p:nvSpPr>
          <p:cNvPr id="17" name="TextBox 16">
            <a:extLst>
              <a:ext uri="{FF2B5EF4-FFF2-40B4-BE49-F238E27FC236}">
                <a16:creationId xmlns:a16="http://schemas.microsoft.com/office/drawing/2014/main" id="{F8E21F86-5DA6-4730-AA92-F7FA3288702E}"/>
              </a:ext>
            </a:extLst>
          </p:cNvPr>
          <p:cNvSpPr txBox="1"/>
          <p:nvPr/>
        </p:nvSpPr>
        <p:spPr>
          <a:xfrm>
            <a:off x="8278634" y="3259722"/>
            <a:ext cx="997133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 defTabSz="609585" fontAlgn="base">
              <a:spcBef>
                <a:spcPct val="0"/>
              </a:spcBef>
              <a:spcAft>
                <a:spcPct val="0"/>
              </a:spcAft>
              <a:defRPr/>
            </a:pPr>
            <a:r>
              <a:rPr lang="en-US" sz="1600" b="1" dirty="0">
                <a:solidFill>
                  <a:srgbClr val="C00000"/>
                </a:solidFill>
                <a:latin typeface="Arial"/>
                <a:ea typeface="ヒラギノ角ゴ Pro W3" pitchFamily="-126" charset="-128"/>
              </a:rPr>
              <a:t>Payer</a:t>
            </a:r>
          </a:p>
        </p:txBody>
      </p:sp>
      <p:sp>
        <p:nvSpPr>
          <p:cNvPr id="18" name="TextBox 17">
            <a:extLst>
              <a:ext uri="{FF2B5EF4-FFF2-40B4-BE49-F238E27FC236}">
                <a16:creationId xmlns:a16="http://schemas.microsoft.com/office/drawing/2014/main" id="{07CC2181-33A6-4D4F-AB6D-E01BC2BF05EA}"/>
              </a:ext>
            </a:extLst>
          </p:cNvPr>
          <p:cNvSpPr txBox="1"/>
          <p:nvPr/>
        </p:nvSpPr>
        <p:spPr>
          <a:xfrm>
            <a:off x="2361601" y="3259722"/>
            <a:ext cx="1066416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 defTabSz="609585" fontAlgn="base">
              <a:spcBef>
                <a:spcPct val="0"/>
              </a:spcBef>
              <a:spcAft>
                <a:spcPct val="0"/>
              </a:spcAft>
              <a:defRPr/>
            </a:pPr>
            <a:r>
              <a:rPr lang="en-US" sz="1600" b="1" dirty="0">
                <a:solidFill>
                  <a:srgbClr val="C00000"/>
                </a:solidFill>
                <a:latin typeface="Arial"/>
                <a:ea typeface="ヒラギノ角ゴ Pro W3" pitchFamily="-126" charset="-128"/>
              </a:rPr>
              <a:t>Provider</a:t>
            </a:r>
          </a:p>
        </p:txBody>
      </p:sp>
    </p:spTree>
    <p:extLst>
      <p:ext uri="{BB962C8B-B14F-4D97-AF65-F5344CB8AC3E}">
        <p14:creationId xmlns:p14="http://schemas.microsoft.com/office/powerpoint/2010/main" val="2443949124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E4FC254-7E84-4C1E-B2B1-8F45C616E91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Updated during STU2 ballot : Figure 2.2-1 (General Guidance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4025DF32-5ADE-4348-8F51-B2255B4D83D2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/>
        <p:txBody>
          <a:bodyPr/>
          <a:lstStyle/>
          <a:p>
            <a:pPr marL="0" indent="0">
              <a:buNone/>
            </a:pPr>
            <a:r>
              <a:rPr lang="en-US" dirty="0"/>
              <a:t> </a:t>
            </a:r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ABC91477-8158-43AE-8C67-AA1E9785A906}"/>
              </a:ext>
            </a:extLst>
          </p:cNvPr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fld id="{6CACE926-AEF5-4BFE-8BD7-24414108CB7B}" type="slidenum">
              <a:rPr lang="en-US" altLang="en-US" smtClean="0"/>
              <a:pPr/>
              <a:t>5</a:t>
            </a:fld>
            <a:endParaRPr lang="en-US" altLang="en-US" dirty="0"/>
          </a:p>
        </p:txBody>
      </p:sp>
      <p:pic>
        <p:nvPicPr>
          <p:cNvPr id="6" name="Graphic 5">
            <a:extLst>
              <a:ext uri="{FF2B5EF4-FFF2-40B4-BE49-F238E27FC236}">
                <a16:creationId xmlns:a16="http://schemas.microsoft.com/office/drawing/2014/main" id="{842186CE-C3CB-491F-B90D-334B74F93238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3428016" y="3173224"/>
            <a:ext cx="659817" cy="996459"/>
          </a:xfrm>
          <a:prstGeom prst="rect">
            <a:avLst/>
          </a:prstGeom>
        </p:spPr>
      </p:pic>
      <p:pic>
        <p:nvPicPr>
          <p:cNvPr id="7" name="Graphic 6">
            <a:extLst>
              <a:ext uri="{FF2B5EF4-FFF2-40B4-BE49-F238E27FC236}">
                <a16:creationId xmlns:a16="http://schemas.microsoft.com/office/drawing/2014/main" id="{3E4BF30F-2D52-4FA7-8B6E-989427E65C55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7464510" y="2979089"/>
            <a:ext cx="814124" cy="899821"/>
          </a:xfrm>
          <a:prstGeom prst="rect">
            <a:avLst/>
          </a:prstGeom>
        </p:spPr>
      </p:pic>
      <p:sp>
        <p:nvSpPr>
          <p:cNvPr id="8" name="Arrow: U-Turn 7">
            <a:extLst>
              <a:ext uri="{FF2B5EF4-FFF2-40B4-BE49-F238E27FC236}">
                <a16:creationId xmlns:a16="http://schemas.microsoft.com/office/drawing/2014/main" id="{BBA494F5-C840-4276-B567-19F510FB3BE8}"/>
              </a:ext>
            </a:extLst>
          </p:cNvPr>
          <p:cNvSpPr/>
          <p:nvPr/>
        </p:nvSpPr>
        <p:spPr>
          <a:xfrm rot="10800000" flipH="1" flipV="1">
            <a:off x="3604184" y="2077759"/>
            <a:ext cx="4572963" cy="976568"/>
          </a:xfrm>
          <a:prstGeom prst="uturnArrow">
            <a:avLst/>
          </a:prstGeom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schemeClr val="tx1"/>
              </a:solidFill>
            </a:endParaRPr>
          </a:p>
        </p:txBody>
      </p:sp>
      <p:sp>
        <p:nvSpPr>
          <p:cNvPr id="13" name="Arrow: U-Turn 12">
            <a:extLst>
              <a:ext uri="{FF2B5EF4-FFF2-40B4-BE49-F238E27FC236}">
                <a16:creationId xmlns:a16="http://schemas.microsoft.com/office/drawing/2014/main" id="{174416F3-D18D-44B8-B799-1F518BBC5027}"/>
              </a:ext>
            </a:extLst>
          </p:cNvPr>
          <p:cNvSpPr/>
          <p:nvPr/>
        </p:nvSpPr>
        <p:spPr>
          <a:xfrm rot="10800000">
            <a:off x="3531047" y="3933241"/>
            <a:ext cx="4472642" cy="976568"/>
          </a:xfrm>
          <a:prstGeom prst="uturnArrow">
            <a:avLst/>
          </a:prstGeom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schemeClr val="tx1"/>
              </a:solidFill>
            </a:endParaRPr>
          </a:p>
        </p:txBody>
      </p:sp>
      <p:sp>
        <p:nvSpPr>
          <p:cNvPr id="14" name="Rectangle 13">
            <a:extLst>
              <a:ext uri="{FF2B5EF4-FFF2-40B4-BE49-F238E27FC236}">
                <a16:creationId xmlns:a16="http://schemas.microsoft.com/office/drawing/2014/main" id="{330FFA72-BBBD-4DBC-800E-90E49E5C0B79}"/>
              </a:ext>
            </a:extLst>
          </p:cNvPr>
          <p:cNvSpPr/>
          <p:nvPr/>
        </p:nvSpPr>
        <p:spPr>
          <a:xfrm>
            <a:off x="4875763" y="1919775"/>
            <a:ext cx="1778000" cy="598013"/>
          </a:xfrm>
          <a:prstGeom prst="rect">
            <a:avLst/>
          </a:prstGeom>
          <a:solidFill>
            <a:schemeClr val="bg1"/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600" b="1" dirty="0">
                <a:solidFill>
                  <a:schemeClr val="tx1"/>
                </a:solidFill>
              </a:rPr>
              <a:t>MeasureReport Query</a:t>
            </a:r>
          </a:p>
        </p:txBody>
      </p:sp>
      <p:sp>
        <p:nvSpPr>
          <p:cNvPr id="16" name="Rectangle 15">
            <a:extLst>
              <a:ext uri="{FF2B5EF4-FFF2-40B4-BE49-F238E27FC236}">
                <a16:creationId xmlns:a16="http://schemas.microsoft.com/office/drawing/2014/main" id="{6908AAC3-35FE-4372-8B8E-78FD5F752EEB}"/>
              </a:ext>
            </a:extLst>
          </p:cNvPr>
          <p:cNvSpPr/>
          <p:nvPr/>
        </p:nvSpPr>
        <p:spPr>
          <a:xfrm>
            <a:off x="4875763" y="4263993"/>
            <a:ext cx="1775396" cy="815686"/>
          </a:xfrm>
          <a:prstGeom prst="rect">
            <a:avLst/>
          </a:prstGeom>
          <a:solidFill>
            <a:schemeClr val="bg1"/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400" b="1" dirty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Bundle(</a:t>
            </a:r>
            <a:r>
              <a:rPr lang="en-US" sz="1400" b="1" dirty="0" err="1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searchset</a:t>
            </a:r>
            <a:r>
              <a:rPr lang="en-US" sz="1400" b="1" dirty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) from MeasureReport Query</a:t>
            </a:r>
          </a:p>
        </p:txBody>
      </p:sp>
      <p:sp>
        <p:nvSpPr>
          <p:cNvPr id="17" name="TextBox 16">
            <a:extLst>
              <a:ext uri="{FF2B5EF4-FFF2-40B4-BE49-F238E27FC236}">
                <a16:creationId xmlns:a16="http://schemas.microsoft.com/office/drawing/2014/main" id="{F8E21F86-5DA6-4730-AA92-F7FA3288702E}"/>
              </a:ext>
            </a:extLst>
          </p:cNvPr>
          <p:cNvSpPr txBox="1"/>
          <p:nvPr/>
        </p:nvSpPr>
        <p:spPr>
          <a:xfrm>
            <a:off x="8278634" y="3259722"/>
            <a:ext cx="997133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 defTabSz="609585" fontAlgn="base">
              <a:spcBef>
                <a:spcPct val="0"/>
              </a:spcBef>
              <a:spcAft>
                <a:spcPct val="0"/>
              </a:spcAft>
              <a:defRPr/>
            </a:pPr>
            <a:r>
              <a:rPr lang="en-US" sz="1600" b="1" dirty="0">
                <a:solidFill>
                  <a:srgbClr val="C00000"/>
                </a:solidFill>
                <a:latin typeface="Arial"/>
                <a:ea typeface="ヒラギノ角ゴ Pro W3" pitchFamily="-126" charset="-128"/>
              </a:rPr>
              <a:t>Payer</a:t>
            </a:r>
          </a:p>
        </p:txBody>
      </p:sp>
      <p:sp>
        <p:nvSpPr>
          <p:cNvPr id="18" name="TextBox 17">
            <a:extLst>
              <a:ext uri="{FF2B5EF4-FFF2-40B4-BE49-F238E27FC236}">
                <a16:creationId xmlns:a16="http://schemas.microsoft.com/office/drawing/2014/main" id="{07CC2181-33A6-4D4F-AB6D-E01BC2BF05EA}"/>
              </a:ext>
            </a:extLst>
          </p:cNvPr>
          <p:cNvSpPr txBox="1"/>
          <p:nvPr/>
        </p:nvSpPr>
        <p:spPr>
          <a:xfrm>
            <a:off x="2361601" y="3259722"/>
            <a:ext cx="1066416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 defTabSz="609585" fontAlgn="base">
              <a:spcBef>
                <a:spcPct val="0"/>
              </a:spcBef>
              <a:spcAft>
                <a:spcPct val="0"/>
              </a:spcAft>
              <a:defRPr/>
            </a:pPr>
            <a:r>
              <a:rPr lang="en-US" sz="1600" b="1" dirty="0">
                <a:solidFill>
                  <a:srgbClr val="C00000"/>
                </a:solidFill>
                <a:latin typeface="Arial"/>
                <a:ea typeface="ヒラギノ角ゴ Pro W3" pitchFamily="-126" charset="-128"/>
              </a:rPr>
              <a:t>Provider</a:t>
            </a:r>
          </a:p>
        </p:txBody>
      </p:sp>
    </p:spTree>
    <p:extLst>
      <p:ext uri="{BB962C8B-B14F-4D97-AF65-F5344CB8AC3E}">
        <p14:creationId xmlns:p14="http://schemas.microsoft.com/office/powerpoint/2010/main" val="3410957707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6992073-D200-42E0-9FB9-A038AA6450B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New Figure 1-3 created during ballot reconciliations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9A34AC66-A8B9-4352-A5F1-CFA56745734D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/>
        <p:txBody>
          <a:bodyPr/>
          <a:lstStyle/>
          <a:p>
            <a:pPr marL="0" indent="0">
              <a:buNone/>
            </a:pPr>
            <a:r>
              <a:rPr lang="en-US" dirty="0"/>
              <a:t> </a:t>
            </a:r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9B90074F-DE65-45EB-9571-9D3C185F2116}"/>
              </a:ext>
            </a:extLst>
          </p:cNvPr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fld id="{6CACE926-AEF5-4BFE-8BD7-24414108CB7B}" type="slidenum">
              <a:rPr lang="en-US" altLang="en-US" smtClean="0"/>
              <a:pPr/>
              <a:t>6</a:t>
            </a:fld>
            <a:endParaRPr lang="en-US" altLang="en-US" dirty="0"/>
          </a:p>
        </p:txBody>
      </p:sp>
      <p:pic>
        <p:nvPicPr>
          <p:cNvPr id="6" name="Graphic 5">
            <a:extLst>
              <a:ext uri="{FF2B5EF4-FFF2-40B4-BE49-F238E27FC236}">
                <a16:creationId xmlns:a16="http://schemas.microsoft.com/office/drawing/2014/main" id="{2FC42DAA-9420-4457-A39A-66D03B33B85C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8001659" y="3907606"/>
            <a:ext cx="659817" cy="996459"/>
          </a:xfrm>
          <a:prstGeom prst="rect">
            <a:avLst/>
          </a:prstGeom>
        </p:spPr>
      </p:pic>
      <p:pic>
        <p:nvPicPr>
          <p:cNvPr id="7" name="Graphic 6">
            <a:extLst>
              <a:ext uri="{FF2B5EF4-FFF2-40B4-BE49-F238E27FC236}">
                <a16:creationId xmlns:a16="http://schemas.microsoft.com/office/drawing/2014/main" id="{F1E0878E-B15A-4705-B9BD-922A7EC97066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3881659" y="4027147"/>
            <a:ext cx="814124" cy="899821"/>
          </a:xfrm>
          <a:prstGeom prst="rect">
            <a:avLst/>
          </a:prstGeom>
        </p:spPr>
      </p:pic>
      <p:sp>
        <p:nvSpPr>
          <p:cNvPr id="8" name="TextBox 7">
            <a:extLst>
              <a:ext uri="{FF2B5EF4-FFF2-40B4-BE49-F238E27FC236}">
                <a16:creationId xmlns:a16="http://schemas.microsoft.com/office/drawing/2014/main" id="{F0FE43D4-24B0-4D09-9F99-A614069FFCAA}"/>
              </a:ext>
            </a:extLst>
          </p:cNvPr>
          <p:cNvSpPr txBox="1"/>
          <p:nvPr/>
        </p:nvSpPr>
        <p:spPr>
          <a:xfrm>
            <a:off x="2814623" y="4270849"/>
            <a:ext cx="1113710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 defTabSz="609585" fontAlgn="base">
              <a:spcBef>
                <a:spcPct val="0"/>
              </a:spcBef>
              <a:spcAft>
                <a:spcPct val="0"/>
              </a:spcAft>
              <a:defRPr/>
            </a:pPr>
            <a:r>
              <a:rPr lang="en-US" sz="1600" b="1" dirty="0">
                <a:solidFill>
                  <a:srgbClr val="C00000"/>
                </a:solidFill>
                <a:latin typeface="Arial"/>
                <a:ea typeface="ヒラギノ角ゴ Pro W3" pitchFamily="-126" charset="-128"/>
              </a:rPr>
              <a:t>Payer</a:t>
            </a:r>
          </a:p>
        </p:txBody>
      </p:sp>
      <p:sp>
        <p:nvSpPr>
          <p:cNvPr id="9" name="Arrow: U-Turn 8">
            <a:extLst>
              <a:ext uri="{FF2B5EF4-FFF2-40B4-BE49-F238E27FC236}">
                <a16:creationId xmlns:a16="http://schemas.microsoft.com/office/drawing/2014/main" id="{09BF3D1E-B047-45D0-A4AE-6BACE7A28B3F}"/>
              </a:ext>
            </a:extLst>
          </p:cNvPr>
          <p:cNvSpPr/>
          <p:nvPr/>
        </p:nvSpPr>
        <p:spPr>
          <a:xfrm rot="10800000" flipH="1" flipV="1">
            <a:off x="4088513" y="2705171"/>
            <a:ext cx="4572963" cy="1202435"/>
          </a:xfrm>
          <a:prstGeom prst="uturnArrow">
            <a:avLst>
              <a:gd name="adj1" fmla="val 25000"/>
              <a:gd name="adj2" fmla="val 25000"/>
              <a:gd name="adj3" fmla="val 28042"/>
              <a:gd name="adj4" fmla="val 43750"/>
              <a:gd name="adj5" fmla="val 75000"/>
            </a:avLst>
          </a:prstGeom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schemeClr val="tx1"/>
              </a:solidFill>
            </a:endParaRPr>
          </a:p>
        </p:txBody>
      </p:sp>
      <p:sp>
        <p:nvSpPr>
          <p:cNvPr id="11" name="Rectangle 10">
            <a:extLst>
              <a:ext uri="{FF2B5EF4-FFF2-40B4-BE49-F238E27FC236}">
                <a16:creationId xmlns:a16="http://schemas.microsoft.com/office/drawing/2014/main" id="{9207507E-29D8-4D70-850B-8907BCFB4B71}"/>
              </a:ext>
            </a:extLst>
          </p:cNvPr>
          <p:cNvSpPr/>
          <p:nvPr/>
        </p:nvSpPr>
        <p:spPr>
          <a:xfrm>
            <a:off x="4896000" y="2509720"/>
            <a:ext cx="2685567" cy="658153"/>
          </a:xfrm>
          <a:prstGeom prst="rect">
            <a:avLst/>
          </a:prstGeom>
          <a:solidFill>
            <a:schemeClr val="bg1"/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400" b="1" dirty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POST</a:t>
            </a:r>
          </a:p>
          <a:p>
            <a:pPr algn="ctr"/>
            <a:r>
              <a:rPr lang="en-US" sz="1400" b="1" dirty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Risk Adjustment Coding Gap MeasureReport </a:t>
            </a:r>
          </a:p>
        </p:txBody>
      </p:sp>
      <p:cxnSp>
        <p:nvCxnSpPr>
          <p:cNvPr id="12" name="Connector: Elbow 11">
            <a:extLst>
              <a:ext uri="{FF2B5EF4-FFF2-40B4-BE49-F238E27FC236}">
                <a16:creationId xmlns:a16="http://schemas.microsoft.com/office/drawing/2014/main" id="{C5FA8C8A-D977-43D9-B0D0-73A6E6DE717A}"/>
              </a:ext>
            </a:extLst>
          </p:cNvPr>
          <p:cNvCxnSpPr>
            <a:cxnSpLocks/>
            <a:stCxn id="7" idx="3"/>
            <a:endCxn id="7" idx="2"/>
          </p:cNvCxnSpPr>
          <p:nvPr/>
        </p:nvCxnSpPr>
        <p:spPr>
          <a:xfrm flipH="1">
            <a:off x="4288721" y="4477058"/>
            <a:ext cx="407062" cy="449910"/>
          </a:xfrm>
          <a:prstGeom prst="bentConnector4">
            <a:avLst>
              <a:gd name="adj1" fmla="val -539281"/>
              <a:gd name="adj2" fmla="val 150810"/>
            </a:avLst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0" name="Rectangle 19">
            <a:extLst>
              <a:ext uri="{FF2B5EF4-FFF2-40B4-BE49-F238E27FC236}">
                <a16:creationId xmlns:a16="http://schemas.microsoft.com/office/drawing/2014/main" id="{4706AF83-B445-422F-9E0C-6983926A1C70}"/>
              </a:ext>
            </a:extLst>
          </p:cNvPr>
          <p:cNvSpPr/>
          <p:nvPr/>
        </p:nvSpPr>
        <p:spPr>
          <a:xfrm>
            <a:off x="5024416" y="4220102"/>
            <a:ext cx="1516158" cy="440049"/>
          </a:xfrm>
          <a:prstGeom prst="rect">
            <a:avLst/>
          </a:prstGeom>
          <a:solidFill>
            <a:schemeClr val="bg1"/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600" b="1" dirty="0">
                <a:solidFill>
                  <a:schemeClr val="tx1"/>
                </a:solidFill>
              </a:rPr>
              <a:t>$ra.coding-gaps</a:t>
            </a:r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4C00B46D-66EA-4D14-8A97-D163F0C1DD9E}"/>
              </a:ext>
            </a:extLst>
          </p:cNvPr>
          <p:cNvSpPr txBox="1"/>
          <p:nvPr/>
        </p:nvSpPr>
        <p:spPr>
          <a:xfrm>
            <a:off x="8608929" y="4236558"/>
            <a:ext cx="1113710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 defTabSz="609585" fontAlgn="base">
              <a:spcBef>
                <a:spcPct val="0"/>
              </a:spcBef>
              <a:spcAft>
                <a:spcPct val="0"/>
              </a:spcAft>
              <a:defRPr/>
            </a:pPr>
            <a:r>
              <a:rPr lang="en-US" sz="1600" b="1" dirty="0">
                <a:solidFill>
                  <a:srgbClr val="C00000"/>
                </a:solidFill>
                <a:latin typeface="Arial"/>
                <a:ea typeface="ヒラギノ角ゴ Pro W3" pitchFamily="-126" charset="-128"/>
              </a:rPr>
              <a:t>Provider</a:t>
            </a:r>
          </a:p>
        </p:txBody>
      </p:sp>
    </p:spTree>
    <p:extLst>
      <p:ext uri="{BB962C8B-B14F-4D97-AF65-F5344CB8AC3E}">
        <p14:creationId xmlns:p14="http://schemas.microsoft.com/office/powerpoint/2010/main" val="276241812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6992073-D200-42E0-9FB9-A038AA6450B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New Figure 1-3 created during ballot reconciliations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9A34AC66-A8B9-4352-A5F1-CFA56745734D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/>
        <p:txBody>
          <a:bodyPr/>
          <a:lstStyle/>
          <a:p>
            <a:pPr marL="0" indent="0">
              <a:buNone/>
            </a:pPr>
            <a:r>
              <a:rPr lang="en-US" dirty="0"/>
              <a:t> </a:t>
            </a:r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9B90074F-DE65-45EB-9571-9D3C185F2116}"/>
              </a:ext>
            </a:extLst>
          </p:cNvPr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fld id="{6CACE926-AEF5-4BFE-8BD7-24414108CB7B}" type="slidenum">
              <a:rPr lang="en-US" altLang="en-US" smtClean="0"/>
              <a:pPr/>
              <a:t>7</a:t>
            </a:fld>
            <a:endParaRPr lang="en-US" altLang="en-US" dirty="0"/>
          </a:p>
        </p:txBody>
      </p:sp>
      <p:pic>
        <p:nvPicPr>
          <p:cNvPr id="6" name="Graphic 5">
            <a:extLst>
              <a:ext uri="{FF2B5EF4-FFF2-40B4-BE49-F238E27FC236}">
                <a16:creationId xmlns:a16="http://schemas.microsoft.com/office/drawing/2014/main" id="{2FC42DAA-9420-4457-A39A-66D03B33B85C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8001659" y="3907606"/>
            <a:ext cx="659817" cy="996459"/>
          </a:xfrm>
          <a:prstGeom prst="rect">
            <a:avLst/>
          </a:prstGeom>
        </p:spPr>
      </p:pic>
      <p:pic>
        <p:nvPicPr>
          <p:cNvPr id="7" name="Graphic 6">
            <a:extLst>
              <a:ext uri="{FF2B5EF4-FFF2-40B4-BE49-F238E27FC236}">
                <a16:creationId xmlns:a16="http://schemas.microsoft.com/office/drawing/2014/main" id="{F1E0878E-B15A-4705-B9BD-922A7EC97066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3881659" y="4027147"/>
            <a:ext cx="814124" cy="899821"/>
          </a:xfrm>
          <a:prstGeom prst="rect">
            <a:avLst/>
          </a:prstGeom>
        </p:spPr>
      </p:pic>
      <p:sp>
        <p:nvSpPr>
          <p:cNvPr id="8" name="TextBox 7">
            <a:extLst>
              <a:ext uri="{FF2B5EF4-FFF2-40B4-BE49-F238E27FC236}">
                <a16:creationId xmlns:a16="http://schemas.microsoft.com/office/drawing/2014/main" id="{F0FE43D4-24B0-4D09-9F99-A614069FFCAA}"/>
              </a:ext>
            </a:extLst>
          </p:cNvPr>
          <p:cNvSpPr txBox="1"/>
          <p:nvPr/>
        </p:nvSpPr>
        <p:spPr>
          <a:xfrm>
            <a:off x="2814623" y="4270849"/>
            <a:ext cx="1113710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 defTabSz="609585" fontAlgn="base">
              <a:spcBef>
                <a:spcPct val="0"/>
              </a:spcBef>
              <a:spcAft>
                <a:spcPct val="0"/>
              </a:spcAft>
              <a:defRPr/>
            </a:pPr>
            <a:r>
              <a:rPr lang="en-US" sz="1600" b="1" dirty="0">
                <a:solidFill>
                  <a:srgbClr val="C00000"/>
                </a:solidFill>
                <a:latin typeface="Arial"/>
                <a:ea typeface="ヒラギノ角ゴ Pro W3" pitchFamily="-126" charset="-128"/>
              </a:rPr>
              <a:t>Payer</a:t>
            </a:r>
          </a:p>
        </p:txBody>
      </p:sp>
      <p:sp>
        <p:nvSpPr>
          <p:cNvPr id="9" name="Arrow: U-Turn 8">
            <a:extLst>
              <a:ext uri="{FF2B5EF4-FFF2-40B4-BE49-F238E27FC236}">
                <a16:creationId xmlns:a16="http://schemas.microsoft.com/office/drawing/2014/main" id="{09BF3D1E-B047-45D0-A4AE-6BACE7A28B3F}"/>
              </a:ext>
            </a:extLst>
          </p:cNvPr>
          <p:cNvSpPr/>
          <p:nvPr/>
        </p:nvSpPr>
        <p:spPr>
          <a:xfrm rot="10800000" flipH="1" flipV="1">
            <a:off x="4088513" y="2705171"/>
            <a:ext cx="4572963" cy="1202435"/>
          </a:xfrm>
          <a:prstGeom prst="uturnArrow">
            <a:avLst>
              <a:gd name="adj1" fmla="val 25000"/>
              <a:gd name="adj2" fmla="val 25000"/>
              <a:gd name="adj3" fmla="val 28042"/>
              <a:gd name="adj4" fmla="val 43750"/>
              <a:gd name="adj5" fmla="val 75000"/>
            </a:avLst>
          </a:prstGeom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schemeClr val="tx1"/>
              </a:solidFill>
            </a:endParaRPr>
          </a:p>
        </p:txBody>
      </p:sp>
      <p:sp>
        <p:nvSpPr>
          <p:cNvPr id="11" name="Rectangle 10">
            <a:extLst>
              <a:ext uri="{FF2B5EF4-FFF2-40B4-BE49-F238E27FC236}">
                <a16:creationId xmlns:a16="http://schemas.microsoft.com/office/drawing/2014/main" id="{9207507E-29D8-4D70-850B-8907BCFB4B71}"/>
              </a:ext>
            </a:extLst>
          </p:cNvPr>
          <p:cNvSpPr/>
          <p:nvPr/>
        </p:nvSpPr>
        <p:spPr>
          <a:xfrm>
            <a:off x="4896000" y="2509720"/>
            <a:ext cx="2685567" cy="658153"/>
          </a:xfrm>
          <a:prstGeom prst="rect">
            <a:avLst/>
          </a:prstGeom>
          <a:solidFill>
            <a:schemeClr val="bg1"/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400" b="1" dirty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POST</a:t>
            </a:r>
          </a:p>
          <a:p>
            <a:pPr algn="ctr"/>
            <a:r>
              <a:rPr lang="en-US" sz="1400" b="1" dirty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Bundle (</a:t>
            </a:r>
            <a:r>
              <a:rPr lang="en-US" sz="1400" b="1" dirty="0" err="1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searchset</a:t>
            </a:r>
            <a:r>
              <a:rPr lang="en-US" sz="1400" b="1" dirty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) from MeasureReport Query</a:t>
            </a:r>
          </a:p>
        </p:txBody>
      </p:sp>
      <p:cxnSp>
        <p:nvCxnSpPr>
          <p:cNvPr id="12" name="Connector: Elbow 11">
            <a:extLst>
              <a:ext uri="{FF2B5EF4-FFF2-40B4-BE49-F238E27FC236}">
                <a16:creationId xmlns:a16="http://schemas.microsoft.com/office/drawing/2014/main" id="{C5FA8C8A-D977-43D9-B0D0-73A6E6DE717A}"/>
              </a:ext>
            </a:extLst>
          </p:cNvPr>
          <p:cNvCxnSpPr>
            <a:cxnSpLocks/>
            <a:stCxn id="7" idx="3"/>
            <a:endCxn id="7" idx="2"/>
          </p:cNvCxnSpPr>
          <p:nvPr/>
        </p:nvCxnSpPr>
        <p:spPr>
          <a:xfrm flipH="1">
            <a:off x="4288721" y="4477058"/>
            <a:ext cx="407062" cy="449910"/>
          </a:xfrm>
          <a:prstGeom prst="bentConnector4">
            <a:avLst>
              <a:gd name="adj1" fmla="val -539281"/>
              <a:gd name="adj2" fmla="val 150810"/>
            </a:avLst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0" name="Rectangle 19">
            <a:extLst>
              <a:ext uri="{FF2B5EF4-FFF2-40B4-BE49-F238E27FC236}">
                <a16:creationId xmlns:a16="http://schemas.microsoft.com/office/drawing/2014/main" id="{4706AF83-B445-422F-9E0C-6983926A1C70}"/>
              </a:ext>
            </a:extLst>
          </p:cNvPr>
          <p:cNvSpPr/>
          <p:nvPr/>
        </p:nvSpPr>
        <p:spPr>
          <a:xfrm>
            <a:off x="5024416" y="4220102"/>
            <a:ext cx="1516158" cy="440049"/>
          </a:xfrm>
          <a:prstGeom prst="rect">
            <a:avLst/>
          </a:prstGeom>
          <a:solidFill>
            <a:schemeClr val="bg1"/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600" b="1" dirty="0">
                <a:solidFill>
                  <a:schemeClr val="tx1"/>
                </a:solidFill>
              </a:rPr>
              <a:t>MeasureReport Query</a:t>
            </a:r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4C00B46D-66EA-4D14-8A97-D163F0C1DD9E}"/>
              </a:ext>
            </a:extLst>
          </p:cNvPr>
          <p:cNvSpPr txBox="1"/>
          <p:nvPr/>
        </p:nvSpPr>
        <p:spPr>
          <a:xfrm>
            <a:off x="8608929" y="4236558"/>
            <a:ext cx="1113710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 defTabSz="609585" fontAlgn="base">
              <a:spcBef>
                <a:spcPct val="0"/>
              </a:spcBef>
              <a:spcAft>
                <a:spcPct val="0"/>
              </a:spcAft>
              <a:defRPr/>
            </a:pPr>
            <a:r>
              <a:rPr lang="en-US" sz="1600" b="1" dirty="0">
                <a:solidFill>
                  <a:srgbClr val="C00000"/>
                </a:solidFill>
                <a:latin typeface="Arial"/>
                <a:ea typeface="ヒラギノ角ゴ Pro W3" pitchFamily="-126" charset="-128"/>
              </a:rPr>
              <a:t>Provider</a:t>
            </a:r>
          </a:p>
        </p:txBody>
      </p:sp>
    </p:spTree>
    <p:extLst>
      <p:ext uri="{BB962C8B-B14F-4D97-AF65-F5344CB8AC3E}">
        <p14:creationId xmlns:p14="http://schemas.microsoft.com/office/powerpoint/2010/main" val="2874858438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6992073-D200-42E0-9FB9-A038AA6450B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Actors for $</a:t>
            </a:r>
            <a:r>
              <a:rPr lang="en-US" dirty="0" err="1"/>
              <a:t>ra.resolve</a:t>
            </a:r>
            <a:r>
              <a:rPr lang="en-US" dirty="0"/>
              <a:t>-cc-gaps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9A34AC66-A8B9-4352-A5F1-CFA56745734D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/>
        <p:txBody>
          <a:bodyPr/>
          <a:lstStyle/>
          <a:p>
            <a:pPr marL="0" indent="0">
              <a:buNone/>
            </a:pPr>
            <a:r>
              <a:rPr lang="en-US" dirty="0"/>
              <a:t> </a:t>
            </a:r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9B90074F-DE65-45EB-9571-9D3C185F2116}"/>
              </a:ext>
            </a:extLst>
          </p:cNvPr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fld id="{6CACE926-AEF5-4BFE-8BD7-24414108CB7B}" type="slidenum">
              <a:rPr lang="en-US" altLang="en-US" smtClean="0"/>
              <a:pPr/>
              <a:t>8</a:t>
            </a:fld>
            <a:endParaRPr lang="en-US" altLang="en-US" dirty="0"/>
          </a:p>
        </p:txBody>
      </p:sp>
      <p:pic>
        <p:nvPicPr>
          <p:cNvPr id="7" name="Graphic 6">
            <a:extLst>
              <a:ext uri="{FF2B5EF4-FFF2-40B4-BE49-F238E27FC236}">
                <a16:creationId xmlns:a16="http://schemas.microsoft.com/office/drawing/2014/main" id="{F1E0878E-B15A-4705-B9BD-922A7EC97066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4109444" y="3990215"/>
            <a:ext cx="814124" cy="899821"/>
          </a:xfrm>
          <a:prstGeom prst="rect">
            <a:avLst/>
          </a:prstGeom>
        </p:spPr>
      </p:pic>
      <p:sp>
        <p:nvSpPr>
          <p:cNvPr id="8" name="TextBox 7">
            <a:extLst>
              <a:ext uri="{FF2B5EF4-FFF2-40B4-BE49-F238E27FC236}">
                <a16:creationId xmlns:a16="http://schemas.microsoft.com/office/drawing/2014/main" id="{F0FE43D4-24B0-4D09-9F99-A614069FFCAA}"/>
              </a:ext>
            </a:extLst>
          </p:cNvPr>
          <p:cNvSpPr txBox="1"/>
          <p:nvPr/>
        </p:nvSpPr>
        <p:spPr>
          <a:xfrm>
            <a:off x="1764128" y="4182139"/>
            <a:ext cx="1876508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 defTabSz="609585" fontAlgn="base">
              <a:spcBef>
                <a:spcPct val="0"/>
              </a:spcBef>
              <a:spcAft>
                <a:spcPct val="0"/>
              </a:spcAft>
              <a:defRPr/>
            </a:pPr>
            <a:r>
              <a:rPr lang="en-US" sz="1600" b="1" dirty="0">
                <a:solidFill>
                  <a:srgbClr val="C00000"/>
                </a:solidFill>
                <a:latin typeface="Arial"/>
                <a:ea typeface="ヒラギノ角ゴ Pro W3" pitchFamily="-126" charset="-128"/>
              </a:rPr>
              <a:t>Risk Adjustment Coder</a:t>
            </a:r>
          </a:p>
        </p:txBody>
      </p:sp>
      <p:sp>
        <p:nvSpPr>
          <p:cNvPr id="9" name="Arrow: U-Turn 8">
            <a:extLst>
              <a:ext uri="{FF2B5EF4-FFF2-40B4-BE49-F238E27FC236}">
                <a16:creationId xmlns:a16="http://schemas.microsoft.com/office/drawing/2014/main" id="{09BF3D1E-B047-45D0-A4AE-6BACE7A28B3F}"/>
              </a:ext>
            </a:extLst>
          </p:cNvPr>
          <p:cNvSpPr/>
          <p:nvPr/>
        </p:nvSpPr>
        <p:spPr>
          <a:xfrm rot="10800000" flipH="1" flipV="1">
            <a:off x="4088513" y="2705171"/>
            <a:ext cx="4572963" cy="1202435"/>
          </a:xfrm>
          <a:prstGeom prst="uturnArrow">
            <a:avLst>
              <a:gd name="adj1" fmla="val 25000"/>
              <a:gd name="adj2" fmla="val 25000"/>
              <a:gd name="adj3" fmla="val 28042"/>
              <a:gd name="adj4" fmla="val 43750"/>
              <a:gd name="adj5" fmla="val 75000"/>
            </a:avLst>
          </a:prstGeom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schemeClr val="tx1"/>
              </a:solidFill>
            </a:endParaRPr>
          </a:p>
        </p:txBody>
      </p:sp>
      <p:sp>
        <p:nvSpPr>
          <p:cNvPr id="11" name="Rectangle 10">
            <a:extLst>
              <a:ext uri="{FF2B5EF4-FFF2-40B4-BE49-F238E27FC236}">
                <a16:creationId xmlns:a16="http://schemas.microsoft.com/office/drawing/2014/main" id="{9207507E-29D8-4D70-850B-8907BCFB4B71}"/>
              </a:ext>
            </a:extLst>
          </p:cNvPr>
          <p:cNvSpPr/>
          <p:nvPr/>
        </p:nvSpPr>
        <p:spPr>
          <a:xfrm>
            <a:off x="5299671" y="2376094"/>
            <a:ext cx="2021142" cy="658153"/>
          </a:xfrm>
          <a:prstGeom prst="rect">
            <a:avLst/>
          </a:prstGeom>
          <a:solidFill>
            <a:schemeClr val="bg1"/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400" b="1" dirty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POST</a:t>
            </a:r>
          </a:p>
          <a:p>
            <a:pPr algn="ctr"/>
            <a:r>
              <a:rPr lang="en-US" sz="1400" b="1" dirty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Risk Adjustment Coding Gap Bundle</a:t>
            </a:r>
          </a:p>
        </p:txBody>
      </p:sp>
      <p:cxnSp>
        <p:nvCxnSpPr>
          <p:cNvPr id="12" name="Connector: Elbow 11">
            <a:extLst>
              <a:ext uri="{FF2B5EF4-FFF2-40B4-BE49-F238E27FC236}">
                <a16:creationId xmlns:a16="http://schemas.microsoft.com/office/drawing/2014/main" id="{C5FA8C8A-D977-43D9-B0D0-73A6E6DE717A}"/>
              </a:ext>
            </a:extLst>
          </p:cNvPr>
          <p:cNvCxnSpPr>
            <a:cxnSpLocks/>
            <a:stCxn id="16" idx="1"/>
            <a:endCxn id="16" idx="2"/>
          </p:cNvCxnSpPr>
          <p:nvPr/>
        </p:nvCxnSpPr>
        <p:spPr>
          <a:xfrm rot="10800000" flipH="1" flipV="1">
            <a:off x="8082558" y="4345676"/>
            <a:ext cx="407062" cy="449910"/>
          </a:xfrm>
          <a:prstGeom prst="bentConnector4">
            <a:avLst>
              <a:gd name="adj1" fmla="val -312047"/>
              <a:gd name="adj2" fmla="val 150810"/>
            </a:avLst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0" name="Rectangle 19">
            <a:extLst>
              <a:ext uri="{FF2B5EF4-FFF2-40B4-BE49-F238E27FC236}">
                <a16:creationId xmlns:a16="http://schemas.microsoft.com/office/drawing/2014/main" id="{4706AF83-B445-422F-9E0C-6983926A1C70}"/>
              </a:ext>
            </a:extLst>
          </p:cNvPr>
          <p:cNvSpPr/>
          <p:nvPr/>
        </p:nvSpPr>
        <p:spPr>
          <a:xfrm>
            <a:off x="5392376" y="4254503"/>
            <a:ext cx="2252468" cy="440049"/>
          </a:xfrm>
          <a:prstGeom prst="rect">
            <a:avLst/>
          </a:prstGeom>
          <a:solidFill>
            <a:schemeClr val="bg1"/>
          </a:solidFill>
          <a:ln w="12700"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600" b="1" dirty="0">
                <a:solidFill>
                  <a:schemeClr val="tx1"/>
                </a:solidFill>
              </a:rPr>
              <a:t>$ra.resolve-coding-gaps</a:t>
            </a:r>
          </a:p>
        </p:txBody>
      </p:sp>
      <p:pic>
        <p:nvPicPr>
          <p:cNvPr id="14" name="Graphic 13">
            <a:extLst>
              <a:ext uri="{FF2B5EF4-FFF2-40B4-BE49-F238E27FC236}">
                <a16:creationId xmlns:a16="http://schemas.microsoft.com/office/drawing/2014/main" id="{FB715660-C00B-45BF-8CC9-91CA9CBF6142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3449627" y="3990215"/>
            <a:ext cx="659817" cy="817600"/>
          </a:xfrm>
          <a:prstGeom prst="rect">
            <a:avLst/>
          </a:prstGeom>
        </p:spPr>
      </p:pic>
      <p:pic>
        <p:nvPicPr>
          <p:cNvPr id="16" name="Graphic 15">
            <a:extLst>
              <a:ext uri="{FF2B5EF4-FFF2-40B4-BE49-F238E27FC236}">
                <a16:creationId xmlns:a16="http://schemas.microsoft.com/office/drawing/2014/main" id="{87E0B496-A8B0-4B73-A1C0-95D73B433F3D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>
            <a:off x="8082558" y="3895765"/>
            <a:ext cx="814124" cy="899821"/>
          </a:xfrm>
          <a:prstGeom prst="rect">
            <a:avLst/>
          </a:prstGeom>
        </p:spPr>
      </p:pic>
      <p:sp>
        <p:nvSpPr>
          <p:cNvPr id="21" name="TextBox 20">
            <a:extLst>
              <a:ext uri="{FF2B5EF4-FFF2-40B4-BE49-F238E27FC236}">
                <a16:creationId xmlns:a16="http://schemas.microsoft.com/office/drawing/2014/main" id="{8397A21A-6B89-4A4C-8AF4-A819DE9E3A77}"/>
              </a:ext>
            </a:extLst>
          </p:cNvPr>
          <p:cNvSpPr txBox="1"/>
          <p:nvPr/>
        </p:nvSpPr>
        <p:spPr>
          <a:xfrm>
            <a:off x="8902241" y="4182139"/>
            <a:ext cx="997133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 defTabSz="609585" fontAlgn="base">
              <a:spcBef>
                <a:spcPct val="0"/>
              </a:spcBef>
              <a:spcAft>
                <a:spcPct val="0"/>
              </a:spcAft>
              <a:defRPr/>
            </a:pPr>
            <a:r>
              <a:rPr lang="en-US" sz="1600" b="1" dirty="0">
                <a:solidFill>
                  <a:srgbClr val="C00000"/>
                </a:solidFill>
                <a:latin typeface="Arial"/>
                <a:ea typeface="ヒラギノ角ゴ Pro W3" pitchFamily="-126" charset="-128"/>
              </a:rPr>
              <a:t>Payer</a:t>
            </a:r>
          </a:p>
        </p:txBody>
      </p:sp>
    </p:spTree>
    <p:extLst>
      <p:ext uri="{BB962C8B-B14F-4D97-AF65-F5344CB8AC3E}">
        <p14:creationId xmlns:p14="http://schemas.microsoft.com/office/powerpoint/2010/main" val="1653184759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6992073-D200-42E0-9FB9-A038AA6450B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09600" y="206395"/>
            <a:ext cx="10972800" cy="1043103"/>
          </a:xfrm>
        </p:spPr>
        <p:txBody>
          <a:bodyPr/>
          <a:lstStyle/>
          <a:p>
            <a:r>
              <a:rPr lang="en-US" dirty="0"/>
              <a:t>Figure: Lifecycle Phases – Nov, 2023 update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9A34AC66-A8B9-4352-A5F1-CFA56745734D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>
          <a:xfrm>
            <a:off x="869704" y="1804647"/>
            <a:ext cx="10971844" cy="3456096"/>
          </a:xfrm>
        </p:spPr>
        <p:txBody>
          <a:bodyPr/>
          <a:lstStyle/>
          <a:p>
            <a:pPr marL="0" indent="0">
              <a:buNone/>
            </a:pPr>
            <a:r>
              <a:rPr lang="en-US" dirty="0"/>
              <a:t> </a:t>
            </a:r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9B90074F-DE65-45EB-9571-9D3C185F2116}"/>
              </a:ext>
            </a:extLst>
          </p:cNvPr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fld id="{6CACE926-AEF5-4BFE-8BD7-24414108CB7B}" type="slidenum">
              <a:rPr lang="en-US" altLang="en-US" smtClean="0"/>
              <a:pPr/>
              <a:t>9</a:t>
            </a:fld>
            <a:endParaRPr lang="en-US" altLang="en-US" dirty="0"/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AA5AC8FB-912D-43A8-8D0F-F9254F59B281}"/>
              </a:ext>
            </a:extLst>
          </p:cNvPr>
          <p:cNvSpPr/>
          <p:nvPr/>
        </p:nvSpPr>
        <p:spPr>
          <a:xfrm>
            <a:off x="4183380" y="3235788"/>
            <a:ext cx="2353893" cy="604332"/>
          </a:xfrm>
          <a:prstGeom prst="rect">
            <a:avLst/>
          </a:prstGeom>
        </p:spPr>
        <p:style>
          <a:lnRef idx="2">
            <a:schemeClr val="accent2">
              <a:shade val="50000"/>
            </a:schemeClr>
          </a:lnRef>
          <a:fillRef idx="1">
            <a:schemeClr val="accent2"/>
          </a:fillRef>
          <a:effectRef idx="0">
            <a:schemeClr val="accent2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600" dirty="0"/>
              <a:t>Submit Data to Payer</a:t>
            </a:r>
          </a:p>
          <a:p>
            <a:pPr algn="ctr"/>
            <a:r>
              <a:rPr lang="en-US" sz="1200" dirty="0"/>
              <a:t>(e.g., medical record as clinical evaluation evidence)</a:t>
            </a:r>
          </a:p>
        </p:txBody>
      </p:sp>
      <p:pic>
        <p:nvPicPr>
          <p:cNvPr id="17" name="Graphic 16">
            <a:extLst>
              <a:ext uri="{FF2B5EF4-FFF2-40B4-BE49-F238E27FC236}">
                <a16:creationId xmlns:a16="http://schemas.microsoft.com/office/drawing/2014/main" id="{5711CF3B-BEF6-4360-AD34-59E17D963A15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6778987" y="1508089"/>
            <a:ext cx="659817" cy="996459"/>
          </a:xfrm>
          <a:prstGeom prst="rect">
            <a:avLst/>
          </a:prstGeom>
        </p:spPr>
      </p:pic>
      <p:sp>
        <p:nvSpPr>
          <p:cNvPr id="23" name="TextBox 22">
            <a:extLst>
              <a:ext uri="{FF2B5EF4-FFF2-40B4-BE49-F238E27FC236}">
                <a16:creationId xmlns:a16="http://schemas.microsoft.com/office/drawing/2014/main" id="{BE5FA384-4166-4E2C-B2D7-3515E331E8E3}"/>
              </a:ext>
            </a:extLst>
          </p:cNvPr>
          <p:cNvSpPr txBox="1"/>
          <p:nvPr/>
        </p:nvSpPr>
        <p:spPr>
          <a:xfrm>
            <a:off x="6425885" y="2516304"/>
            <a:ext cx="1366020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 defTabSz="609585" fontAlgn="base">
              <a:spcBef>
                <a:spcPct val="0"/>
              </a:spcBef>
              <a:spcAft>
                <a:spcPct val="0"/>
              </a:spcAft>
              <a:defRPr/>
            </a:pPr>
            <a:r>
              <a:rPr lang="en-US" sz="1200" b="1" dirty="0">
                <a:solidFill>
                  <a:srgbClr val="F79646">
                    <a:lumMod val="50000"/>
                  </a:srgbClr>
                </a:solidFill>
                <a:latin typeface="Arial"/>
                <a:ea typeface="ヒラギノ角ゴ Pro W3" pitchFamily="-126" charset="-128"/>
              </a:rPr>
              <a:t>Provider</a:t>
            </a:r>
          </a:p>
        </p:txBody>
      </p:sp>
      <p:pic>
        <p:nvPicPr>
          <p:cNvPr id="24" name="Graphic 23">
            <a:extLst>
              <a:ext uri="{FF2B5EF4-FFF2-40B4-BE49-F238E27FC236}">
                <a16:creationId xmlns:a16="http://schemas.microsoft.com/office/drawing/2014/main" id="{5F02176F-6C48-4B66-BF46-F739D8F9F52D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1995399" y="2738238"/>
            <a:ext cx="814124" cy="691379"/>
          </a:xfrm>
          <a:prstGeom prst="rect">
            <a:avLst/>
          </a:prstGeom>
        </p:spPr>
      </p:pic>
      <p:sp>
        <p:nvSpPr>
          <p:cNvPr id="26" name="TextBox 25">
            <a:extLst>
              <a:ext uri="{FF2B5EF4-FFF2-40B4-BE49-F238E27FC236}">
                <a16:creationId xmlns:a16="http://schemas.microsoft.com/office/drawing/2014/main" id="{1DE39854-6D80-4F9E-9853-5D038F217BF8}"/>
              </a:ext>
            </a:extLst>
          </p:cNvPr>
          <p:cNvSpPr txBox="1"/>
          <p:nvPr/>
        </p:nvSpPr>
        <p:spPr>
          <a:xfrm>
            <a:off x="1790686" y="3435611"/>
            <a:ext cx="1366020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 defTabSz="609585" fontAlgn="base">
              <a:spcBef>
                <a:spcPct val="0"/>
              </a:spcBef>
              <a:spcAft>
                <a:spcPct val="0"/>
              </a:spcAft>
              <a:defRPr/>
            </a:pPr>
            <a:r>
              <a:rPr lang="en-US" sz="1200" b="1" dirty="0">
                <a:solidFill>
                  <a:srgbClr val="F79646">
                    <a:lumMod val="50000"/>
                  </a:srgbClr>
                </a:solidFill>
                <a:latin typeface="Arial"/>
                <a:ea typeface="ヒラギノ角ゴ Pro W3" pitchFamily="-126" charset="-128"/>
              </a:rPr>
              <a:t>Payer</a:t>
            </a:r>
          </a:p>
        </p:txBody>
      </p:sp>
      <p:sp>
        <p:nvSpPr>
          <p:cNvPr id="27" name="Rectangle 26">
            <a:extLst>
              <a:ext uri="{FF2B5EF4-FFF2-40B4-BE49-F238E27FC236}">
                <a16:creationId xmlns:a16="http://schemas.microsoft.com/office/drawing/2014/main" id="{8E8DBBBD-C24E-42EF-A9CA-89667C8C2403}"/>
              </a:ext>
            </a:extLst>
          </p:cNvPr>
          <p:cNvSpPr/>
          <p:nvPr/>
        </p:nvSpPr>
        <p:spPr>
          <a:xfrm>
            <a:off x="1961590" y="2057261"/>
            <a:ext cx="1694923" cy="592953"/>
          </a:xfrm>
          <a:prstGeom prst="rect">
            <a:avLst/>
          </a:prstGeom>
          <a:solidFill>
            <a:schemeClr val="accent1"/>
          </a:solidFill>
          <a:ln>
            <a:solidFill>
              <a:schemeClr val="accent1"/>
            </a:solidFill>
          </a:ln>
        </p:spPr>
        <p:style>
          <a:lnRef idx="2">
            <a:schemeClr val="accent2">
              <a:shade val="50000"/>
            </a:schemeClr>
          </a:lnRef>
          <a:fillRef idx="1">
            <a:schemeClr val="accent2"/>
          </a:fillRef>
          <a:effectRef idx="0">
            <a:schemeClr val="accent2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600" dirty="0"/>
              <a:t>Generation</a:t>
            </a:r>
          </a:p>
          <a:p>
            <a:pPr algn="ctr"/>
            <a:r>
              <a:rPr lang="en-US" sz="1200" dirty="0"/>
              <a:t>(coding gap reports)</a:t>
            </a:r>
          </a:p>
        </p:txBody>
      </p:sp>
      <p:sp>
        <p:nvSpPr>
          <p:cNvPr id="29" name="Arrow: Curved Down 28">
            <a:extLst>
              <a:ext uri="{FF2B5EF4-FFF2-40B4-BE49-F238E27FC236}">
                <a16:creationId xmlns:a16="http://schemas.microsoft.com/office/drawing/2014/main" id="{D00F570A-3214-4CAE-B8CE-88B13114B2C2}"/>
              </a:ext>
            </a:extLst>
          </p:cNvPr>
          <p:cNvSpPr/>
          <p:nvPr/>
        </p:nvSpPr>
        <p:spPr>
          <a:xfrm>
            <a:off x="3775479" y="1387885"/>
            <a:ext cx="2957656" cy="599230"/>
          </a:xfrm>
          <a:prstGeom prst="curvedDownArrow">
            <a:avLst/>
          </a:prstGeom>
          <a:solidFill>
            <a:schemeClr val="accent6">
              <a:lumMod val="60000"/>
              <a:lumOff val="40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schemeClr val="tx1"/>
              </a:solidFill>
            </a:endParaRPr>
          </a:p>
        </p:txBody>
      </p:sp>
      <p:sp>
        <p:nvSpPr>
          <p:cNvPr id="15" name="Arrow: Curved Down 14">
            <a:extLst>
              <a:ext uri="{FF2B5EF4-FFF2-40B4-BE49-F238E27FC236}">
                <a16:creationId xmlns:a16="http://schemas.microsoft.com/office/drawing/2014/main" id="{064DA815-2EBC-40F6-83F6-36524558366D}"/>
              </a:ext>
            </a:extLst>
          </p:cNvPr>
          <p:cNvSpPr/>
          <p:nvPr/>
        </p:nvSpPr>
        <p:spPr>
          <a:xfrm rot="10800000">
            <a:off x="3703489" y="3578575"/>
            <a:ext cx="3119517" cy="694297"/>
          </a:xfrm>
          <a:prstGeom prst="curvedDownArrow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schemeClr val="tx1"/>
              </a:solidFill>
            </a:endParaRPr>
          </a:p>
        </p:txBody>
      </p:sp>
      <p:sp>
        <p:nvSpPr>
          <p:cNvPr id="19" name="Cylinder 18">
            <a:extLst>
              <a:ext uri="{FF2B5EF4-FFF2-40B4-BE49-F238E27FC236}">
                <a16:creationId xmlns:a16="http://schemas.microsoft.com/office/drawing/2014/main" id="{A34C4C6E-6266-4911-B02E-527883FB1971}"/>
              </a:ext>
            </a:extLst>
          </p:cNvPr>
          <p:cNvSpPr/>
          <p:nvPr/>
        </p:nvSpPr>
        <p:spPr>
          <a:xfrm>
            <a:off x="6741793" y="2848830"/>
            <a:ext cx="756790" cy="580170"/>
          </a:xfrm>
          <a:prstGeom prst="can">
            <a:avLst/>
          </a:prstGeom>
          <a:ln>
            <a:solidFill>
              <a:schemeClr val="bg1">
                <a:lumMod val="9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tIns="137160" rtlCol="0" anchor="ctr"/>
          <a:lstStyle/>
          <a:p>
            <a:pPr algn="ctr">
              <a:lnSpc>
                <a:spcPts val="1100"/>
              </a:lnSpc>
            </a:pPr>
            <a:r>
              <a:rPr lang="en-US" sz="1100" dirty="0"/>
              <a:t>Provider Patient Records</a:t>
            </a:r>
          </a:p>
        </p:txBody>
      </p:sp>
      <p:sp>
        <p:nvSpPr>
          <p:cNvPr id="21" name="Cylinder 20">
            <a:extLst>
              <a:ext uri="{FF2B5EF4-FFF2-40B4-BE49-F238E27FC236}">
                <a16:creationId xmlns:a16="http://schemas.microsoft.com/office/drawing/2014/main" id="{D3F92A35-7AE5-4F27-9E30-1FA04160C44D}"/>
              </a:ext>
            </a:extLst>
          </p:cNvPr>
          <p:cNvSpPr/>
          <p:nvPr/>
        </p:nvSpPr>
        <p:spPr>
          <a:xfrm>
            <a:off x="2946699" y="2779508"/>
            <a:ext cx="756790" cy="585606"/>
          </a:xfrm>
          <a:prstGeom prst="can">
            <a:avLst/>
          </a:prstGeom>
          <a:ln>
            <a:solidFill>
              <a:schemeClr val="bg1">
                <a:lumMod val="9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tIns="137160" rtlCol="0" anchor="ctr"/>
          <a:lstStyle/>
          <a:p>
            <a:pPr algn="ctr">
              <a:lnSpc>
                <a:spcPts val="1100"/>
              </a:lnSpc>
            </a:pPr>
            <a:r>
              <a:rPr lang="en-US" sz="1100" dirty="0"/>
              <a:t>Payer Patient Records</a:t>
            </a:r>
          </a:p>
        </p:txBody>
      </p:sp>
      <p:sp>
        <p:nvSpPr>
          <p:cNvPr id="20" name="Rectangle 19">
            <a:extLst>
              <a:ext uri="{FF2B5EF4-FFF2-40B4-BE49-F238E27FC236}">
                <a16:creationId xmlns:a16="http://schemas.microsoft.com/office/drawing/2014/main" id="{79A5677D-88DB-4182-9823-C1B40B85F2B4}"/>
              </a:ext>
            </a:extLst>
          </p:cNvPr>
          <p:cNvSpPr/>
          <p:nvPr/>
        </p:nvSpPr>
        <p:spPr>
          <a:xfrm>
            <a:off x="4442858" y="1622410"/>
            <a:ext cx="1543313" cy="592954"/>
          </a:xfrm>
          <a:prstGeom prst="rect">
            <a:avLst/>
          </a:prstGeom>
          <a:solidFill>
            <a:schemeClr val="accent6">
              <a:lumMod val="75000"/>
            </a:schemeClr>
          </a:solidFill>
          <a:ln>
            <a:solidFill>
              <a:schemeClr val="accent1"/>
            </a:solidFill>
          </a:ln>
        </p:spPr>
        <p:style>
          <a:lnRef idx="2">
            <a:schemeClr val="accent2">
              <a:shade val="50000"/>
            </a:schemeClr>
          </a:lnRef>
          <a:fillRef idx="1">
            <a:schemeClr val="accent2"/>
          </a:fillRef>
          <a:effectRef idx="0">
            <a:schemeClr val="accent2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600" dirty="0"/>
              <a:t>Query</a:t>
            </a:r>
          </a:p>
          <a:p>
            <a:pPr algn="ctr"/>
            <a:r>
              <a:rPr lang="en-US" sz="1200" dirty="0"/>
              <a:t>(coding gap reports)</a:t>
            </a:r>
          </a:p>
        </p:txBody>
      </p:sp>
      <p:sp>
        <p:nvSpPr>
          <p:cNvPr id="28" name="Arrow: Curved Down 27">
            <a:extLst>
              <a:ext uri="{FF2B5EF4-FFF2-40B4-BE49-F238E27FC236}">
                <a16:creationId xmlns:a16="http://schemas.microsoft.com/office/drawing/2014/main" id="{2A7858BD-689D-47B5-B2DC-863F06809245}"/>
              </a:ext>
            </a:extLst>
          </p:cNvPr>
          <p:cNvSpPr/>
          <p:nvPr/>
        </p:nvSpPr>
        <p:spPr>
          <a:xfrm rot="10800000">
            <a:off x="3775476" y="1992686"/>
            <a:ext cx="2858983" cy="450801"/>
          </a:xfrm>
          <a:prstGeom prst="curvedDownArrow">
            <a:avLst/>
          </a:prstGeom>
          <a:solidFill>
            <a:schemeClr val="accent6">
              <a:lumMod val="60000"/>
              <a:lumOff val="40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schemeClr val="tx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155151058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6992073-D200-42E0-9FB9-A038AA6450B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09600" y="206395"/>
            <a:ext cx="10972800" cy="1043103"/>
          </a:xfrm>
        </p:spPr>
        <p:txBody>
          <a:bodyPr/>
          <a:lstStyle/>
          <a:p>
            <a:r>
              <a:rPr lang="en-US" dirty="0"/>
              <a:t>Figure: Submit Data to Payer 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9A34AC66-A8B9-4352-A5F1-CFA56745734D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>
          <a:xfrm>
            <a:off x="869704" y="1804647"/>
            <a:ext cx="10971844" cy="3456096"/>
          </a:xfrm>
        </p:spPr>
        <p:txBody>
          <a:bodyPr/>
          <a:lstStyle/>
          <a:p>
            <a:pPr marL="0" indent="0">
              <a:buNone/>
            </a:pPr>
            <a:r>
              <a:rPr lang="en-US" dirty="0"/>
              <a:t> </a:t>
            </a:r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9B90074F-DE65-45EB-9571-9D3C185F2116}"/>
              </a:ext>
            </a:extLst>
          </p:cNvPr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fld id="{6CACE926-AEF5-4BFE-8BD7-24414108CB7B}" type="slidenum">
              <a:rPr lang="en-US" altLang="en-US" smtClean="0"/>
              <a:pPr/>
              <a:t>10</a:t>
            </a:fld>
            <a:endParaRPr lang="en-US" altLang="en-US" dirty="0"/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AA5AC8FB-912D-43A8-8D0F-F9254F59B281}"/>
              </a:ext>
            </a:extLst>
          </p:cNvPr>
          <p:cNvSpPr/>
          <p:nvPr/>
        </p:nvSpPr>
        <p:spPr>
          <a:xfrm>
            <a:off x="3208276" y="2612052"/>
            <a:ext cx="3626427" cy="831273"/>
          </a:xfrm>
          <a:prstGeom prst="rect">
            <a:avLst/>
          </a:prstGeom>
          <a:noFill/>
        </p:spPr>
        <p:style>
          <a:lnRef idx="2">
            <a:schemeClr val="accent2">
              <a:shade val="50000"/>
            </a:schemeClr>
          </a:lnRef>
          <a:fillRef idx="1">
            <a:schemeClr val="accent2"/>
          </a:fillRef>
          <a:effectRef idx="0">
            <a:schemeClr val="accent2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600" b="1" dirty="0">
                <a:solidFill>
                  <a:schemeClr val="tx1"/>
                </a:solidFill>
              </a:rPr>
              <a:t>$submit-data</a:t>
            </a:r>
          </a:p>
          <a:p>
            <a:pPr algn="ctr"/>
            <a:r>
              <a:rPr lang="en-US" sz="1400" dirty="0">
                <a:solidFill>
                  <a:schemeClr val="tx1"/>
                </a:solidFill>
              </a:rPr>
              <a:t>Risk Adjustment Data Exchange MeasureReport</a:t>
            </a:r>
          </a:p>
          <a:p>
            <a:pPr algn="ctr"/>
            <a:r>
              <a:rPr lang="en-US" sz="1400" dirty="0">
                <a:solidFill>
                  <a:schemeClr val="tx1"/>
                </a:solidFill>
              </a:rPr>
              <a:t>Resources for clinical evaluation evidence</a:t>
            </a:r>
            <a:endParaRPr lang="en-US" sz="1100" dirty="0">
              <a:solidFill>
                <a:schemeClr val="tx1"/>
              </a:solidFill>
            </a:endParaRPr>
          </a:p>
        </p:txBody>
      </p:sp>
      <p:sp>
        <p:nvSpPr>
          <p:cNvPr id="4" name="Rectangle: Rounded Corners 3">
            <a:extLst>
              <a:ext uri="{FF2B5EF4-FFF2-40B4-BE49-F238E27FC236}">
                <a16:creationId xmlns:a16="http://schemas.microsoft.com/office/drawing/2014/main" id="{1257FFF4-13AC-0B29-5133-4D1EFCEAAD3F}"/>
              </a:ext>
            </a:extLst>
          </p:cNvPr>
          <p:cNvSpPr/>
          <p:nvPr/>
        </p:nvSpPr>
        <p:spPr>
          <a:xfrm>
            <a:off x="1328471" y="3352912"/>
            <a:ext cx="1683328" cy="722319"/>
          </a:xfrm>
          <a:prstGeom prst="round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Provider</a:t>
            </a:r>
          </a:p>
        </p:txBody>
      </p:sp>
      <p:sp>
        <p:nvSpPr>
          <p:cNvPr id="7" name="Rectangle: Rounded Corners 6">
            <a:extLst>
              <a:ext uri="{FF2B5EF4-FFF2-40B4-BE49-F238E27FC236}">
                <a16:creationId xmlns:a16="http://schemas.microsoft.com/office/drawing/2014/main" id="{F3D9419A-C15B-ED31-E3E7-963579E994BB}"/>
              </a:ext>
            </a:extLst>
          </p:cNvPr>
          <p:cNvSpPr/>
          <p:nvPr/>
        </p:nvSpPr>
        <p:spPr>
          <a:xfrm>
            <a:off x="7031181" y="3338004"/>
            <a:ext cx="1683328" cy="722319"/>
          </a:xfrm>
          <a:prstGeom prst="round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Payer</a:t>
            </a:r>
          </a:p>
        </p:txBody>
      </p:sp>
      <p:sp>
        <p:nvSpPr>
          <p:cNvPr id="8" name="Arrow: Right 7">
            <a:extLst>
              <a:ext uri="{FF2B5EF4-FFF2-40B4-BE49-F238E27FC236}">
                <a16:creationId xmlns:a16="http://schemas.microsoft.com/office/drawing/2014/main" id="{6D21DC59-7BA7-9621-17F7-208F02ACFFEF}"/>
              </a:ext>
            </a:extLst>
          </p:cNvPr>
          <p:cNvSpPr/>
          <p:nvPr/>
        </p:nvSpPr>
        <p:spPr>
          <a:xfrm>
            <a:off x="3011799" y="3501736"/>
            <a:ext cx="4019382" cy="197428"/>
          </a:xfrm>
          <a:prstGeom prst="rightArrow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407378729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66FB0C6-6D15-3725-0317-CA866AEB107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0203E77-A553-09DC-DAC0-18053613604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09600" y="206395"/>
            <a:ext cx="10972800" cy="1043103"/>
          </a:xfrm>
        </p:spPr>
        <p:txBody>
          <a:bodyPr/>
          <a:lstStyle/>
          <a:p>
            <a:r>
              <a:rPr lang="en-US" dirty="0"/>
              <a:t>Figure: Submit Data to Payer  (updated for STU3 ballot)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617FA3DD-3B7C-D8D9-D7E7-0CC730009FA1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>
          <a:xfrm>
            <a:off x="869704" y="1804647"/>
            <a:ext cx="10971844" cy="3456096"/>
          </a:xfrm>
        </p:spPr>
        <p:txBody>
          <a:bodyPr/>
          <a:lstStyle/>
          <a:p>
            <a:pPr marL="0" indent="0">
              <a:buNone/>
            </a:pPr>
            <a:r>
              <a:rPr lang="en-US" dirty="0"/>
              <a:t> </a:t>
            </a:r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D785AC3B-8102-A468-4FFE-9DB546DB4A86}"/>
              </a:ext>
            </a:extLst>
          </p:cNvPr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fld id="{6CACE926-AEF5-4BFE-8BD7-24414108CB7B}" type="slidenum">
              <a:rPr lang="en-US" altLang="en-US" smtClean="0"/>
              <a:pPr/>
              <a:t>11</a:t>
            </a:fld>
            <a:endParaRPr lang="en-US" altLang="en-US" dirty="0"/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3141092A-9B1F-AC94-F7C8-0B0C52EFD7F7}"/>
              </a:ext>
            </a:extLst>
          </p:cNvPr>
          <p:cNvSpPr/>
          <p:nvPr/>
        </p:nvSpPr>
        <p:spPr>
          <a:xfrm>
            <a:off x="3208276" y="2612052"/>
            <a:ext cx="3626427" cy="831273"/>
          </a:xfrm>
          <a:prstGeom prst="rect">
            <a:avLst/>
          </a:prstGeom>
          <a:noFill/>
        </p:spPr>
        <p:style>
          <a:lnRef idx="2">
            <a:schemeClr val="accent2">
              <a:shade val="50000"/>
            </a:schemeClr>
          </a:lnRef>
          <a:fillRef idx="1">
            <a:schemeClr val="accent2"/>
          </a:fillRef>
          <a:effectRef idx="0">
            <a:schemeClr val="accent2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400" dirty="0">
                <a:solidFill>
                  <a:schemeClr val="tx1"/>
                </a:solidFill>
              </a:rPr>
              <a:t>POST Bundle of </a:t>
            </a:r>
          </a:p>
          <a:p>
            <a:pPr algn="ctr"/>
            <a:r>
              <a:rPr lang="en-US" sz="1400" dirty="0">
                <a:solidFill>
                  <a:schemeClr val="tx1"/>
                </a:solidFill>
              </a:rPr>
              <a:t>Risk Adjustment Data Exchange MeasureReport(s) and</a:t>
            </a:r>
          </a:p>
          <a:p>
            <a:pPr algn="ctr"/>
            <a:r>
              <a:rPr lang="en-US" sz="1400" dirty="0">
                <a:solidFill>
                  <a:schemeClr val="tx1"/>
                </a:solidFill>
              </a:rPr>
              <a:t>Resources for clinical evaluation evidence</a:t>
            </a:r>
            <a:endParaRPr lang="en-US" sz="1100" dirty="0">
              <a:solidFill>
                <a:schemeClr val="tx1"/>
              </a:solidFill>
            </a:endParaRPr>
          </a:p>
        </p:txBody>
      </p:sp>
      <p:sp>
        <p:nvSpPr>
          <p:cNvPr id="4" name="Rectangle: Rounded Corners 3">
            <a:extLst>
              <a:ext uri="{FF2B5EF4-FFF2-40B4-BE49-F238E27FC236}">
                <a16:creationId xmlns:a16="http://schemas.microsoft.com/office/drawing/2014/main" id="{EA3B95AE-F438-4473-E984-48619C6B00EE}"/>
              </a:ext>
            </a:extLst>
          </p:cNvPr>
          <p:cNvSpPr/>
          <p:nvPr/>
        </p:nvSpPr>
        <p:spPr>
          <a:xfrm>
            <a:off x="1328471" y="3352912"/>
            <a:ext cx="1683328" cy="722319"/>
          </a:xfrm>
          <a:prstGeom prst="round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Provider</a:t>
            </a:r>
          </a:p>
        </p:txBody>
      </p:sp>
      <p:sp>
        <p:nvSpPr>
          <p:cNvPr id="7" name="Rectangle: Rounded Corners 6">
            <a:extLst>
              <a:ext uri="{FF2B5EF4-FFF2-40B4-BE49-F238E27FC236}">
                <a16:creationId xmlns:a16="http://schemas.microsoft.com/office/drawing/2014/main" id="{2DC40DED-1204-FE0B-921E-BE8132644553}"/>
              </a:ext>
            </a:extLst>
          </p:cNvPr>
          <p:cNvSpPr/>
          <p:nvPr/>
        </p:nvSpPr>
        <p:spPr>
          <a:xfrm>
            <a:off x="7031181" y="3338004"/>
            <a:ext cx="1683328" cy="722319"/>
          </a:xfrm>
          <a:prstGeom prst="round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Payer</a:t>
            </a:r>
          </a:p>
        </p:txBody>
      </p:sp>
      <p:sp>
        <p:nvSpPr>
          <p:cNvPr id="8" name="Arrow: Right 7">
            <a:extLst>
              <a:ext uri="{FF2B5EF4-FFF2-40B4-BE49-F238E27FC236}">
                <a16:creationId xmlns:a16="http://schemas.microsoft.com/office/drawing/2014/main" id="{CCF33732-8B79-4AFD-9B2D-6B47AE52F88F}"/>
              </a:ext>
            </a:extLst>
          </p:cNvPr>
          <p:cNvSpPr/>
          <p:nvPr/>
        </p:nvSpPr>
        <p:spPr>
          <a:xfrm>
            <a:off x="3011799" y="3501736"/>
            <a:ext cx="4019382" cy="197428"/>
          </a:xfrm>
          <a:prstGeom prst="rightArrow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354222378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6992073-D200-42E0-9FB9-A038AA6450B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09600" y="206395"/>
            <a:ext cx="10972800" cy="1043103"/>
          </a:xfrm>
        </p:spPr>
        <p:txBody>
          <a:bodyPr/>
          <a:lstStyle/>
          <a:p>
            <a:r>
              <a:rPr lang="en-US" dirty="0"/>
              <a:t>New Figure: Lifecycle Phases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9A34AC66-A8B9-4352-A5F1-CFA56745734D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>
          <a:xfrm>
            <a:off x="869704" y="1804647"/>
            <a:ext cx="10971844" cy="3456096"/>
          </a:xfrm>
        </p:spPr>
        <p:txBody>
          <a:bodyPr/>
          <a:lstStyle/>
          <a:p>
            <a:pPr marL="0" indent="0">
              <a:buNone/>
            </a:pPr>
            <a:r>
              <a:rPr lang="en-US" dirty="0"/>
              <a:t> </a:t>
            </a:r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9B90074F-DE65-45EB-9571-9D3C185F2116}"/>
              </a:ext>
            </a:extLst>
          </p:cNvPr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fld id="{6CACE926-AEF5-4BFE-8BD7-24414108CB7B}" type="slidenum">
              <a:rPr lang="en-US" altLang="en-US" smtClean="0"/>
              <a:pPr/>
              <a:t>12</a:t>
            </a:fld>
            <a:endParaRPr lang="en-US" altLang="en-US" dirty="0"/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AA5AC8FB-912D-43A8-8D0F-F9254F59B281}"/>
              </a:ext>
            </a:extLst>
          </p:cNvPr>
          <p:cNvSpPr/>
          <p:nvPr/>
        </p:nvSpPr>
        <p:spPr>
          <a:xfrm>
            <a:off x="5728964" y="3942358"/>
            <a:ext cx="1709840" cy="604332"/>
          </a:xfrm>
          <a:prstGeom prst="rect">
            <a:avLst/>
          </a:prstGeom>
        </p:spPr>
        <p:style>
          <a:lnRef idx="2">
            <a:schemeClr val="accent2">
              <a:shade val="50000"/>
            </a:schemeClr>
          </a:lnRef>
          <a:fillRef idx="1">
            <a:schemeClr val="accent2"/>
          </a:fillRef>
          <a:effectRef idx="0">
            <a:schemeClr val="accent2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600" dirty="0"/>
              <a:t>Remediation</a:t>
            </a:r>
          </a:p>
          <a:p>
            <a:pPr algn="ctr"/>
            <a:r>
              <a:rPr lang="en-US" sz="1200" dirty="0"/>
              <a:t>(gap closure/ invalidation/net-new)</a:t>
            </a:r>
          </a:p>
        </p:txBody>
      </p:sp>
      <p:pic>
        <p:nvPicPr>
          <p:cNvPr id="17" name="Graphic 16">
            <a:extLst>
              <a:ext uri="{FF2B5EF4-FFF2-40B4-BE49-F238E27FC236}">
                <a16:creationId xmlns:a16="http://schemas.microsoft.com/office/drawing/2014/main" id="{5711CF3B-BEF6-4360-AD34-59E17D963A15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6778987" y="1508089"/>
            <a:ext cx="659817" cy="996459"/>
          </a:xfrm>
          <a:prstGeom prst="rect">
            <a:avLst/>
          </a:prstGeom>
        </p:spPr>
      </p:pic>
      <p:pic>
        <p:nvPicPr>
          <p:cNvPr id="18" name="Graphic 17">
            <a:extLst>
              <a:ext uri="{FF2B5EF4-FFF2-40B4-BE49-F238E27FC236}">
                <a16:creationId xmlns:a16="http://schemas.microsoft.com/office/drawing/2014/main" id="{28AEFE85-7684-4B09-9315-5EAC7B7C9E5F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4187782" y="2956314"/>
            <a:ext cx="659817" cy="817600"/>
          </a:xfrm>
          <a:prstGeom prst="rect">
            <a:avLst/>
          </a:prstGeom>
        </p:spPr>
      </p:pic>
      <p:sp>
        <p:nvSpPr>
          <p:cNvPr id="22" name="TextBox 21">
            <a:extLst>
              <a:ext uri="{FF2B5EF4-FFF2-40B4-BE49-F238E27FC236}">
                <a16:creationId xmlns:a16="http://schemas.microsoft.com/office/drawing/2014/main" id="{556B9B98-30EF-4669-8230-213DA7EB59F6}"/>
              </a:ext>
            </a:extLst>
          </p:cNvPr>
          <p:cNvSpPr txBox="1"/>
          <p:nvPr/>
        </p:nvSpPr>
        <p:spPr>
          <a:xfrm>
            <a:off x="3709634" y="3742565"/>
            <a:ext cx="1633188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 defTabSz="609585" fontAlgn="base">
              <a:spcBef>
                <a:spcPct val="0"/>
              </a:spcBef>
              <a:spcAft>
                <a:spcPct val="0"/>
              </a:spcAft>
              <a:defRPr/>
            </a:pPr>
            <a:r>
              <a:rPr lang="en-US" sz="1200" b="1" dirty="0">
                <a:solidFill>
                  <a:srgbClr val="F79646">
                    <a:lumMod val="50000"/>
                  </a:srgbClr>
                </a:solidFill>
                <a:latin typeface="Arial"/>
                <a:ea typeface="ヒラギノ角ゴ Pro W3" pitchFamily="-126" charset="-128"/>
              </a:rPr>
              <a:t>Risk Adjustment Coder</a:t>
            </a:r>
          </a:p>
        </p:txBody>
      </p:sp>
      <p:sp>
        <p:nvSpPr>
          <p:cNvPr id="23" name="TextBox 22">
            <a:extLst>
              <a:ext uri="{FF2B5EF4-FFF2-40B4-BE49-F238E27FC236}">
                <a16:creationId xmlns:a16="http://schemas.microsoft.com/office/drawing/2014/main" id="{BE5FA384-4166-4E2C-B2D7-3515E331E8E3}"/>
              </a:ext>
            </a:extLst>
          </p:cNvPr>
          <p:cNvSpPr txBox="1"/>
          <p:nvPr/>
        </p:nvSpPr>
        <p:spPr>
          <a:xfrm>
            <a:off x="6425885" y="2516304"/>
            <a:ext cx="1366020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 defTabSz="609585" fontAlgn="base">
              <a:spcBef>
                <a:spcPct val="0"/>
              </a:spcBef>
              <a:spcAft>
                <a:spcPct val="0"/>
              </a:spcAft>
              <a:defRPr/>
            </a:pPr>
            <a:r>
              <a:rPr lang="en-US" sz="1200" b="1" dirty="0">
                <a:solidFill>
                  <a:srgbClr val="F79646">
                    <a:lumMod val="50000"/>
                  </a:srgbClr>
                </a:solidFill>
                <a:latin typeface="Arial"/>
                <a:ea typeface="ヒラギノ角ゴ Pro W3" pitchFamily="-126" charset="-128"/>
              </a:rPr>
              <a:t>Provider</a:t>
            </a:r>
          </a:p>
        </p:txBody>
      </p:sp>
      <p:pic>
        <p:nvPicPr>
          <p:cNvPr id="24" name="Graphic 23">
            <a:extLst>
              <a:ext uri="{FF2B5EF4-FFF2-40B4-BE49-F238E27FC236}">
                <a16:creationId xmlns:a16="http://schemas.microsoft.com/office/drawing/2014/main" id="{5F02176F-6C48-4B66-BF46-F739D8F9F52D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>
            <a:off x="1995399" y="2738238"/>
            <a:ext cx="814124" cy="691379"/>
          </a:xfrm>
          <a:prstGeom prst="rect">
            <a:avLst/>
          </a:prstGeom>
        </p:spPr>
      </p:pic>
      <p:sp>
        <p:nvSpPr>
          <p:cNvPr id="26" name="TextBox 25">
            <a:extLst>
              <a:ext uri="{FF2B5EF4-FFF2-40B4-BE49-F238E27FC236}">
                <a16:creationId xmlns:a16="http://schemas.microsoft.com/office/drawing/2014/main" id="{1DE39854-6D80-4F9E-9853-5D038F217BF8}"/>
              </a:ext>
            </a:extLst>
          </p:cNvPr>
          <p:cNvSpPr txBox="1"/>
          <p:nvPr/>
        </p:nvSpPr>
        <p:spPr>
          <a:xfrm>
            <a:off x="1790686" y="3435611"/>
            <a:ext cx="1366020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 defTabSz="609585" fontAlgn="base">
              <a:spcBef>
                <a:spcPct val="0"/>
              </a:spcBef>
              <a:spcAft>
                <a:spcPct val="0"/>
              </a:spcAft>
              <a:defRPr/>
            </a:pPr>
            <a:r>
              <a:rPr lang="en-US" sz="1200" b="1" dirty="0">
                <a:solidFill>
                  <a:srgbClr val="F79646">
                    <a:lumMod val="50000"/>
                  </a:srgbClr>
                </a:solidFill>
                <a:latin typeface="Arial"/>
                <a:ea typeface="ヒラギノ角ゴ Pro W3" pitchFamily="-126" charset="-128"/>
              </a:rPr>
              <a:t>Payer</a:t>
            </a:r>
          </a:p>
        </p:txBody>
      </p:sp>
      <p:sp>
        <p:nvSpPr>
          <p:cNvPr id="27" name="Rectangle 26">
            <a:extLst>
              <a:ext uri="{FF2B5EF4-FFF2-40B4-BE49-F238E27FC236}">
                <a16:creationId xmlns:a16="http://schemas.microsoft.com/office/drawing/2014/main" id="{8E8DBBBD-C24E-42EF-A9CA-89667C8C2403}"/>
              </a:ext>
            </a:extLst>
          </p:cNvPr>
          <p:cNvSpPr/>
          <p:nvPr/>
        </p:nvSpPr>
        <p:spPr>
          <a:xfrm>
            <a:off x="1961590" y="2057261"/>
            <a:ext cx="1694923" cy="592953"/>
          </a:xfrm>
          <a:prstGeom prst="rect">
            <a:avLst/>
          </a:prstGeom>
          <a:solidFill>
            <a:schemeClr val="accent1"/>
          </a:solidFill>
          <a:ln>
            <a:solidFill>
              <a:schemeClr val="accent1"/>
            </a:solidFill>
          </a:ln>
        </p:spPr>
        <p:style>
          <a:lnRef idx="2">
            <a:schemeClr val="accent2">
              <a:shade val="50000"/>
            </a:schemeClr>
          </a:lnRef>
          <a:fillRef idx="1">
            <a:schemeClr val="accent2"/>
          </a:fillRef>
          <a:effectRef idx="0">
            <a:schemeClr val="accent2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600" dirty="0"/>
              <a:t>Generation</a:t>
            </a:r>
          </a:p>
          <a:p>
            <a:pPr algn="ctr"/>
            <a:r>
              <a:rPr lang="en-US" sz="1200" dirty="0"/>
              <a:t>(coding gap reports)</a:t>
            </a:r>
          </a:p>
        </p:txBody>
      </p:sp>
      <p:sp>
        <p:nvSpPr>
          <p:cNvPr id="29" name="Arrow: Curved Down 28">
            <a:extLst>
              <a:ext uri="{FF2B5EF4-FFF2-40B4-BE49-F238E27FC236}">
                <a16:creationId xmlns:a16="http://schemas.microsoft.com/office/drawing/2014/main" id="{D00F570A-3214-4CAE-B8CE-88B13114B2C2}"/>
              </a:ext>
            </a:extLst>
          </p:cNvPr>
          <p:cNvSpPr/>
          <p:nvPr/>
        </p:nvSpPr>
        <p:spPr>
          <a:xfrm>
            <a:off x="3775479" y="1387885"/>
            <a:ext cx="2957656" cy="599230"/>
          </a:xfrm>
          <a:prstGeom prst="curvedDownArrow">
            <a:avLst/>
          </a:prstGeom>
          <a:solidFill>
            <a:schemeClr val="accent6">
              <a:lumMod val="60000"/>
              <a:lumOff val="40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schemeClr val="tx1"/>
              </a:solidFill>
            </a:endParaRPr>
          </a:p>
        </p:txBody>
      </p:sp>
      <p:sp>
        <p:nvSpPr>
          <p:cNvPr id="15" name="Arrow: Curved Down 14">
            <a:extLst>
              <a:ext uri="{FF2B5EF4-FFF2-40B4-BE49-F238E27FC236}">
                <a16:creationId xmlns:a16="http://schemas.microsoft.com/office/drawing/2014/main" id="{064DA815-2EBC-40F6-83F6-36524558366D}"/>
              </a:ext>
            </a:extLst>
          </p:cNvPr>
          <p:cNvSpPr/>
          <p:nvPr/>
        </p:nvSpPr>
        <p:spPr>
          <a:xfrm rot="5400000">
            <a:off x="6728817" y="2933730"/>
            <a:ext cx="2179656" cy="653538"/>
          </a:xfrm>
          <a:prstGeom prst="curvedDownArrow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schemeClr val="tx1"/>
              </a:solidFill>
            </a:endParaRPr>
          </a:p>
        </p:txBody>
      </p:sp>
      <p:sp>
        <p:nvSpPr>
          <p:cNvPr id="30" name="Arrow: Curved Down 29">
            <a:extLst>
              <a:ext uri="{FF2B5EF4-FFF2-40B4-BE49-F238E27FC236}">
                <a16:creationId xmlns:a16="http://schemas.microsoft.com/office/drawing/2014/main" id="{3AAE86C9-836A-465E-A80A-5ECC827E88FF}"/>
              </a:ext>
            </a:extLst>
          </p:cNvPr>
          <p:cNvSpPr/>
          <p:nvPr/>
        </p:nvSpPr>
        <p:spPr>
          <a:xfrm rot="11676230">
            <a:off x="3055304" y="3943276"/>
            <a:ext cx="2607331" cy="649733"/>
          </a:xfrm>
          <a:prstGeom prst="curvedDownArrow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schemeClr val="tx1"/>
              </a:solidFill>
            </a:endParaRPr>
          </a:p>
        </p:txBody>
      </p:sp>
      <p:sp>
        <p:nvSpPr>
          <p:cNvPr id="19" name="Cylinder 18">
            <a:extLst>
              <a:ext uri="{FF2B5EF4-FFF2-40B4-BE49-F238E27FC236}">
                <a16:creationId xmlns:a16="http://schemas.microsoft.com/office/drawing/2014/main" id="{A34C4C6E-6266-4911-B02E-527883FB1971}"/>
              </a:ext>
            </a:extLst>
          </p:cNvPr>
          <p:cNvSpPr/>
          <p:nvPr/>
        </p:nvSpPr>
        <p:spPr>
          <a:xfrm>
            <a:off x="6741793" y="2848830"/>
            <a:ext cx="756790" cy="580170"/>
          </a:xfrm>
          <a:prstGeom prst="can">
            <a:avLst/>
          </a:prstGeom>
          <a:ln>
            <a:solidFill>
              <a:schemeClr val="bg1">
                <a:lumMod val="9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tIns="137160" rtlCol="0" anchor="ctr"/>
          <a:lstStyle/>
          <a:p>
            <a:pPr algn="ctr">
              <a:lnSpc>
                <a:spcPts val="1100"/>
              </a:lnSpc>
            </a:pPr>
            <a:r>
              <a:rPr lang="en-US" sz="1100" dirty="0"/>
              <a:t>Provider Patient Records</a:t>
            </a:r>
          </a:p>
        </p:txBody>
      </p:sp>
      <p:sp>
        <p:nvSpPr>
          <p:cNvPr id="21" name="Cylinder 20">
            <a:extLst>
              <a:ext uri="{FF2B5EF4-FFF2-40B4-BE49-F238E27FC236}">
                <a16:creationId xmlns:a16="http://schemas.microsoft.com/office/drawing/2014/main" id="{D3F92A35-7AE5-4F27-9E30-1FA04160C44D}"/>
              </a:ext>
            </a:extLst>
          </p:cNvPr>
          <p:cNvSpPr/>
          <p:nvPr/>
        </p:nvSpPr>
        <p:spPr>
          <a:xfrm>
            <a:off x="2946699" y="2779508"/>
            <a:ext cx="756790" cy="585606"/>
          </a:xfrm>
          <a:prstGeom prst="can">
            <a:avLst/>
          </a:prstGeom>
          <a:ln>
            <a:solidFill>
              <a:schemeClr val="bg1">
                <a:lumMod val="9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tIns="137160" rtlCol="0" anchor="ctr"/>
          <a:lstStyle/>
          <a:p>
            <a:pPr algn="ctr">
              <a:lnSpc>
                <a:spcPts val="1100"/>
              </a:lnSpc>
            </a:pPr>
            <a:r>
              <a:rPr lang="en-US" sz="1100" dirty="0"/>
              <a:t>Payer Patient Records</a:t>
            </a:r>
          </a:p>
        </p:txBody>
      </p:sp>
      <p:sp>
        <p:nvSpPr>
          <p:cNvPr id="20" name="Rectangle 19">
            <a:extLst>
              <a:ext uri="{FF2B5EF4-FFF2-40B4-BE49-F238E27FC236}">
                <a16:creationId xmlns:a16="http://schemas.microsoft.com/office/drawing/2014/main" id="{79A5677D-88DB-4182-9823-C1B40B85F2B4}"/>
              </a:ext>
            </a:extLst>
          </p:cNvPr>
          <p:cNvSpPr/>
          <p:nvPr/>
        </p:nvSpPr>
        <p:spPr>
          <a:xfrm>
            <a:off x="4442858" y="1622410"/>
            <a:ext cx="1543313" cy="592954"/>
          </a:xfrm>
          <a:prstGeom prst="rect">
            <a:avLst/>
          </a:prstGeom>
          <a:solidFill>
            <a:schemeClr val="accent6">
              <a:lumMod val="75000"/>
            </a:schemeClr>
          </a:solidFill>
          <a:ln>
            <a:solidFill>
              <a:schemeClr val="accent1"/>
            </a:solidFill>
          </a:ln>
        </p:spPr>
        <p:style>
          <a:lnRef idx="2">
            <a:schemeClr val="accent2">
              <a:shade val="50000"/>
            </a:schemeClr>
          </a:lnRef>
          <a:fillRef idx="1">
            <a:schemeClr val="accent2"/>
          </a:fillRef>
          <a:effectRef idx="0">
            <a:schemeClr val="accent2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600" dirty="0"/>
              <a:t>Query</a:t>
            </a:r>
          </a:p>
          <a:p>
            <a:pPr algn="ctr"/>
            <a:r>
              <a:rPr lang="en-US" sz="1200" dirty="0"/>
              <a:t>(coding gap reports)</a:t>
            </a:r>
          </a:p>
        </p:txBody>
      </p:sp>
      <p:sp>
        <p:nvSpPr>
          <p:cNvPr id="28" name="Arrow: Curved Down 27">
            <a:extLst>
              <a:ext uri="{FF2B5EF4-FFF2-40B4-BE49-F238E27FC236}">
                <a16:creationId xmlns:a16="http://schemas.microsoft.com/office/drawing/2014/main" id="{2A7858BD-689D-47B5-B2DC-863F06809245}"/>
              </a:ext>
            </a:extLst>
          </p:cNvPr>
          <p:cNvSpPr/>
          <p:nvPr/>
        </p:nvSpPr>
        <p:spPr>
          <a:xfrm rot="10800000">
            <a:off x="3775476" y="1992686"/>
            <a:ext cx="2858983" cy="450801"/>
          </a:xfrm>
          <a:prstGeom prst="curvedDownArrow">
            <a:avLst/>
          </a:prstGeom>
          <a:solidFill>
            <a:schemeClr val="accent6">
              <a:lumMod val="60000"/>
              <a:lumOff val="40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schemeClr val="tx1"/>
              </a:solidFill>
            </a:endParaRP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DD7AFA5D-D1C7-4A3B-B082-64F1EA38CFFD}"/>
              </a:ext>
            </a:extLst>
          </p:cNvPr>
          <p:cNvSpPr txBox="1"/>
          <p:nvPr/>
        </p:nvSpPr>
        <p:spPr>
          <a:xfrm>
            <a:off x="7542825" y="3059668"/>
            <a:ext cx="583429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Task</a:t>
            </a:r>
          </a:p>
        </p:txBody>
      </p:sp>
      <p:sp>
        <p:nvSpPr>
          <p:cNvPr id="32" name="TextBox 31">
            <a:extLst>
              <a:ext uri="{FF2B5EF4-FFF2-40B4-BE49-F238E27FC236}">
                <a16:creationId xmlns:a16="http://schemas.microsoft.com/office/drawing/2014/main" id="{4F21EC11-E5A5-4A0B-8B7B-3F3813B97252}"/>
              </a:ext>
            </a:extLst>
          </p:cNvPr>
          <p:cNvSpPr txBox="1"/>
          <p:nvPr/>
        </p:nvSpPr>
        <p:spPr>
          <a:xfrm>
            <a:off x="4320825" y="4251660"/>
            <a:ext cx="583429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Task</a:t>
            </a:r>
          </a:p>
        </p:txBody>
      </p:sp>
    </p:spTree>
    <p:extLst>
      <p:ext uri="{BB962C8B-B14F-4D97-AF65-F5344CB8AC3E}">
        <p14:creationId xmlns:p14="http://schemas.microsoft.com/office/powerpoint/2010/main" val="369721672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6992073-D200-42E0-9FB9-A038AA6450B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09600" y="206395"/>
            <a:ext cx="10972800" cy="1043103"/>
          </a:xfrm>
        </p:spPr>
        <p:txBody>
          <a:bodyPr/>
          <a:lstStyle/>
          <a:p>
            <a:r>
              <a:rPr lang="en-US" dirty="0"/>
              <a:t>New Figure: Lifecycle Phases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9A34AC66-A8B9-4352-A5F1-CFA56745734D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>
          <a:xfrm>
            <a:off x="869704" y="1804647"/>
            <a:ext cx="10971844" cy="3456096"/>
          </a:xfrm>
        </p:spPr>
        <p:txBody>
          <a:bodyPr/>
          <a:lstStyle/>
          <a:p>
            <a:pPr marL="0" indent="0">
              <a:buNone/>
            </a:pPr>
            <a:r>
              <a:rPr lang="en-US" dirty="0"/>
              <a:t> </a:t>
            </a:r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9B90074F-DE65-45EB-9571-9D3C185F2116}"/>
              </a:ext>
            </a:extLst>
          </p:cNvPr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fld id="{6CACE926-AEF5-4BFE-8BD7-24414108CB7B}" type="slidenum">
              <a:rPr lang="en-US" altLang="en-US" smtClean="0"/>
              <a:pPr/>
              <a:t>13</a:t>
            </a:fld>
            <a:endParaRPr lang="en-US" altLang="en-US" dirty="0"/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AA5AC8FB-912D-43A8-8D0F-F9254F59B281}"/>
              </a:ext>
            </a:extLst>
          </p:cNvPr>
          <p:cNvSpPr/>
          <p:nvPr/>
        </p:nvSpPr>
        <p:spPr>
          <a:xfrm>
            <a:off x="5728964" y="3942358"/>
            <a:ext cx="1709840" cy="604332"/>
          </a:xfrm>
          <a:prstGeom prst="rect">
            <a:avLst/>
          </a:prstGeom>
        </p:spPr>
        <p:style>
          <a:lnRef idx="2">
            <a:schemeClr val="accent2">
              <a:shade val="50000"/>
            </a:schemeClr>
          </a:lnRef>
          <a:fillRef idx="1">
            <a:schemeClr val="accent2"/>
          </a:fillRef>
          <a:effectRef idx="0">
            <a:schemeClr val="accent2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600" dirty="0"/>
              <a:t>Remediation</a:t>
            </a:r>
          </a:p>
          <a:p>
            <a:pPr algn="ctr"/>
            <a:r>
              <a:rPr lang="en-US" sz="1200" dirty="0"/>
              <a:t>(gap closure/ invalidation)</a:t>
            </a:r>
          </a:p>
        </p:txBody>
      </p:sp>
      <p:pic>
        <p:nvPicPr>
          <p:cNvPr id="17" name="Graphic 16">
            <a:extLst>
              <a:ext uri="{FF2B5EF4-FFF2-40B4-BE49-F238E27FC236}">
                <a16:creationId xmlns:a16="http://schemas.microsoft.com/office/drawing/2014/main" id="{5711CF3B-BEF6-4360-AD34-59E17D963A15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6778987" y="1508089"/>
            <a:ext cx="659817" cy="996459"/>
          </a:xfrm>
          <a:prstGeom prst="rect">
            <a:avLst/>
          </a:prstGeom>
        </p:spPr>
      </p:pic>
      <p:pic>
        <p:nvPicPr>
          <p:cNvPr id="18" name="Graphic 17">
            <a:extLst>
              <a:ext uri="{FF2B5EF4-FFF2-40B4-BE49-F238E27FC236}">
                <a16:creationId xmlns:a16="http://schemas.microsoft.com/office/drawing/2014/main" id="{28AEFE85-7684-4B09-9315-5EAC7B7C9E5F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4187782" y="2956314"/>
            <a:ext cx="659817" cy="817600"/>
          </a:xfrm>
          <a:prstGeom prst="rect">
            <a:avLst/>
          </a:prstGeom>
        </p:spPr>
      </p:pic>
      <p:sp>
        <p:nvSpPr>
          <p:cNvPr id="22" name="TextBox 21">
            <a:extLst>
              <a:ext uri="{FF2B5EF4-FFF2-40B4-BE49-F238E27FC236}">
                <a16:creationId xmlns:a16="http://schemas.microsoft.com/office/drawing/2014/main" id="{556B9B98-30EF-4669-8230-213DA7EB59F6}"/>
              </a:ext>
            </a:extLst>
          </p:cNvPr>
          <p:cNvSpPr txBox="1"/>
          <p:nvPr/>
        </p:nvSpPr>
        <p:spPr>
          <a:xfrm>
            <a:off x="3709634" y="3742565"/>
            <a:ext cx="1633188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 defTabSz="609585" fontAlgn="base">
              <a:spcBef>
                <a:spcPct val="0"/>
              </a:spcBef>
              <a:spcAft>
                <a:spcPct val="0"/>
              </a:spcAft>
              <a:defRPr/>
            </a:pPr>
            <a:r>
              <a:rPr lang="en-US" sz="1200" b="1" dirty="0">
                <a:solidFill>
                  <a:srgbClr val="F79646">
                    <a:lumMod val="50000"/>
                  </a:srgbClr>
                </a:solidFill>
                <a:latin typeface="Arial"/>
                <a:ea typeface="ヒラギノ角ゴ Pro W3" pitchFamily="-126" charset="-128"/>
              </a:rPr>
              <a:t>Risk Adjustment Coder</a:t>
            </a:r>
          </a:p>
        </p:txBody>
      </p:sp>
      <p:sp>
        <p:nvSpPr>
          <p:cNvPr id="23" name="TextBox 22">
            <a:extLst>
              <a:ext uri="{FF2B5EF4-FFF2-40B4-BE49-F238E27FC236}">
                <a16:creationId xmlns:a16="http://schemas.microsoft.com/office/drawing/2014/main" id="{BE5FA384-4166-4E2C-B2D7-3515E331E8E3}"/>
              </a:ext>
            </a:extLst>
          </p:cNvPr>
          <p:cNvSpPr txBox="1"/>
          <p:nvPr/>
        </p:nvSpPr>
        <p:spPr>
          <a:xfrm>
            <a:off x="6425885" y="2516304"/>
            <a:ext cx="1366020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 defTabSz="609585" fontAlgn="base">
              <a:spcBef>
                <a:spcPct val="0"/>
              </a:spcBef>
              <a:spcAft>
                <a:spcPct val="0"/>
              </a:spcAft>
              <a:defRPr/>
            </a:pPr>
            <a:r>
              <a:rPr lang="en-US" sz="1200" b="1" dirty="0">
                <a:solidFill>
                  <a:srgbClr val="F79646">
                    <a:lumMod val="50000"/>
                  </a:srgbClr>
                </a:solidFill>
                <a:latin typeface="Arial"/>
                <a:ea typeface="ヒラギノ角ゴ Pro W3" pitchFamily="-126" charset="-128"/>
              </a:rPr>
              <a:t>Provider</a:t>
            </a:r>
          </a:p>
        </p:txBody>
      </p:sp>
      <p:pic>
        <p:nvPicPr>
          <p:cNvPr id="24" name="Graphic 23">
            <a:extLst>
              <a:ext uri="{FF2B5EF4-FFF2-40B4-BE49-F238E27FC236}">
                <a16:creationId xmlns:a16="http://schemas.microsoft.com/office/drawing/2014/main" id="{5F02176F-6C48-4B66-BF46-F739D8F9F52D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>
            <a:off x="1995399" y="2738238"/>
            <a:ext cx="814124" cy="691379"/>
          </a:xfrm>
          <a:prstGeom prst="rect">
            <a:avLst/>
          </a:prstGeom>
        </p:spPr>
      </p:pic>
      <p:sp>
        <p:nvSpPr>
          <p:cNvPr id="26" name="TextBox 25">
            <a:extLst>
              <a:ext uri="{FF2B5EF4-FFF2-40B4-BE49-F238E27FC236}">
                <a16:creationId xmlns:a16="http://schemas.microsoft.com/office/drawing/2014/main" id="{1DE39854-6D80-4F9E-9853-5D038F217BF8}"/>
              </a:ext>
            </a:extLst>
          </p:cNvPr>
          <p:cNvSpPr txBox="1"/>
          <p:nvPr/>
        </p:nvSpPr>
        <p:spPr>
          <a:xfrm>
            <a:off x="1790686" y="3435611"/>
            <a:ext cx="1366020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 defTabSz="609585" fontAlgn="base">
              <a:spcBef>
                <a:spcPct val="0"/>
              </a:spcBef>
              <a:spcAft>
                <a:spcPct val="0"/>
              </a:spcAft>
              <a:defRPr/>
            </a:pPr>
            <a:r>
              <a:rPr lang="en-US" sz="1200" b="1" dirty="0">
                <a:solidFill>
                  <a:srgbClr val="F79646">
                    <a:lumMod val="50000"/>
                  </a:srgbClr>
                </a:solidFill>
                <a:latin typeface="Arial"/>
                <a:ea typeface="ヒラギノ角ゴ Pro W3" pitchFamily="-126" charset="-128"/>
              </a:rPr>
              <a:t>Payer</a:t>
            </a:r>
          </a:p>
        </p:txBody>
      </p:sp>
      <p:sp>
        <p:nvSpPr>
          <p:cNvPr id="27" name="Rectangle 26">
            <a:extLst>
              <a:ext uri="{FF2B5EF4-FFF2-40B4-BE49-F238E27FC236}">
                <a16:creationId xmlns:a16="http://schemas.microsoft.com/office/drawing/2014/main" id="{8E8DBBBD-C24E-42EF-A9CA-89667C8C2403}"/>
              </a:ext>
            </a:extLst>
          </p:cNvPr>
          <p:cNvSpPr/>
          <p:nvPr/>
        </p:nvSpPr>
        <p:spPr>
          <a:xfrm>
            <a:off x="1952871" y="2015305"/>
            <a:ext cx="1694923" cy="592953"/>
          </a:xfrm>
          <a:prstGeom prst="rect">
            <a:avLst/>
          </a:prstGeom>
          <a:solidFill>
            <a:schemeClr val="accent1"/>
          </a:solidFill>
          <a:ln>
            <a:solidFill>
              <a:schemeClr val="accent1"/>
            </a:solidFill>
          </a:ln>
        </p:spPr>
        <p:style>
          <a:lnRef idx="2">
            <a:schemeClr val="accent2">
              <a:shade val="50000"/>
            </a:schemeClr>
          </a:lnRef>
          <a:fillRef idx="1">
            <a:schemeClr val="accent2"/>
          </a:fillRef>
          <a:effectRef idx="0">
            <a:schemeClr val="accent2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600" dirty="0"/>
              <a:t>Generation</a:t>
            </a:r>
          </a:p>
          <a:p>
            <a:pPr algn="ctr"/>
            <a:r>
              <a:rPr lang="en-US" sz="1200" dirty="0"/>
              <a:t>(coding gap reports)</a:t>
            </a:r>
          </a:p>
        </p:txBody>
      </p:sp>
      <p:sp>
        <p:nvSpPr>
          <p:cNvPr id="29" name="Arrow: Curved Down 28">
            <a:extLst>
              <a:ext uri="{FF2B5EF4-FFF2-40B4-BE49-F238E27FC236}">
                <a16:creationId xmlns:a16="http://schemas.microsoft.com/office/drawing/2014/main" id="{D00F570A-3214-4CAE-B8CE-88B13114B2C2}"/>
              </a:ext>
            </a:extLst>
          </p:cNvPr>
          <p:cNvSpPr/>
          <p:nvPr/>
        </p:nvSpPr>
        <p:spPr>
          <a:xfrm>
            <a:off x="3775479" y="1387885"/>
            <a:ext cx="2957656" cy="599230"/>
          </a:xfrm>
          <a:prstGeom prst="curvedDownArrow">
            <a:avLst/>
          </a:prstGeom>
          <a:solidFill>
            <a:schemeClr val="accent6">
              <a:lumMod val="60000"/>
              <a:lumOff val="40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schemeClr val="tx1"/>
              </a:solidFill>
            </a:endParaRPr>
          </a:p>
        </p:txBody>
      </p:sp>
      <p:sp>
        <p:nvSpPr>
          <p:cNvPr id="15" name="Arrow: Curved Down 14">
            <a:extLst>
              <a:ext uri="{FF2B5EF4-FFF2-40B4-BE49-F238E27FC236}">
                <a16:creationId xmlns:a16="http://schemas.microsoft.com/office/drawing/2014/main" id="{064DA815-2EBC-40F6-83F6-36524558366D}"/>
              </a:ext>
            </a:extLst>
          </p:cNvPr>
          <p:cNvSpPr/>
          <p:nvPr/>
        </p:nvSpPr>
        <p:spPr>
          <a:xfrm rot="5400000">
            <a:off x="6728817" y="2933730"/>
            <a:ext cx="2179656" cy="653538"/>
          </a:xfrm>
          <a:prstGeom prst="curvedDownArrow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schemeClr val="tx1"/>
              </a:solidFill>
            </a:endParaRPr>
          </a:p>
        </p:txBody>
      </p:sp>
      <p:sp>
        <p:nvSpPr>
          <p:cNvPr id="30" name="Arrow: Curved Down 29">
            <a:extLst>
              <a:ext uri="{FF2B5EF4-FFF2-40B4-BE49-F238E27FC236}">
                <a16:creationId xmlns:a16="http://schemas.microsoft.com/office/drawing/2014/main" id="{3AAE86C9-836A-465E-A80A-5ECC827E88FF}"/>
              </a:ext>
            </a:extLst>
          </p:cNvPr>
          <p:cNvSpPr/>
          <p:nvPr/>
        </p:nvSpPr>
        <p:spPr>
          <a:xfrm rot="11676230">
            <a:off x="3055304" y="3943276"/>
            <a:ext cx="2607331" cy="649733"/>
          </a:xfrm>
          <a:prstGeom prst="curvedDownArrow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schemeClr val="tx1"/>
              </a:solidFill>
            </a:endParaRPr>
          </a:p>
        </p:txBody>
      </p:sp>
      <p:sp>
        <p:nvSpPr>
          <p:cNvPr id="19" name="Cylinder 18">
            <a:extLst>
              <a:ext uri="{FF2B5EF4-FFF2-40B4-BE49-F238E27FC236}">
                <a16:creationId xmlns:a16="http://schemas.microsoft.com/office/drawing/2014/main" id="{A34C4C6E-6266-4911-B02E-527883FB1971}"/>
              </a:ext>
            </a:extLst>
          </p:cNvPr>
          <p:cNvSpPr/>
          <p:nvPr/>
        </p:nvSpPr>
        <p:spPr>
          <a:xfrm>
            <a:off x="6741793" y="2848830"/>
            <a:ext cx="756790" cy="580170"/>
          </a:xfrm>
          <a:prstGeom prst="can">
            <a:avLst/>
          </a:prstGeom>
          <a:ln>
            <a:solidFill>
              <a:schemeClr val="bg1">
                <a:lumMod val="9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tIns="137160" rtlCol="0" anchor="ctr"/>
          <a:lstStyle/>
          <a:p>
            <a:pPr algn="ctr">
              <a:lnSpc>
                <a:spcPts val="1100"/>
              </a:lnSpc>
            </a:pPr>
            <a:r>
              <a:rPr lang="en-US" sz="1100" dirty="0"/>
              <a:t>Provider Patient Records</a:t>
            </a:r>
          </a:p>
        </p:txBody>
      </p:sp>
      <p:sp>
        <p:nvSpPr>
          <p:cNvPr id="21" name="Cylinder 20">
            <a:extLst>
              <a:ext uri="{FF2B5EF4-FFF2-40B4-BE49-F238E27FC236}">
                <a16:creationId xmlns:a16="http://schemas.microsoft.com/office/drawing/2014/main" id="{D3F92A35-7AE5-4F27-9E30-1FA04160C44D}"/>
              </a:ext>
            </a:extLst>
          </p:cNvPr>
          <p:cNvSpPr/>
          <p:nvPr/>
        </p:nvSpPr>
        <p:spPr>
          <a:xfrm>
            <a:off x="2946699" y="2779508"/>
            <a:ext cx="756790" cy="585606"/>
          </a:xfrm>
          <a:prstGeom prst="can">
            <a:avLst/>
          </a:prstGeom>
          <a:ln>
            <a:solidFill>
              <a:schemeClr val="bg1">
                <a:lumMod val="9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tIns="137160" rtlCol="0" anchor="ctr"/>
          <a:lstStyle/>
          <a:p>
            <a:pPr algn="ctr">
              <a:lnSpc>
                <a:spcPts val="1100"/>
              </a:lnSpc>
            </a:pPr>
            <a:r>
              <a:rPr lang="en-US" sz="1100" dirty="0"/>
              <a:t>Payer Patient Records</a:t>
            </a:r>
          </a:p>
        </p:txBody>
      </p:sp>
      <p:sp>
        <p:nvSpPr>
          <p:cNvPr id="20" name="Rectangle 19">
            <a:extLst>
              <a:ext uri="{FF2B5EF4-FFF2-40B4-BE49-F238E27FC236}">
                <a16:creationId xmlns:a16="http://schemas.microsoft.com/office/drawing/2014/main" id="{79A5677D-88DB-4182-9823-C1B40B85F2B4}"/>
              </a:ext>
            </a:extLst>
          </p:cNvPr>
          <p:cNvSpPr/>
          <p:nvPr/>
        </p:nvSpPr>
        <p:spPr>
          <a:xfrm>
            <a:off x="4442858" y="1622410"/>
            <a:ext cx="1543313" cy="592954"/>
          </a:xfrm>
          <a:prstGeom prst="rect">
            <a:avLst/>
          </a:prstGeom>
          <a:solidFill>
            <a:schemeClr val="accent6">
              <a:lumMod val="75000"/>
            </a:schemeClr>
          </a:solidFill>
          <a:ln>
            <a:solidFill>
              <a:schemeClr val="accent1"/>
            </a:solidFill>
          </a:ln>
        </p:spPr>
        <p:style>
          <a:lnRef idx="2">
            <a:schemeClr val="accent2">
              <a:shade val="50000"/>
            </a:schemeClr>
          </a:lnRef>
          <a:fillRef idx="1">
            <a:schemeClr val="accent2"/>
          </a:fillRef>
          <a:effectRef idx="0">
            <a:schemeClr val="accent2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600" dirty="0"/>
              <a:t>Query</a:t>
            </a:r>
          </a:p>
          <a:p>
            <a:pPr algn="ctr"/>
            <a:r>
              <a:rPr lang="en-US" sz="1200" dirty="0"/>
              <a:t>(coding gap reports)</a:t>
            </a:r>
          </a:p>
        </p:txBody>
      </p:sp>
      <p:sp>
        <p:nvSpPr>
          <p:cNvPr id="28" name="Arrow: Curved Down 27">
            <a:extLst>
              <a:ext uri="{FF2B5EF4-FFF2-40B4-BE49-F238E27FC236}">
                <a16:creationId xmlns:a16="http://schemas.microsoft.com/office/drawing/2014/main" id="{2A7858BD-689D-47B5-B2DC-863F06809245}"/>
              </a:ext>
            </a:extLst>
          </p:cNvPr>
          <p:cNvSpPr/>
          <p:nvPr/>
        </p:nvSpPr>
        <p:spPr>
          <a:xfrm rot="10800000">
            <a:off x="3775476" y="1992686"/>
            <a:ext cx="2858983" cy="450801"/>
          </a:xfrm>
          <a:prstGeom prst="curvedDownArrow">
            <a:avLst/>
          </a:prstGeom>
          <a:solidFill>
            <a:schemeClr val="accent6">
              <a:lumMod val="60000"/>
              <a:lumOff val="40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schemeClr val="tx1"/>
              </a:solidFill>
            </a:endParaRP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DD7AFA5D-D1C7-4A3B-B082-64F1EA38CFFD}"/>
              </a:ext>
            </a:extLst>
          </p:cNvPr>
          <p:cNvSpPr txBox="1"/>
          <p:nvPr/>
        </p:nvSpPr>
        <p:spPr>
          <a:xfrm>
            <a:off x="7542825" y="3059668"/>
            <a:ext cx="583429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Task</a:t>
            </a:r>
          </a:p>
        </p:txBody>
      </p:sp>
      <p:sp>
        <p:nvSpPr>
          <p:cNvPr id="32" name="TextBox 31">
            <a:extLst>
              <a:ext uri="{FF2B5EF4-FFF2-40B4-BE49-F238E27FC236}">
                <a16:creationId xmlns:a16="http://schemas.microsoft.com/office/drawing/2014/main" id="{4F21EC11-E5A5-4A0B-8B7B-3F3813B97252}"/>
              </a:ext>
            </a:extLst>
          </p:cNvPr>
          <p:cNvSpPr txBox="1"/>
          <p:nvPr/>
        </p:nvSpPr>
        <p:spPr>
          <a:xfrm>
            <a:off x="4320825" y="4251660"/>
            <a:ext cx="583429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Task</a:t>
            </a:r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EEE73A96-ABAD-6BE2-12BD-F2891BE68690}"/>
              </a:ext>
            </a:extLst>
          </p:cNvPr>
          <p:cNvSpPr/>
          <p:nvPr/>
        </p:nvSpPr>
        <p:spPr>
          <a:xfrm>
            <a:off x="1952296" y="2651140"/>
            <a:ext cx="6336572" cy="2239359"/>
          </a:xfrm>
          <a:prstGeom prst="rect">
            <a:avLst/>
          </a:prstGeom>
          <a:solidFill>
            <a:schemeClr val="accent4">
              <a:lumMod val="40000"/>
              <a:lumOff val="60000"/>
              <a:alpha val="12000"/>
            </a:schemeClr>
          </a:solidFill>
          <a:ln>
            <a:noFill/>
            <a:prstDash val="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399157393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" name="Rectangle 24">
            <a:extLst>
              <a:ext uri="{FF2B5EF4-FFF2-40B4-BE49-F238E27FC236}">
                <a16:creationId xmlns:a16="http://schemas.microsoft.com/office/drawing/2014/main" id="{F63D65DC-7995-483F-9DBD-92ADFC1E55CF}"/>
              </a:ext>
            </a:extLst>
          </p:cNvPr>
          <p:cNvSpPr/>
          <p:nvPr/>
        </p:nvSpPr>
        <p:spPr>
          <a:xfrm>
            <a:off x="5769505" y="1697458"/>
            <a:ext cx="5490543" cy="3136989"/>
          </a:xfrm>
          <a:prstGeom prst="rect">
            <a:avLst/>
          </a:prstGeom>
          <a:solidFill>
            <a:schemeClr val="accent4">
              <a:lumMod val="40000"/>
              <a:lumOff val="60000"/>
              <a:alpha val="12000"/>
            </a:schemeClr>
          </a:solidFill>
          <a:ln>
            <a:noFill/>
            <a:prstDash val="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E6992073-D200-42E0-9FB9-A038AA6450B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91768" y="197930"/>
            <a:ext cx="10972800" cy="1043103"/>
          </a:xfrm>
        </p:spPr>
        <p:txBody>
          <a:bodyPr/>
          <a:lstStyle/>
          <a:p>
            <a:r>
              <a:rPr lang="en-US" sz="3200" dirty="0"/>
              <a:t>Report Annotation (report-annotation-overview-provider.png)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9A34AC66-A8B9-4352-A5F1-CFA56745734D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>
          <a:xfrm>
            <a:off x="1150529" y="2015845"/>
            <a:ext cx="10971844" cy="4501401"/>
          </a:xfrm>
        </p:spPr>
        <p:txBody>
          <a:bodyPr/>
          <a:lstStyle/>
          <a:p>
            <a:pPr marL="0" indent="0">
              <a:buNone/>
            </a:pPr>
            <a:r>
              <a:rPr lang="en-US" dirty="0"/>
              <a:t> </a:t>
            </a:r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9B90074F-DE65-45EB-9571-9D3C185F2116}"/>
              </a:ext>
            </a:extLst>
          </p:cNvPr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fld id="{6CACE926-AEF5-4BFE-8BD7-24414108CB7B}" type="slidenum">
              <a:rPr lang="en-US" altLang="en-US" smtClean="0"/>
              <a:pPr/>
              <a:t>14</a:t>
            </a:fld>
            <a:endParaRPr lang="en-US" altLang="en-US" dirty="0"/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AA5AC8FB-912D-43A8-8D0F-F9254F59B281}"/>
              </a:ext>
            </a:extLst>
          </p:cNvPr>
          <p:cNvSpPr/>
          <p:nvPr/>
        </p:nvSpPr>
        <p:spPr>
          <a:xfrm>
            <a:off x="9670682" y="3119853"/>
            <a:ext cx="1317390" cy="1325119"/>
          </a:xfrm>
          <a:prstGeom prst="rect">
            <a:avLst/>
          </a:prstGeom>
        </p:spPr>
        <p:style>
          <a:lnRef idx="2">
            <a:schemeClr val="accent2">
              <a:shade val="50000"/>
            </a:schemeClr>
          </a:lnRef>
          <a:fillRef idx="1">
            <a:schemeClr val="accent2"/>
          </a:fillRef>
          <a:effectRef idx="0">
            <a:schemeClr val="accent2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400" dirty="0"/>
              <a:t>Condition Category Remark  added to coding gap report</a:t>
            </a:r>
          </a:p>
        </p:txBody>
      </p:sp>
      <p:pic>
        <p:nvPicPr>
          <p:cNvPr id="17" name="Graphic 16">
            <a:extLst>
              <a:ext uri="{FF2B5EF4-FFF2-40B4-BE49-F238E27FC236}">
                <a16:creationId xmlns:a16="http://schemas.microsoft.com/office/drawing/2014/main" id="{5711CF3B-BEF6-4360-AD34-59E17D963A15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6078168" y="2895500"/>
            <a:ext cx="659817" cy="996459"/>
          </a:xfrm>
          <a:prstGeom prst="rect">
            <a:avLst/>
          </a:prstGeom>
        </p:spPr>
      </p:pic>
      <p:sp>
        <p:nvSpPr>
          <p:cNvPr id="22" name="TextBox 21">
            <a:extLst>
              <a:ext uri="{FF2B5EF4-FFF2-40B4-BE49-F238E27FC236}">
                <a16:creationId xmlns:a16="http://schemas.microsoft.com/office/drawing/2014/main" id="{556B9B98-30EF-4669-8230-213DA7EB59F6}"/>
              </a:ext>
            </a:extLst>
          </p:cNvPr>
          <p:cNvSpPr txBox="1"/>
          <p:nvPr/>
        </p:nvSpPr>
        <p:spPr>
          <a:xfrm>
            <a:off x="8140367" y="3969313"/>
            <a:ext cx="1366020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 defTabSz="609585" fontAlgn="base">
              <a:spcBef>
                <a:spcPct val="0"/>
              </a:spcBef>
              <a:spcAft>
                <a:spcPct val="0"/>
              </a:spcAft>
              <a:defRPr/>
            </a:pPr>
            <a:r>
              <a:rPr lang="en-US" sz="1200" b="1" dirty="0">
                <a:solidFill>
                  <a:srgbClr val="F79646">
                    <a:lumMod val="50000"/>
                  </a:srgbClr>
                </a:solidFill>
                <a:latin typeface="Arial"/>
                <a:ea typeface="ヒラギノ角ゴ Pro W3" pitchFamily="-126" charset="-128"/>
              </a:rPr>
              <a:t>Patient</a:t>
            </a:r>
          </a:p>
        </p:txBody>
      </p:sp>
      <p:sp>
        <p:nvSpPr>
          <p:cNvPr id="23" name="TextBox 22">
            <a:extLst>
              <a:ext uri="{FF2B5EF4-FFF2-40B4-BE49-F238E27FC236}">
                <a16:creationId xmlns:a16="http://schemas.microsoft.com/office/drawing/2014/main" id="{BE5FA384-4166-4E2C-B2D7-3515E331E8E3}"/>
              </a:ext>
            </a:extLst>
          </p:cNvPr>
          <p:cNvSpPr txBox="1"/>
          <p:nvPr/>
        </p:nvSpPr>
        <p:spPr>
          <a:xfrm>
            <a:off x="5537875" y="3971201"/>
            <a:ext cx="1597650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 defTabSz="609585" fontAlgn="base">
              <a:spcBef>
                <a:spcPct val="0"/>
              </a:spcBef>
              <a:spcAft>
                <a:spcPct val="0"/>
              </a:spcAft>
              <a:defRPr/>
            </a:pPr>
            <a:r>
              <a:rPr lang="en-US" sz="1200" b="1" dirty="0">
                <a:solidFill>
                  <a:srgbClr val="F79646">
                    <a:lumMod val="50000"/>
                  </a:srgbClr>
                </a:solidFill>
                <a:latin typeface="Arial"/>
                <a:ea typeface="ヒラギノ角ゴ Pro W3" pitchFamily="-126" charset="-128"/>
              </a:rPr>
              <a:t>Provider, EMR, Provider’s Risk Adjustment Coder</a:t>
            </a:r>
          </a:p>
        </p:txBody>
      </p:sp>
      <p:pic>
        <p:nvPicPr>
          <p:cNvPr id="24" name="Graphic 23">
            <a:extLst>
              <a:ext uri="{FF2B5EF4-FFF2-40B4-BE49-F238E27FC236}">
                <a16:creationId xmlns:a16="http://schemas.microsoft.com/office/drawing/2014/main" id="{5F02176F-6C48-4B66-BF46-F739D8F9F52D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800838" y="3754471"/>
            <a:ext cx="814124" cy="691379"/>
          </a:xfrm>
          <a:prstGeom prst="rect">
            <a:avLst/>
          </a:prstGeom>
        </p:spPr>
      </p:pic>
      <p:sp>
        <p:nvSpPr>
          <p:cNvPr id="26" name="TextBox 25">
            <a:extLst>
              <a:ext uri="{FF2B5EF4-FFF2-40B4-BE49-F238E27FC236}">
                <a16:creationId xmlns:a16="http://schemas.microsoft.com/office/drawing/2014/main" id="{1DE39854-6D80-4F9E-9853-5D038F217BF8}"/>
              </a:ext>
            </a:extLst>
          </p:cNvPr>
          <p:cNvSpPr txBox="1"/>
          <p:nvPr/>
        </p:nvSpPr>
        <p:spPr>
          <a:xfrm>
            <a:off x="931952" y="4480630"/>
            <a:ext cx="1366020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 defTabSz="609585" fontAlgn="base">
              <a:spcBef>
                <a:spcPct val="0"/>
              </a:spcBef>
              <a:spcAft>
                <a:spcPct val="0"/>
              </a:spcAft>
              <a:defRPr/>
            </a:pPr>
            <a:r>
              <a:rPr lang="en-US" sz="1200" b="1" dirty="0">
                <a:solidFill>
                  <a:srgbClr val="F79646">
                    <a:lumMod val="50000"/>
                  </a:srgbClr>
                </a:solidFill>
                <a:latin typeface="Arial"/>
                <a:ea typeface="ヒラギノ角ゴ Pro W3" pitchFamily="-126" charset="-128"/>
              </a:rPr>
              <a:t>Payer</a:t>
            </a:r>
          </a:p>
        </p:txBody>
      </p:sp>
      <p:sp>
        <p:nvSpPr>
          <p:cNvPr id="27" name="Rectangle 26">
            <a:extLst>
              <a:ext uri="{FF2B5EF4-FFF2-40B4-BE49-F238E27FC236}">
                <a16:creationId xmlns:a16="http://schemas.microsoft.com/office/drawing/2014/main" id="{8E8DBBBD-C24E-42EF-A9CA-89667C8C2403}"/>
              </a:ext>
            </a:extLst>
          </p:cNvPr>
          <p:cNvSpPr/>
          <p:nvPr/>
        </p:nvSpPr>
        <p:spPr>
          <a:xfrm>
            <a:off x="767501" y="2889025"/>
            <a:ext cx="1694923" cy="592953"/>
          </a:xfrm>
          <a:prstGeom prst="rect">
            <a:avLst/>
          </a:prstGeom>
          <a:solidFill>
            <a:schemeClr val="accent1"/>
          </a:solidFill>
          <a:ln>
            <a:solidFill>
              <a:schemeClr val="accent1"/>
            </a:solidFill>
          </a:ln>
        </p:spPr>
        <p:style>
          <a:lnRef idx="2">
            <a:schemeClr val="accent2">
              <a:shade val="50000"/>
            </a:schemeClr>
          </a:lnRef>
          <a:fillRef idx="1">
            <a:schemeClr val="accent2"/>
          </a:fillRef>
          <a:effectRef idx="0">
            <a:schemeClr val="accent2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600" dirty="0"/>
              <a:t>Generation</a:t>
            </a:r>
          </a:p>
          <a:p>
            <a:pPr algn="ctr"/>
            <a:r>
              <a:rPr lang="en-US" sz="1200" dirty="0"/>
              <a:t>(coding gap reports)</a:t>
            </a:r>
          </a:p>
        </p:txBody>
      </p:sp>
      <p:sp>
        <p:nvSpPr>
          <p:cNvPr id="29" name="Arrow: Curved Down 28">
            <a:extLst>
              <a:ext uri="{FF2B5EF4-FFF2-40B4-BE49-F238E27FC236}">
                <a16:creationId xmlns:a16="http://schemas.microsoft.com/office/drawing/2014/main" id="{D00F570A-3214-4CAE-B8CE-88B13114B2C2}"/>
              </a:ext>
            </a:extLst>
          </p:cNvPr>
          <p:cNvSpPr/>
          <p:nvPr/>
        </p:nvSpPr>
        <p:spPr>
          <a:xfrm>
            <a:off x="2551134" y="2595885"/>
            <a:ext cx="2271225" cy="599230"/>
          </a:xfrm>
          <a:prstGeom prst="curvedDownArrow">
            <a:avLst/>
          </a:prstGeom>
          <a:solidFill>
            <a:schemeClr val="accent6">
              <a:lumMod val="60000"/>
              <a:lumOff val="40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schemeClr val="tx1"/>
              </a:solidFill>
            </a:endParaRPr>
          </a:p>
        </p:txBody>
      </p:sp>
      <p:sp>
        <p:nvSpPr>
          <p:cNvPr id="15" name="Arrow: Curved Down 14">
            <a:extLst>
              <a:ext uri="{FF2B5EF4-FFF2-40B4-BE49-F238E27FC236}">
                <a16:creationId xmlns:a16="http://schemas.microsoft.com/office/drawing/2014/main" id="{064DA815-2EBC-40F6-83F6-36524558366D}"/>
              </a:ext>
            </a:extLst>
          </p:cNvPr>
          <p:cNvSpPr/>
          <p:nvPr/>
        </p:nvSpPr>
        <p:spPr>
          <a:xfrm rot="395332">
            <a:off x="6421084" y="1961285"/>
            <a:ext cx="3987679" cy="896894"/>
          </a:xfrm>
          <a:prstGeom prst="curvedDownArrow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schemeClr val="tx1"/>
              </a:solidFill>
            </a:endParaRPr>
          </a:p>
        </p:txBody>
      </p:sp>
      <p:sp>
        <p:nvSpPr>
          <p:cNvPr id="30" name="Arrow: Curved Down 29">
            <a:extLst>
              <a:ext uri="{FF2B5EF4-FFF2-40B4-BE49-F238E27FC236}">
                <a16:creationId xmlns:a16="http://schemas.microsoft.com/office/drawing/2014/main" id="{3AAE86C9-836A-465E-A80A-5ECC827E88FF}"/>
              </a:ext>
            </a:extLst>
          </p:cNvPr>
          <p:cNvSpPr/>
          <p:nvPr/>
        </p:nvSpPr>
        <p:spPr>
          <a:xfrm rot="10800000">
            <a:off x="1600911" y="4704625"/>
            <a:ext cx="8978190" cy="782556"/>
          </a:xfrm>
          <a:prstGeom prst="curvedDownArrow">
            <a:avLst>
              <a:gd name="adj1" fmla="val 6269"/>
              <a:gd name="adj2" fmla="val 57606"/>
              <a:gd name="adj3" fmla="val 17362"/>
            </a:avLst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schemeClr val="tx1"/>
              </a:solidFill>
            </a:endParaRPr>
          </a:p>
        </p:txBody>
      </p:sp>
      <p:sp>
        <p:nvSpPr>
          <p:cNvPr id="19" name="Cylinder 18">
            <a:extLst>
              <a:ext uri="{FF2B5EF4-FFF2-40B4-BE49-F238E27FC236}">
                <a16:creationId xmlns:a16="http://schemas.microsoft.com/office/drawing/2014/main" id="{A34C4C6E-6266-4911-B02E-527883FB1971}"/>
              </a:ext>
            </a:extLst>
          </p:cNvPr>
          <p:cNvSpPr/>
          <p:nvPr/>
        </p:nvSpPr>
        <p:spPr>
          <a:xfrm>
            <a:off x="4908351" y="3095043"/>
            <a:ext cx="756790" cy="580170"/>
          </a:xfrm>
          <a:prstGeom prst="can">
            <a:avLst/>
          </a:prstGeom>
          <a:ln>
            <a:solidFill>
              <a:schemeClr val="bg1">
                <a:lumMod val="9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tIns="137160" rtlCol="0" anchor="ctr"/>
          <a:lstStyle/>
          <a:p>
            <a:pPr algn="ctr">
              <a:lnSpc>
                <a:spcPts val="1100"/>
              </a:lnSpc>
            </a:pPr>
            <a:r>
              <a:rPr lang="en-US" sz="1100" dirty="0"/>
              <a:t>Provider Patient Records</a:t>
            </a:r>
          </a:p>
        </p:txBody>
      </p:sp>
      <p:sp>
        <p:nvSpPr>
          <p:cNvPr id="21" name="Cylinder 20">
            <a:extLst>
              <a:ext uri="{FF2B5EF4-FFF2-40B4-BE49-F238E27FC236}">
                <a16:creationId xmlns:a16="http://schemas.microsoft.com/office/drawing/2014/main" id="{D3F92A35-7AE5-4F27-9E30-1FA04160C44D}"/>
              </a:ext>
            </a:extLst>
          </p:cNvPr>
          <p:cNvSpPr/>
          <p:nvPr/>
        </p:nvSpPr>
        <p:spPr>
          <a:xfrm>
            <a:off x="1794345" y="3805972"/>
            <a:ext cx="756790" cy="585606"/>
          </a:xfrm>
          <a:prstGeom prst="can">
            <a:avLst/>
          </a:prstGeom>
          <a:ln>
            <a:solidFill>
              <a:schemeClr val="bg1">
                <a:lumMod val="9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tIns="137160" rtlCol="0" anchor="ctr"/>
          <a:lstStyle/>
          <a:p>
            <a:pPr algn="ctr">
              <a:lnSpc>
                <a:spcPts val="1100"/>
              </a:lnSpc>
            </a:pPr>
            <a:r>
              <a:rPr lang="en-US" sz="1100" dirty="0"/>
              <a:t>Payer Patient Records</a:t>
            </a:r>
          </a:p>
        </p:txBody>
      </p:sp>
      <p:sp>
        <p:nvSpPr>
          <p:cNvPr id="20" name="Rectangle 19">
            <a:extLst>
              <a:ext uri="{FF2B5EF4-FFF2-40B4-BE49-F238E27FC236}">
                <a16:creationId xmlns:a16="http://schemas.microsoft.com/office/drawing/2014/main" id="{79A5677D-88DB-4182-9823-C1B40B85F2B4}"/>
              </a:ext>
            </a:extLst>
          </p:cNvPr>
          <p:cNvSpPr/>
          <p:nvPr/>
        </p:nvSpPr>
        <p:spPr>
          <a:xfrm>
            <a:off x="2854528" y="3184815"/>
            <a:ext cx="1543313" cy="592954"/>
          </a:xfrm>
          <a:prstGeom prst="rect">
            <a:avLst/>
          </a:prstGeom>
          <a:solidFill>
            <a:schemeClr val="accent6">
              <a:lumMod val="75000"/>
            </a:schemeClr>
          </a:solidFill>
          <a:ln>
            <a:solidFill>
              <a:schemeClr val="accent1"/>
            </a:solidFill>
          </a:ln>
        </p:spPr>
        <p:style>
          <a:lnRef idx="2">
            <a:schemeClr val="accent2">
              <a:shade val="50000"/>
            </a:schemeClr>
          </a:lnRef>
          <a:fillRef idx="1">
            <a:schemeClr val="accent2"/>
          </a:fillRef>
          <a:effectRef idx="0">
            <a:schemeClr val="accent2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600" dirty="0"/>
              <a:t>Query</a:t>
            </a:r>
          </a:p>
          <a:p>
            <a:pPr algn="ctr"/>
            <a:r>
              <a:rPr lang="en-US" sz="1200" dirty="0"/>
              <a:t>(coding gap reports)</a:t>
            </a:r>
          </a:p>
        </p:txBody>
      </p:sp>
      <p:sp>
        <p:nvSpPr>
          <p:cNvPr id="28" name="Arrow: Curved Down 27">
            <a:extLst>
              <a:ext uri="{FF2B5EF4-FFF2-40B4-BE49-F238E27FC236}">
                <a16:creationId xmlns:a16="http://schemas.microsoft.com/office/drawing/2014/main" id="{2A7858BD-689D-47B5-B2DC-863F06809245}"/>
              </a:ext>
            </a:extLst>
          </p:cNvPr>
          <p:cNvSpPr/>
          <p:nvPr/>
        </p:nvSpPr>
        <p:spPr>
          <a:xfrm rot="10800000">
            <a:off x="2551843" y="3777767"/>
            <a:ext cx="2208668" cy="450801"/>
          </a:xfrm>
          <a:prstGeom prst="curvedDownArrow">
            <a:avLst/>
          </a:prstGeom>
          <a:solidFill>
            <a:schemeClr val="accent6">
              <a:lumMod val="60000"/>
              <a:lumOff val="40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schemeClr val="tx1"/>
              </a:solidFill>
            </a:endParaRP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DD7AFA5D-D1C7-4A3B-B082-64F1EA38CFFD}"/>
              </a:ext>
            </a:extLst>
          </p:cNvPr>
          <p:cNvSpPr txBox="1"/>
          <p:nvPr/>
        </p:nvSpPr>
        <p:spPr>
          <a:xfrm>
            <a:off x="7110751" y="2355966"/>
            <a:ext cx="1544910" cy="523220"/>
          </a:xfrm>
          <a:prstGeom prst="rect">
            <a:avLst/>
          </a:prstGeom>
          <a:solidFill>
            <a:schemeClr val="bg2">
              <a:lumMod val="50000"/>
            </a:schemeClr>
          </a:solidFill>
        </p:spPr>
        <p:txBody>
          <a:bodyPr wrap="none" rtlCol="0">
            <a:spAutoFit/>
          </a:bodyPr>
          <a:lstStyle/>
          <a:p>
            <a:r>
              <a:rPr lang="en-US" sz="1400" dirty="0">
                <a:solidFill>
                  <a:schemeClr val="bg1"/>
                </a:solidFill>
              </a:rPr>
              <a:t>Adds Condition</a:t>
            </a:r>
          </a:p>
          <a:p>
            <a:r>
              <a:rPr lang="en-US" sz="1400" dirty="0">
                <a:solidFill>
                  <a:schemeClr val="bg1"/>
                </a:solidFill>
              </a:rPr>
              <a:t> Category Remarks</a:t>
            </a:r>
          </a:p>
        </p:txBody>
      </p:sp>
      <p:sp>
        <p:nvSpPr>
          <p:cNvPr id="32" name="TextBox 31">
            <a:extLst>
              <a:ext uri="{FF2B5EF4-FFF2-40B4-BE49-F238E27FC236}">
                <a16:creationId xmlns:a16="http://schemas.microsoft.com/office/drawing/2014/main" id="{4F21EC11-E5A5-4A0B-8B7B-3F3813B97252}"/>
              </a:ext>
            </a:extLst>
          </p:cNvPr>
          <p:cNvSpPr txBox="1"/>
          <p:nvPr/>
        </p:nvSpPr>
        <p:spPr>
          <a:xfrm>
            <a:off x="4587651" y="4777745"/>
            <a:ext cx="2694874" cy="523220"/>
          </a:xfrm>
          <a:prstGeom prst="rect">
            <a:avLst/>
          </a:prstGeom>
          <a:solidFill>
            <a:schemeClr val="accent4"/>
          </a:solidFill>
        </p:spPr>
        <p:txBody>
          <a:bodyPr wrap="square" rtlCol="0">
            <a:spAutoFit/>
          </a:bodyPr>
          <a:lstStyle/>
          <a:p>
            <a:r>
              <a:rPr lang="en-US" sz="1400" dirty="0">
                <a:solidFill>
                  <a:schemeClr val="bg1"/>
                </a:solidFill>
              </a:rPr>
              <a:t>Report with Condition Category Remark(s) posted to Payer</a:t>
            </a:r>
          </a:p>
        </p:txBody>
      </p:sp>
      <p:pic>
        <p:nvPicPr>
          <p:cNvPr id="31" name="Graphic 30">
            <a:extLst>
              <a:ext uri="{FF2B5EF4-FFF2-40B4-BE49-F238E27FC236}">
                <a16:creationId xmlns:a16="http://schemas.microsoft.com/office/drawing/2014/main" id="{1CBF4952-2EF3-4115-8C0B-3952F1526AA7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>
            <a:off x="8493469" y="2955128"/>
            <a:ext cx="659817" cy="817600"/>
          </a:xfrm>
          <a:prstGeom prst="rect">
            <a:avLst/>
          </a:prstGeom>
        </p:spPr>
      </p:pic>
      <p:sp>
        <p:nvSpPr>
          <p:cNvPr id="16" name="Rectangle 15">
            <a:extLst>
              <a:ext uri="{FF2B5EF4-FFF2-40B4-BE49-F238E27FC236}">
                <a16:creationId xmlns:a16="http://schemas.microsoft.com/office/drawing/2014/main" id="{530D46A7-EBDE-4786-AEBD-614108CC21E6}"/>
              </a:ext>
            </a:extLst>
          </p:cNvPr>
          <p:cNvSpPr/>
          <p:nvPr/>
        </p:nvSpPr>
        <p:spPr>
          <a:xfrm>
            <a:off x="6926893" y="3819592"/>
            <a:ext cx="1317390" cy="474779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200" dirty="0"/>
              <a:t>Provider has visit with patient</a:t>
            </a:r>
          </a:p>
        </p:txBody>
      </p:sp>
      <p:cxnSp>
        <p:nvCxnSpPr>
          <p:cNvPr id="48" name="Straight Arrow Connector 47">
            <a:extLst>
              <a:ext uri="{FF2B5EF4-FFF2-40B4-BE49-F238E27FC236}">
                <a16:creationId xmlns:a16="http://schemas.microsoft.com/office/drawing/2014/main" id="{3F950A54-C393-44FF-ABFC-16218BD8E69B}"/>
              </a:ext>
            </a:extLst>
          </p:cNvPr>
          <p:cNvCxnSpPr>
            <a:cxnSpLocks/>
          </p:cNvCxnSpPr>
          <p:nvPr/>
        </p:nvCxnSpPr>
        <p:spPr>
          <a:xfrm>
            <a:off x="6918960" y="3663292"/>
            <a:ext cx="1276960" cy="0"/>
          </a:xfrm>
          <a:prstGeom prst="straightConnector1">
            <a:avLst/>
          </a:prstGeom>
          <a:ln w="38100">
            <a:solidFill>
              <a:schemeClr val="bg1">
                <a:lumMod val="75000"/>
              </a:schemeClr>
            </a:solidFill>
            <a:prstDash val="dash"/>
            <a:headEnd type="triangl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9" name="Straight Arrow Connector 48">
            <a:extLst>
              <a:ext uri="{FF2B5EF4-FFF2-40B4-BE49-F238E27FC236}">
                <a16:creationId xmlns:a16="http://schemas.microsoft.com/office/drawing/2014/main" id="{303A6963-1223-414F-80BC-E3878FA947A6}"/>
              </a:ext>
            </a:extLst>
          </p:cNvPr>
          <p:cNvCxnSpPr>
            <a:cxnSpLocks/>
          </p:cNvCxnSpPr>
          <p:nvPr/>
        </p:nvCxnSpPr>
        <p:spPr>
          <a:xfrm flipH="1">
            <a:off x="6918960" y="3419084"/>
            <a:ext cx="1317390" cy="0"/>
          </a:xfrm>
          <a:prstGeom prst="straightConnector1">
            <a:avLst/>
          </a:prstGeom>
          <a:ln w="38100">
            <a:solidFill>
              <a:schemeClr val="bg1">
                <a:lumMod val="75000"/>
              </a:schemeClr>
            </a:solidFill>
            <a:prstDash val="dash"/>
            <a:headEnd type="triangl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657540531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D6D9B83-C849-D9E9-59F4-255AF42F088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" name="Rectangle 24">
            <a:extLst>
              <a:ext uri="{FF2B5EF4-FFF2-40B4-BE49-F238E27FC236}">
                <a16:creationId xmlns:a16="http://schemas.microsoft.com/office/drawing/2014/main" id="{6AD9ED70-F361-AC5A-4509-1969921C8201}"/>
              </a:ext>
            </a:extLst>
          </p:cNvPr>
          <p:cNvSpPr/>
          <p:nvPr/>
        </p:nvSpPr>
        <p:spPr>
          <a:xfrm>
            <a:off x="5725261" y="1600863"/>
            <a:ext cx="5490543" cy="3136989"/>
          </a:xfrm>
          <a:prstGeom prst="rect">
            <a:avLst/>
          </a:prstGeom>
          <a:solidFill>
            <a:schemeClr val="accent4">
              <a:lumMod val="40000"/>
              <a:lumOff val="60000"/>
              <a:alpha val="12000"/>
            </a:schemeClr>
          </a:solidFill>
          <a:ln>
            <a:noFill/>
            <a:prstDash val="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0E5B5E2A-2F38-AED8-6F52-8B022BBE104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91768" y="197930"/>
            <a:ext cx="10972800" cy="1043103"/>
          </a:xfrm>
        </p:spPr>
        <p:txBody>
          <a:bodyPr/>
          <a:lstStyle/>
          <a:p>
            <a:r>
              <a:rPr lang="en-US" sz="3200" dirty="0"/>
              <a:t>Report Annotation (report-annotation-overview-provider.png)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EAE31D12-650C-99C3-4A80-9E8422E6CDC0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>
          <a:xfrm>
            <a:off x="1150529" y="2015845"/>
            <a:ext cx="10971844" cy="4501401"/>
          </a:xfrm>
        </p:spPr>
        <p:txBody>
          <a:bodyPr/>
          <a:lstStyle/>
          <a:p>
            <a:pPr marL="0" indent="0">
              <a:buNone/>
            </a:pPr>
            <a:r>
              <a:rPr lang="en-US" dirty="0"/>
              <a:t> </a:t>
            </a:r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9FB1978A-8261-D1B4-13D9-4FA483DD1957}"/>
              </a:ext>
            </a:extLst>
          </p:cNvPr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fld id="{6CACE926-AEF5-4BFE-8BD7-24414108CB7B}" type="slidenum">
              <a:rPr lang="en-US" altLang="en-US" smtClean="0"/>
              <a:pPr/>
              <a:t>15</a:t>
            </a:fld>
            <a:endParaRPr lang="en-US" altLang="en-US" dirty="0"/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9591604D-EFE2-9081-0506-25AF0F05BD2B}"/>
              </a:ext>
            </a:extLst>
          </p:cNvPr>
          <p:cNvSpPr/>
          <p:nvPr/>
        </p:nvSpPr>
        <p:spPr>
          <a:xfrm>
            <a:off x="9670682" y="3119853"/>
            <a:ext cx="1317390" cy="1325119"/>
          </a:xfrm>
          <a:prstGeom prst="rect">
            <a:avLst/>
          </a:prstGeom>
        </p:spPr>
        <p:style>
          <a:lnRef idx="2">
            <a:schemeClr val="accent2">
              <a:shade val="50000"/>
            </a:schemeClr>
          </a:lnRef>
          <a:fillRef idx="1">
            <a:schemeClr val="accent2"/>
          </a:fillRef>
          <a:effectRef idx="0">
            <a:schemeClr val="accent2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400" dirty="0"/>
              <a:t>Condition Category Remark  added to coding gap report</a:t>
            </a:r>
          </a:p>
        </p:txBody>
      </p:sp>
      <p:pic>
        <p:nvPicPr>
          <p:cNvPr id="17" name="Graphic 16">
            <a:extLst>
              <a:ext uri="{FF2B5EF4-FFF2-40B4-BE49-F238E27FC236}">
                <a16:creationId xmlns:a16="http://schemas.microsoft.com/office/drawing/2014/main" id="{1159F76B-1A7B-B2EA-95A6-B0A2B07B8713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6078168" y="2895500"/>
            <a:ext cx="659817" cy="996459"/>
          </a:xfrm>
          <a:prstGeom prst="rect">
            <a:avLst/>
          </a:prstGeom>
        </p:spPr>
      </p:pic>
      <p:sp>
        <p:nvSpPr>
          <p:cNvPr id="22" name="TextBox 21">
            <a:extLst>
              <a:ext uri="{FF2B5EF4-FFF2-40B4-BE49-F238E27FC236}">
                <a16:creationId xmlns:a16="http://schemas.microsoft.com/office/drawing/2014/main" id="{E1A739AA-DFA4-F1B8-A939-257939825861}"/>
              </a:ext>
            </a:extLst>
          </p:cNvPr>
          <p:cNvSpPr txBox="1"/>
          <p:nvPr/>
        </p:nvSpPr>
        <p:spPr>
          <a:xfrm>
            <a:off x="8140367" y="3969313"/>
            <a:ext cx="1366020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 defTabSz="609585" fontAlgn="base">
              <a:spcBef>
                <a:spcPct val="0"/>
              </a:spcBef>
              <a:spcAft>
                <a:spcPct val="0"/>
              </a:spcAft>
              <a:defRPr/>
            </a:pPr>
            <a:r>
              <a:rPr lang="en-US" sz="1200" b="1" dirty="0">
                <a:solidFill>
                  <a:srgbClr val="F79646">
                    <a:lumMod val="50000"/>
                  </a:srgbClr>
                </a:solidFill>
                <a:latin typeface="Arial"/>
                <a:ea typeface="ヒラギノ角ゴ Pro W3" pitchFamily="-126" charset="-128"/>
              </a:rPr>
              <a:t>Patient</a:t>
            </a:r>
          </a:p>
        </p:txBody>
      </p:sp>
      <p:sp>
        <p:nvSpPr>
          <p:cNvPr id="23" name="TextBox 22">
            <a:extLst>
              <a:ext uri="{FF2B5EF4-FFF2-40B4-BE49-F238E27FC236}">
                <a16:creationId xmlns:a16="http://schemas.microsoft.com/office/drawing/2014/main" id="{8BFED531-5ED5-D3DD-FAF8-72882191E9BC}"/>
              </a:ext>
            </a:extLst>
          </p:cNvPr>
          <p:cNvSpPr txBox="1"/>
          <p:nvPr/>
        </p:nvSpPr>
        <p:spPr>
          <a:xfrm>
            <a:off x="5537875" y="3971201"/>
            <a:ext cx="1597650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 defTabSz="609585" fontAlgn="base">
              <a:spcBef>
                <a:spcPct val="0"/>
              </a:spcBef>
              <a:spcAft>
                <a:spcPct val="0"/>
              </a:spcAft>
              <a:defRPr/>
            </a:pPr>
            <a:r>
              <a:rPr lang="en-US" sz="1200" b="1" dirty="0">
                <a:solidFill>
                  <a:srgbClr val="F79646">
                    <a:lumMod val="50000"/>
                  </a:srgbClr>
                </a:solidFill>
                <a:latin typeface="Arial"/>
                <a:ea typeface="ヒラギノ角ゴ Pro W3" pitchFamily="-126" charset="-128"/>
              </a:rPr>
              <a:t>Provider, EMR, Provider’s Risk Adjustment Coder</a:t>
            </a:r>
          </a:p>
        </p:txBody>
      </p:sp>
      <p:pic>
        <p:nvPicPr>
          <p:cNvPr id="24" name="Graphic 23">
            <a:extLst>
              <a:ext uri="{FF2B5EF4-FFF2-40B4-BE49-F238E27FC236}">
                <a16:creationId xmlns:a16="http://schemas.microsoft.com/office/drawing/2014/main" id="{147AC3F1-3366-4D77-DB3E-382A147FB23E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800838" y="3754471"/>
            <a:ext cx="814124" cy="691379"/>
          </a:xfrm>
          <a:prstGeom prst="rect">
            <a:avLst/>
          </a:prstGeom>
        </p:spPr>
      </p:pic>
      <p:sp>
        <p:nvSpPr>
          <p:cNvPr id="26" name="TextBox 25">
            <a:extLst>
              <a:ext uri="{FF2B5EF4-FFF2-40B4-BE49-F238E27FC236}">
                <a16:creationId xmlns:a16="http://schemas.microsoft.com/office/drawing/2014/main" id="{45DD1EFB-BE0F-7747-7FFE-42696C7BEE93}"/>
              </a:ext>
            </a:extLst>
          </p:cNvPr>
          <p:cNvSpPr txBox="1"/>
          <p:nvPr/>
        </p:nvSpPr>
        <p:spPr>
          <a:xfrm>
            <a:off x="931952" y="4480630"/>
            <a:ext cx="1366020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 defTabSz="609585" fontAlgn="base">
              <a:spcBef>
                <a:spcPct val="0"/>
              </a:spcBef>
              <a:spcAft>
                <a:spcPct val="0"/>
              </a:spcAft>
              <a:defRPr/>
            </a:pPr>
            <a:r>
              <a:rPr lang="en-US" sz="1200" b="1" dirty="0">
                <a:solidFill>
                  <a:srgbClr val="F79646">
                    <a:lumMod val="50000"/>
                  </a:srgbClr>
                </a:solidFill>
                <a:latin typeface="Arial"/>
                <a:ea typeface="ヒラギノ角ゴ Pro W3" pitchFamily="-126" charset="-128"/>
              </a:rPr>
              <a:t>Payer</a:t>
            </a:r>
          </a:p>
        </p:txBody>
      </p:sp>
      <p:sp>
        <p:nvSpPr>
          <p:cNvPr id="27" name="Rectangle 26">
            <a:extLst>
              <a:ext uri="{FF2B5EF4-FFF2-40B4-BE49-F238E27FC236}">
                <a16:creationId xmlns:a16="http://schemas.microsoft.com/office/drawing/2014/main" id="{1BBFC3DB-4998-ABF3-EE98-75A905B49CE3}"/>
              </a:ext>
            </a:extLst>
          </p:cNvPr>
          <p:cNvSpPr/>
          <p:nvPr/>
        </p:nvSpPr>
        <p:spPr>
          <a:xfrm>
            <a:off x="767501" y="2889025"/>
            <a:ext cx="1694923" cy="592953"/>
          </a:xfrm>
          <a:prstGeom prst="rect">
            <a:avLst/>
          </a:prstGeom>
          <a:solidFill>
            <a:schemeClr val="accent1"/>
          </a:solidFill>
          <a:ln>
            <a:solidFill>
              <a:schemeClr val="accent1"/>
            </a:solidFill>
          </a:ln>
        </p:spPr>
        <p:style>
          <a:lnRef idx="2">
            <a:schemeClr val="accent2">
              <a:shade val="50000"/>
            </a:schemeClr>
          </a:lnRef>
          <a:fillRef idx="1">
            <a:schemeClr val="accent2"/>
          </a:fillRef>
          <a:effectRef idx="0">
            <a:schemeClr val="accent2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600" dirty="0"/>
              <a:t>Generation</a:t>
            </a:r>
          </a:p>
          <a:p>
            <a:pPr algn="ctr"/>
            <a:r>
              <a:rPr lang="en-US" sz="1200" dirty="0"/>
              <a:t>(coding gap reports)</a:t>
            </a:r>
          </a:p>
        </p:txBody>
      </p:sp>
      <p:sp>
        <p:nvSpPr>
          <p:cNvPr id="29" name="Arrow: Curved Down 28">
            <a:extLst>
              <a:ext uri="{FF2B5EF4-FFF2-40B4-BE49-F238E27FC236}">
                <a16:creationId xmlns:a16="http://schemas.microsoft.com/office/drawing/2014/main" id="{2B2728D4-8EF8-FEAC-ADC3-4A1433487CE4}"/>
              </a:ext>
            </a:extLst>
          </p:cNvPr>
          <p:cNvSpPr/>
          <p:nvPr/>
        </p:nvSpPr>
        <p:spPr>
          <a:xfrm>
            <a:off x="2551134" y="2595885"/>
            <a:ext cx="2271225" cy="599230"/>
          </a:xfrm>
          <a:prstGeom prst="curvedDownArrow">
            <a:avLst/>
          </a:prstGeom>
          <a:solidFill>
            <a:schemeClr val="accent6">
              <a:lumMod val="60000"/>
              <a:lumOff val="40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schemeClr val="tx1"/>
              </a:solidFill>
            </a:endParaRPr>
          </a:p>
        </p:txBody>
      </p:sp>
      <p:sp>
        <p:nvSpPr>
          <p:cNvPr id="15" name="Arrow: Curved Down 14">
            <a:extLst>
              <a:ext uri="{FF2B5EF4-FFF2-40B4-BE49-F238E27FC236}">
                <a16:creationId xmlns:a16="http://schemas.microsoft.com/office/drawing/2014/main" id="{A74AA742-006B-79B1-6093-191DFDDEC53C}"/>
              </a:ext>
            </a:extLst>
          </p:cNvPr>
          <p:cNvSpPr/>
          <p:nvPr/>
        </p:nvSpPr>
        <p:spPr>
          <a:xfrm rot="21415885" flipV="1">
            <a:off x="6220084" y="4689374"/>
            <a:ext cx="4218601" cy="759546"/>
          </a:xfrm>
          <a:prstGeom prst="curvedDownArrow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schemeClr val="tx1"/>
              </a:solidFill>
            </a:endParaRPr>
          </a:p>
        </p:txBody>
      </p:sp>
      <p:sp>
        <p:nvSpPr>
          <p:cNvPr id="30" name="Arrow: Curved Down 29">
            <a:extLst>
              <a:ext uri="{FF2B5EF4-FFF2-40B4-BE49-F238E27FC236}">
                <a16:creationId xmlns:a16="http://schemas.microsoft.com/office/drawing/2014/main" id="{34DFE7E8-3118-ABAA-E3A9-06EC192D4599}"/>
              </a:ext>
            </a:extLst>
          </p:cNvPr>
          <p:cNvSpPr/>
          <p:nvPr/>
        </p:nvSpPr>
        <p:spPr>
          <a:xfrm rot="10800000" flipV="1">
            <a:off x="1252330" y="1521086"/>
            <a:ext cx="9104244" cy="1275241"/>
          </a:xfrm>
          <a:prstGeom prst="curvedDownArrow">
            <a:avLst>
              <a:gd name="adj1" fmla="val 6269"/>
              <a:gd name="adj2" fmla="val 42741"/>
              <a:gd name="adj3" fmla="val 17362"/>
            </a:avLst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schemeClr val="tx1"/>
              </a:solidFill>
            </a:endParaRPr>
          </a:p>
        </p:txBody>
      </p:sp>
      <p:sp>
        <p:nvSpPr>
          <p:cNvPr id="19" name="Cylinder 18">
            <a:extLst>
              <a:ext uri="{FF2B5EF4-FFF2-40B4-BE49-F238E27FC236}">
                <a16:creationId xmlns:a16="http://schemas.microsoft.com/office/drawing/2014/main" id="{536D46D2-57A0-AB6F-35E0-BF1A099A9899}"/>
              </a:ext>
            </a:extLst>
          </p:cNvPr>
          <p:cNvSpPr/>
          <p:nvPr/>
        </p:nvSpPr>
        <p:spPr>
          <a:xfrm>
            <a:off x="4908351" y="3095043"/>
            <a:ext cx="756790" cy="580170"/>
          </a:xfrm>
          <a:prstGeom prst="can">
            <a:avLst/>
          </a:prstGeom>
          <a:ln>
            <a:solidFill>
              <a:schemeClr val="bg1">
                <a:lumMod val="9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tIns="137160" rtlCol="0" anchor="ctr"/>
          <a:lstStyle/>
          <a:p>
            <a:pPr algn="ctr">
              <a:lnSpc>
                <a:spcPts val="1100"/>
              </a:lnSpc>
            </a:pPr>
            <a:r>
              <a:rPr lang="en-US" sz="1100" dirty="0"/>
              <a:t>Provider Patient Records</a:t>
            </a:r>
          </a:p>
        </p:txBody>
      </p:sp>
      <p:sp>
        <p:nvSpPr>
          <p:cNvPr id="21" name="Cylinder 20">
            <a:extLst>
              <a:ext uri="{FF2B5EF4-FFF2-40B4-BE49-F238E27FC236}">
                <a16:creationId xmlns:a16="http://schemas.microsoft.com/office/drawing/2014/main" id="{13956229-9D63-B139-A2F5-3F3C2A29FA69}"/>
              </a:ext>
            </a:extLst>
          </p:cNvPr>
          <p:cNvSpPr/>
          <p:nvPr/>
        </p:nvSpPr>
        <p:spPr>
          <a:xfrm>
            <a:off x="1794345" y="3805972"/>
            <a:ext cx="756790" cy="585606"/>
          </a:xfrm>
          <a:prstGeom prst="can">
            <a:avLst/>
          </a:prstGeom>
          <a:ln>
            <a:solidFill>
              <a:schemeClr val="bg1">
                <a:lumMod val="9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tIns="137160" rtlCol="0" anchor="ctr"/>
          <a:lstStyle/>
          <a:p>
            <a:pPr algn="ctr">
              <a:lnSpc>
                <a:spcPts val="1100"/>
              </a:lnSpc>
            </a:pPr>
            <a:r>
              <a:rPr lang="en-US" sz="1100" dirty="0"/>
              <a:t>Payer Patient Records</a:t>
            </a:r>
          </a:p>
        </p:txBody>
      </p:sp>
      <p:sp>
        <p:nvSpPr>
          <p:cNvPr id="20" name="Rectangle 19">
            <a:extLst>
              <a:ext uri="{FF2B5EF4-FFF2-40B4-BE49-F238E27FC236}">
                <a16:creationId xmlns:a16="http://schemas.microsoft.com/office/drawing/2014/main" id="{EE7C412A-5B62-6264-6A32-DFFCDE59371E}"/>
              </a:ext>
            </a:extLst>
          </p:cNvPr>
          <p:cNvSpPr/>
          <p:nvPr/>
        </p:nvSpPr>
        <p:spPr>
          <a:xfrm>
            <a:off x="2854528" y="3184815"/>
            <a:ext cx="1543313" cy="592954"/>
          </a:xfrm>
          <a:prstGeom prst="rect">
            <a:avLst/>
          </a:prstGeom>
          <a:solidFill>
            <a:schemeClr val="accent6">
              <a:lumMod val="75000"/>
            </a:schemeClr>
          </a:solidFill>
          <a:ln>
            <a:solidFill>
              <a:schemeClr val="accent1"/>
            </a:solidFill>
          </a:ln>
        </p:spPr>
        <p:style>
          <a:lnRef idx="2">
            <a:schemeClr val="accent2">
              <a:shade val="50000"/>
            </a:schemeClr>
          </a:lnRef>
          <a:fillRef idx="1">
            <a:schemeClr val="accent2"/>
          </a:fillRef>
          <a:effectRef idx="0">
            <a:schemeClr val="accent2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600" dirty="0"/>
              <a:t>Query</a:t>
            </a:r>
          </a:p>
          <a:p>
            <a:pPr algn="ctr"/>
            <a:r>
              <a:rPr lang="en-US" sz="1200" dirty="0"/>
              <a:t>(coding gap reports)</a:t>
            </a:r>
          </a:p>
        </p:txBody>
      </p:sp>
      <p:sp>
        <p:nvSpPr>
          <p:cNvPr id="28" name="Arrow: Curved Down 27">
            <a:extLst>
              <a:ext uri="{FF2B5EF4-FFF2-40B4-BE49-F238E27FC236}">
                <a16:creationId xmlns:a16="http://schemas.microsoft.com/office/drawing/2014/main" id="{8E9F4432-D66D-294D-99BD-54818E0D47E4}"/>
              </a:ext>
            </a:extLst>
          </p:cNvPr>
          <p:cNvSpPr/>
          <p:nvPr/>
        </p:nvSpPr>
        <p:spPr>
          <a:xfrm rot="10800000">
            <a:off x="2551843" y="3777767"/>
            <a:ext cx="2208668" cy="450801"/>
          </a:xfrm>
          <a:prstGeom prst="curvedDownArrow">
            <a:avLst/>
          </a:prstGeom>
          <a:solidFill>
            <a:schemeClr val="accent6">
              <a:lumMod val="60000"/>
              <a:lumOff val="40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schemeClr val="tx1"/>
              </a:solidFill>
            </a:endParaRP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2EA186CE-825B-3521-B70F-D38AB673D109}"/>
              </a:ext>
            </a:extLst>
          </p:cNvPr>
          <p:cNvSpPr txBox="1"/>
          <p:nvPr/>
        </p:nvSpPr>
        <p:spPr>
          <a:xfrm>
            <a:off x="7423465" y="4643365"/>
            <a:ext cx="1544910" cy="523220"/>
          </a:xfrm>
          <a:prstGeom prst="rect">
            <a:avLst/>
          </a:prstGeom>
          <a:solidFill>
            <a:schemeClr val="bg2">
              <a:lumMod val="50000"/>
            </a:schemeClr>
          </a:solidFill>
        </p:spPr>
        <p:txBody>
          <a:bodyPr wrap="none" rtlCol="0">
            <a:spAutoFit/>
          </a:bodyPr>
          <a:lstStyle/>
          <a:p>
            <a:r>
              <a:rPr lang="en-US" sz="1400" dirty="0">
                <a:solidFill>
                  <a:schemeClr val="bg1"/>
                </a:solidFill>
              </a:rPr>
              <a:t>Adds Condition</a:t>
            </a:r>
          </a:p>
          <a:p>
            <a:r>
              <a:rPr lang="en-US" sz="1400" dirty="0">
                <a:solidFill>
                  <a:schemeClr val="bg1"/>
                </a:solidFill>
              </a:rPr>
              <a:t> Category Remarks</a:t>
            </a:r>
          </a:p>
        </p:txBody>
      </p:sp>
      <p:sp>
        <p:nvSpPr>
          <p:cNvPr id="32" name="TextBox 31">
            <a:extLst>
              <a:ext uri="{FF2B5EF4-FFF2-40B4-BE49-F238E27FC236}">
                <a16:creationId xmlns:a16="http://schemas.microsoft.com/office/drawing/2014/main" id="{B74EBBBC-C995-BC32-3372-FCB42C0155BD}"/>
              </a:ext>
            </a:extLst>
          </p:cNvPr>
          <p:cNvSpPr txBox="1"/>
          <p:nvPr/>
        </p:nvSpPr>
        <p:spPr>
          <a:xfrm>
            <a:off x="4440651" y="1764325"/>
            <a:ext cx="2694874" cy="523220"/>
          </a:xfrm>
          <a:prstGeom prst="rect">
            <a:avLst/>
          </a:prstGeom>
          <a:solidFill>
            <a:schemeClr val="accent4"/>
          </a:solidFill>
        </p:spPr>
        <p:txBody>
          <a:bodyPr wrap="square" rtlCol="0">
            <a:spAutoFit/>
          </a:bodyPr>
          <a:lstStyle/>
          <a:p>
            <a:r>
              <a:rPr lang="en-US" sz="1400" dirty="0">
                <a:solidFill>
                  <a:schemeClr val="bg1"/>
                </a:solidFill>
              </a:rPr>
              <a:t>Report with Condition Category Remark(s) posted to Payer</a:t>
            </a:r>
          </a:p>
        </p:txBody>
      </p:sp>
      <p:pic>
        <p:nvPicPr>
          <p:cNvPr id="31" name="Graphic 30">
            <a:extLst>
              <a:ext uri="{FF2B5EF4-FFF2-40B4-BE49-F238E27FC236}">
                <a16:creationId xmlns:a16="http://schemas.microsoft.com/office/drawing/2014/main" id="{5ABD0846-FA49-DAFC-76DD-33A9BBAE6C01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>
            <a:off x="8493469" y="2955128"/>
            <a:ext cx="659817" cy="817600"/>
          </a:xfrm>
          <a:prstGeom prst="rect">
            <a:avLst/>
          </a:prstGeom>
        </p:spPr>
      </p:pic>
      <p:sp>
        <p:nvSpPr>
          <p:cNvPr id="16" name="Rectangle 15">
            <a:extLst>
              <a:ext uri="{FF2B5EF4-FFF2-40B4-BE49-F238E27FC236}">
                <a16:creationId xmlns:a16="http://schemas.microsoft.com/office/drawing/2014/main" id="{CE16FF7B-4CD0-5A44-8F90-DA7BDE3CC149}"/>
              </a:ext>
            </a:extLst>
          </p:cNvPr>
          <p:cNvSpPr/>
          <p:nvPr/>
        </p:nvSpPr>
        <p:spPr>
          <a:xfrm>
            <a:off x="6926893" y="3819592"/>
            <a:ext cx="1317390" cy="474779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200" dirty="0"/>
              <a:t>Provider has visit with patient</a:t>
            </a:r>
          </a:p>
        </p:txBody>
      </p:sp>
      <p:cxnSp>
        <p:nvCxnSpPr>
          <p:cNvPr id="48" name="Straight Arrow Connector 47">
            <a:extLst>
              <a:ext uri="{FF2B5EF4-FFF2-40B4-BE49-F238E27FC236}">
                <a16:creationId xmlns:a16="http://schemas.microsoft.com/office/drawing/2014/main" id="{C50C3896-7E46-C47A-DA75-4DDE6C87D465}"/>
              </a:ext>
            </a:extLst>
          </p:cNvPr>
          <p:cNvCxnSpPr>
            <a:cxnSpLocks/>
          </p:cNvCxnSpPr>
          <p:nvPr/>
        </p:nvCxnSpPr>
        <p:spPr>
          <a:xfrm>
            <a:off x="6918960" y="3663292"/>
            <a:ext cx="1276960" cy="0"/>
          </a:xfrm>
          <a:prstGeom prst="straightConnector1">
            <a:avLst/>
          </a:prstGeom>
          <a:ln w="38100">
            <a:solidFill>
              <a:schemeClr val="bg1">
                <a:lumMod val="75000"/>
              </a:schemeClr>
            </a:solidFill>
            <a:prstDash val="dash"/>
            <a:headEnd type="triangl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9" name="Straight Arrow Connector 48">
            <a:extLst>
              <a:ext uri="{FF2B5EF4-FFF2-40B4-BE49-F238E27FC236}">
                <a16:creationId xmlns:a16="http://schemas.microsoft.com/office/drawing/2014/main" id="{A910C229-1150-C202-3144-6773E89B73C2}"/>
              </a:ext>
            </a:extLst>
          </p:cNvPr>
          <p:cNvCxnSpPr>
            <a:cxnSpLocks/>
          </p:cNvCxnSpPr>
          <p:nvPr/>
        </p:nvCxnSpPr>
        <p:spPr>
          <a:xfrm flipH="1">
            <a:off x="6918960" y="3419084"/>
            <a:ext cx="1317390" cy="0"/>
          </a:xfrm>
          <a:prstGeom prst="straightConnector1">
            <a:avLst/>
          </a:prstGeom>
          <a:ln w="38100">
            <a:solidFill>
              <a:schemeClr val="bg1">
                <a:lumMod val="75000"/>
              </a:schemeClr>
            </a:solidFill>
            <a:prstDash val="dash"/>
            <a:headEnd type="triangl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958454795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02867A5-D536-618F-F01A-1068C18AC60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6266F26-2761-B9C0-E336-89BB02E623F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91768" y="197930"/>
            <a:ext cx="10972800" cy="1043103"/>
          </a:xfrm>
        </p:spPr>
        <p:txBody>
          <a:bodyPr/>
          <a:lstStyle/>
          <a:p>
            <a:r>
              <a:rPr lang="en-US" sz="3200" dirty="0"/>
              <a:t>Report Annotation (report-annotation-overview-payer.png)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0D26A0F7-9F20-0232-6519-FA85BE5271B6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>
          <a:xfrm>
            <a:off x="487017" y="1198744"/>
            <a:ext cx="11635356" cy="4844248"/>
          </a:xfrm>
        </p:spPr>
        <p:txBody>
          <a:bodyPr/>
          <a:lstStyle/>
          <a:p>
            <a:pPr marL="0" indent="0">
              <a:buNone/>
            </a:pPr>
            <a:r>
              <a:rPr lang="en-US" dirty="0"/>
              <a:t> </a:t>
            </a:r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898AD08B-1635-403C-72AF-F747BA766A07}"/>
              </a:ext>
            </a:extLst>
          </p:cNvPr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fld id="{6CACE926-AEF5-4BFE-8BD7-24414108CB7B}" type="slidenum">
              <a:rPr lang="en-US" altLang="en-US" smtClean="0"/>
              <a:pPr/>
              <a:t>16</a:t>
            </a:fld>
            <a:endParaRPr lang="en-US" altLang="en-US" dirty="0"/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4E7D4A73-E886-D1ED-E13B-73C2C2EB4500}"/>
              </a:ext>
            </a:extLst>
          </p:cNvPr>
          <p:cNvSpPr/>
          <p:nvPr/>
        </p:nvSpPr>
        <p:spPr>
          <a:xfrm>
            <a:off x="7236765" y="3544432"/>
            <a:ext cx="1317390" cy="1325119"/>
          </a:xfrm>
          <a:prstGeom prst="rect">
            <a:avLst/>
          </a:prstGeom>
        </p:spPr>
        <p:style>
          <a:lnRef idx="2">
            <a:schemeClr val="accent2">
              <a:shade val="50000"/>
            </a:schemeClr>
          </a:lnRef>
          <a:fillRef idx="1">
            <a:schemeClr val="accent2"/>
          </a:fillRef>
          <a:effectRef idx="0">
            <a:schemeClr val="accent2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400" dirty="0"/>
              <a:t>Condition Category Remark  added to coding gap report</a:t>
            </a:r>
          </a:p>
        </p:txBody>
      </p:sp>
      <p:sp>
        <p:nvSpPr>
          <p:cNvPr id="23" name="TextBox 22">
            <a:extLst>
              <a:ext uri="{FF2B5EF4-FFF2-40B4-BE49-F238E27FC236}">
                <a16:creationId xmlns:a16="http://schemas.microsoft.com/office/drawing/2014/main" id="{45968C8A-9758-5001-8217-ACC973CB2FAC}"/>
              </a:ext>
            </a:extLst>
          </p:cNvPr>
          <p:cNvSpPr txBox="1"/>
          <p:nvPr/>
        </p:nvSpPr>
        <p:spPr>
          <a:xfrm>
            <a:off x="4187112" y="4795305"/>
            <a:ext cx="1597650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 defTabSz="609585" fontAlgn="base">
              <a:spcBef>
                <a:spcPct val="0"/>
              </a:spcBef>
              <a:spcAft>
                <a:spcPct val="0"/>
              </a:spcAft>
              <a:defRPr/>
            </a:pPr>
            <a:r>
              <a:rPr lang="en-US" sz="1200" b="1" dirty="0">
                <a:solidFill>
                  <a:srgbClr val="F79646">
                    <a:lumMod val="50000"/>
                  </a:srgbClr>
                </a:solidFill>
                <a:latin typeface="Arial"/>
                <a:ea typeface="ヒラギノ角ゴ Pro W3" pitchFamily="-126" charset="-128"/>
              </a:rPr>
              <a:t>Payer’s System, Payer’s Risk Adjustment Coder</a:t>
            </a:r>
          </a:p>
        </p:txBody>
      </p:sp>
      <p:pic>
        <p:nvPicPr>
          <p:cNvPr id="24" name="Graphic 23">
            <a:extLst>
              <a:ext uri="{FF2B5EF4-FFF2-40B4-BE49-F238E27FC236}">
                <a16:creationId xmlns:a16="http://schemas.microsoft.com/office/drawing/2014/main" id="{258061D0-CEA4-663A-C9EA-594F8FFBFA21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975629" y="4409878"/>
            <a:ext cx="814124" cy="691379"/>
          </a:xfrm>
          <a:prstGeom prst="rect">
            <a:avLst/>
          </a:prstGeom>
        </p:spPr>
      </p:pic>
      <p:sp>
        <p:nvSpPr>
          <p:cNvPr id="26" name="TextBox 25">
            <a:extLst>
              <a:ext uri="{FF2B5EF4-FFF2-40B4-BE49-F238E27FC236}">
                <a16:creationId xmlns:a16="http://schemas.microsoft.com/office/drawing/2014/main" id="{5396A099-28DD-5F37-1FDF-16E59CB03608}"/>
              </a:ext>
            </a:extLst>
          </p:cNvPr>
          <p:cNvSpPr txBox="1"/>
          <p:nvPr/>
        </p:nvSpPr>
        <p:spPr>
          <a:xfrm>
            <a:off x="1106743" y="5136037"/>
            <a:ext cx="1366020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 defTabSz="609585" fontAlgn="base">
              <a:spcBef>
                <a:spcPct val="0"/>
              </a:spcBef>
              <a:spcAft>
                <a:spcPct val="0"/>
              </a:spcAft>
              <a:defRPr/>
            </a:pPr>
            <a:r>
              <a:rPr lang="en-US" sz="1200" b="1" dirty="0">
                <a:solidFill>
                  <a:srgbClr val="F79646">
                    <a:lumMod val="50000"/>
                  </a:srgbClr>
                </a:solidFill>
                <a:latin typeface="Arial"/>
                <a:ea typeface="ヒラギノ角ゴ Pro W3" pitchFamily="-126" charset="-128"/>
              </a:rPr>
              <a:t>Payer</a:t>
            </a:r>
          </a:p>
        </p:txBody>
      </p:sp>
      <p:sp>
        <p:nvSpPr>
          <p:cNvPr id="27" name="Rectangle 26">
            <a:extLst>
              <a:ext uri="{FF2B5EF4-FFF2-40B4-BE49-F238E27FC236}">
                <a16:creationId xmlns:a16="http://schemas.microsoft.com/office/drawing/2014/main" id="{80706B92-680B-9A25-6E79-F26DC217295E}"/>
              </a:ext>
            </a:extLst>
          </p:cNvPr>
          <p:cNvSpPr/>
          <p:nvPr/>
        </p:nvSpPr>
        <p:spPr>
          <a:xfrm>
            <a:off x="942292" y="3544432"/>
            <a:ext cx="1694923" cy="592953"/>
          </a:xfrm>
          <a:prstGeom prst="rect">
            <a:avLst/>
          </a:prstGeom>
          <a:solidFill>
            <a:schemeClr val="accent1"/>
          </a:solidFill>
          <a:ln>
            <a:solidFill>
              <a:schemeClr val="accent1"/>
            </a:solidFill>
          </a:ln>
        </p:spPr>
        <p:style>
          <a:lnRef idx="2">
            <a:schemeClr val="accent2">
              <a:shade val="50000"/>
            </a:schemeClr>
          </a:lnRef>
          <a:fillRef idx="1">
            <a:schemeClr val="accent2"/>
          </a:fillRef>
          <a:effectRef idx="0">
            <a:schemeClr val="accent2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600" dirty="0"/>
              <a:t>Generation</a:t>
            </a:r>
          </a:p>
          <a:p>
            <a:pPr algn="ctr"/>
            <a:r>
              <a:rPr lang="en-US" sz="1200" dirty="0"/>
              <a:t>(coding gap reports)</a:t>
            </a:r>
          </a:p>
        </p:txBody>
      </p:sp>
      <p:sp>
        <p:nvSpPr>
          <p:cNvPr id="30" name="Arrow: Curved Down 29">
            <a:extLst>
              <a:ext uri="{FF2B5EF4-FFF2-40B4-BE49-F238E27FC236}">
                <a16:creationId xmlns:a16="http://schemas.microsoft.com/office/drawing/2014/main" id="{3C139245-0A51-C71C-BEB5-667C9F847A35}"/>
              </a:ext>
            </a:extLst>
          </p:cNvPr>
          <p:cNvSpPr/>
          <p:nvPr/>
        </p:nvSpPr>
        <p:spPr>
          <a:xfrm rot="10800000" flipV="1">
            <a:off x="1555830" y="2239684"/>
            <a:ext cx="6510627" cy="1267615"/>
          </a:xfrm>
          <a:prstGeom prst="curvedDownArrow">
            <a:avLst>
              <a:gd name="adj1" fmla="val 6269"/>
              <a:gd name="adj2" fmla="val 57606"/>
              <a:gd name="adj3" fmla="val 17362"/>
            </a:avLst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schemeClr val="tx1"/>
              </a:solidFill>
            </a:endParaRPr>
          </a:p>
        </p:txBody>
      </p:sp>
      <p:sp>
        <p:nvSpPr>
          <p:cNvPr id="21" name="Cylinder 20">
            <a:extLst>
              <a:ext uri="{FF2B5EF4-FFF2-40B4-BE49-F238E27FC236}">
                <a16:creationId xmlns:a16="http://schemas.microsoft.com/office/drawing/2014/main" id="{62C3E3D0-04F3-7EA9-C4E2-547AB7A8A6D3}"/>
              </a:ext>
            </a:extLst>
          </p:cNvPr>
          <p:cNvSpPr/>
          <p:nvPr/>
        </p:nvSpPr>
        <p:spPr>
          <a:xfrm>
            <a:off x="1969136" y="4461379"/>
            <a:ext cx="756790" cy="585606"/>
          </a:xfrm>
          <a:prstGeom prst="can">
            <a:avLst/>
          </a:prstGeom>
          <a:ln>
            <a:solidFill>
              <a:schemeClr val="bg1">
                <a:lumMod val="9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tIns="137160" rtlCol="0" anchor="ctr"/>
          <a:lstStyle/>
          <a:p>
            <a:pPr algn="ctr">
              <a:lnSpc>
                <a:spcPts val="1100"/>
              </a:lnSpc>
            </a:pPr>
            <a:r>
              <a:rPr lang="en-US" sz="1100" dirty="0"/>
              <a:t>Payer Patient Records</a:t>
            </a:r>
          </a:p>
        </p:txBody>
      </p:sp>
      <p:sp>
        <p:nvSpPr>
          <p:cNvPr id="32" name="TextBox 31">
            <a:extLst>
              <a:ext uri="{FF2B5EF4-FFF2-40B4-BE49-F238E27FC236}">
                <a16:creationId xmlns:a16="http://schemas.microsoft.com/office/drawing/2014/main" id="{CEF3BA73-AA11-CA17-C147-3F0FF19EE564}"/>
              </a:ext>
            </a:extLst>
          </p:cNvPr>
          <p:cNvSpPr txBox="1"/>
          <p:nvPr/>
        </p:nvSpPr>
        <p:spPr>
          <a:xfrm>
            <a:off x="3914279" y="2576476"/>
            <a:ext cx="2181721" cy="738664"/>
          </a:xfrm>
          <a:prstGeom prst="rect">
            <a:avLst/>
          </a:prstGeom>
          <a:solidFill>
            <a:schemeClr val="accent4"/>
          </a:solidFill>
        </p:spPr>
        <p:txBody>
          <a:bodyPr wrap="square" rtlCol="0">
            <a:spAutoFit/>
          </a:bodyPr>
          <a:lstStyle/>
          <a:p>
            <a:pPr algn="ctr"/>
            <a:r>
              <a:rPr lang="en-US" sz="1400" dirty="0">
                <a:solidFill>
                  <a:schemeClr val="bg1"/>
                </a:solidFill>
              </a:rPr>
              <a:t>Report with Condition Category Remark(s) posted on Payer’s System</a:t>
            </a:r>
          </a:p>
        </p:txBody>
      </p:sp>
      <p:pic>
        <p:nvPicPr>
          <p:cNvPr id="10" name="Graphic 9">
            <a:extLst>
              <a:ext uri="{FF2B5EF4-FFF2-40B4-BE49-F238E27FC236}">
                <a16:creationId xmlns:a16="http://schemas.microsoft.com/office/drawing/2014/main" id="{D5408EBC-21A9-36D0-6ABA-F2B540337F82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4605485" y="3755324"/>
            <a:ext cx="659817" cy="817600"/>
          </a:xfrm>
          <a:prstGeom prst="rect">
            <a:avLst/>
          </a:prstGeom>
        </p:spPr>
      </p:pic>
      <p:sp>
        <p:nvSpPr>
          <p:cNvPr id="4" name="Arrow: Right 3">
            <a:extLst>
              <a:ext uri="{FF2B5EF4-FFF2-40B4-BE49-F238E27FC236}">
                <a16:creationId xmlns:a16="http://schemas.microsoft.com/office/drawing/2014/main" id="{92DBF2F1-E9A6-42C7-0CE5-B2C2E3330B92}"/>
              </a:ext>
            </a:extLst>
          </p:cNvPr>
          <p:cNvSpPr/>
          <p:nvPr/>
        </p:nvSpPr>
        <p:spPr>
          <a:xfrm>
            <a:off x="5357207" y="3992500"/>
            <a:ext cx="1787654" cy="334042"/>
          </a:xfrm>
          <a:prstGeom prst="rightArrow">
            <a:avLst/>
          </a:prstGeom>
          <a:solidFill>
            <a:schemeClr val="accent2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2" name="Arrow: Curved Down 11">
            <a:extLst>
              <a:ext uri="{FF2B5EF4-FFF2-40B4-BE49-F238E27FC236}">
                <a16:creationId xmlns:a16="http://schemas.microsoft.com/office/drawing/2014/main" id="{2F809343-0D15-2423-BB78-943837E761A3}"/>
              </a:ext>
            </a:extLst>
          </p:cNvPr>
          <p:cNvSpPr/>
          <p:nvPr/>
        </p:nvSpPr>
        <p:spPr>
          <a:xfrm rot="311474">
            <a:off x="2641080" y="3400255"/>
            <a:ext cx="2089946" cy="599230"/>
          </a:xfrm>
          <a:prstGeom prst="curvedDownArrow">
            <a:avLst/>
          </a:prstGeom>
          <a:solidFill>
            <a:schemeClr val="accent6">
              <a:lumMod val="60000"/>
              <a:lumOff val="40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schemeClr val="tx1"/>
              </a:solidFill>
            </a:endParaRPr>
          </a:p>
        </p:txBody>
      </p:sp>
      <p:sp>
        <p:nvSpPr>
          <p:cNvPr id="14" name="Rectangle 13">
            <a:extLst>
              <a:ext uri="{FF2B5EF4-FFF2-40B4-BE49-F238E27FC236}">
                <a16:creationId xmlns:a16="http://schemas.microsoft.com/office/drawing/2014/main" id="{6E8200C3-5510-8255-EE44-3911CDE001AC}"/>
              </a:ext>
            </a:extLst>
          </p:cNvPr>
          <p:cNvSpPr/>
          <p:nvPr/>
        </p:nvSpPr>
        <p:spPr>
          <a:xfrm>
            <a:off x="3142948" y="3833930"/>
            <a:ext cx="1044164" cy="592954"/>
          </a:xfrm>
          <a:prstGeom prst="rect">
            <a:avLst/>
          </a:prstGeom>
          <a:solidFill>
            <a:schemeClr val="accent6">
              <a:lumMod val="75000"/>
            </a:schemeClr>
          </a:solidFill>
          <a:ln>
            <a:solidFill>
              <a:schemeClr val="accent1"/>
            </a:solidFill>
          </a:ln>
        </p:spPr>
        <p:style>
          <a:lnRef idx="2">
            <a:schemeClr val="accent2">
              <a:shade val="50000"/>
            </a:schemeClr>
          </a:lnRef>
          <a:fillRef idx="1">
            <a:schemeClr val="accent2"/>
          </a:fillRef>
          <a:effectRef idx="0">
            <a:schemeClr val="accent2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600" dirty="0"/>
              <a:t>Query</a:t>
            </a:r>
          </a:p>
          <a:p>
            <a:pPr algn="ctr"/>
            <a:r>
              <a:rPr lang="en-US" sz="1200" dirty="0"/>
              <a:t>(coding gap reports)</a:t>
            </a:r>
          </a:p>
        </p:txBody>
      </p:sp>
      <p:sp>
        <p:nvSpPr>
          <p:cNvPr id="15" name="Arrow: Curved Down 14">
            <a:extLst>
              <a:ext uri="{FF2B5EF4-FFF2-40B4-BE49-F238E27FC236}">
                <a16:creationId xmlns:a16="http://schemas.microsoft.com/office/drawing/2014/main" id="{9EB427E0-0033-C363-9861-637A8AC2D25D}"/>
              </a:ext>
            </a:extLst>
          </p:cNvPr>
          <p:cNvSpPr/>
          <p:nvPr/>
        </p:nvSpPr>
        <p:spPr>
          <a:xfrm rot="11238495">
            <a:off x="2469239" y="4205947"/>
            <a:ext cx="2060032" cy="594363"/>
          </a:xfrm>
          <a:prstGeom prst="curvedDownArrow">
            <a:avLst/>
          </a:prstGeom>
          <a:solidFill>
            <a:schemeClr val="accent6">
              <a:lumMod val="60000"/>
              <a:lumOff val="40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schemeClr val="tx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4149470650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6992073-D200-42E0-9FB9-A038AA6450B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18196" y="234882"/>
            <a:ext cx="10972800" cy="1043103"/>
          </a:xfrm>
        </p:spPr>
        <p:txBody>
          <a:bodyPr/>
          <a:lstStyle/>
          <a:p>
            <a:r>
              <a:rPr lang="en-US" dirty="0"/>
              <a:t>Three Stages Overview - Generation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9A34AC66-A8B9-4352-A5F1-CFA56745734D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>
          <a:xfrm>
            <a:off x="1150529" y="2015845"/>
            <a:ext cx="10971844" cy="4501401"/>
          </a:xfrm>
        </p:spPr>
        <p:txBody>
          <a:bodyPr/>
          <a:lstStyle/>
          <a:p>
            <a:pPr marL="0" indent="0">
              <a:buNone/>
            </a:pPr>
            <a:r>
              <a:rPr lang="en-US" dirty="0"/>
              <a:t> </a:t>
            </a:r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9B90074F-DE65-45EB-9571-9D3C185F2116}"/>
              </a:ext>
            </a:extLst>
          </p:cNvPr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fld id="{6CACE926-AEF5-4BFE-8BD7-24414108CB7B}" type="slidenum">
              <a:rPr lang="en-US" altLang="en-US" smtClean="0"/>
              <a:pPr/>
              <a:t>17</a:t>
            </a:fld>
            <a:endParaRPr lang="en-US" altLang="en-US" dirty="0"/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AA5AC8FB-912D-43A8-8D0F-F9254F59B281}"/>
              </a:ext>
            </a:extLst>
          </p:cNvPr>
          <p:cNvSpPr/>
          <p:nvPr/>
        </p:nvSpPr>
        <p:spPr>
          <a:xfrm>
            <a:off x="6889475" y="3079074"/>
            <a:ext cx="1543313" cy="622319"/>
          </a:xfrm>
          <a:prstGeom prst="rect">
            <a:avLst/>
          </a:prstGeom>
        </p:spPr>
        <p:style>
          <a:lnRef idx="2">
            <a:schemeClr val="accent2">
              <a:shade val="50000"/>
            </a:schemeClr>
          </a:lnRef>
          <a:fillRef idx="1">
            <a:schemeClr val="accent2"/>
          </a:fillRef>
          <a:effectRef idx="0">
            <a:schemeClr val="accent2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600" dirty="0"/>
              <a:t>Remediation</a:t>
            </a:r>
          </a:p>
          <a:p>
            <a:pPr algn="ctr"/>
            <a:r>
              <a:rPr lang="en-US" sz="1200" dirty="0"/>
              <a:t>(gap closure/ invalidation)</a:t>
            </a:r>
          </a:p>
        </p:txBody>
      </p:sp>
      <p:pic>
        <p:nvPicPr>
          <p:cNvPr id="17" name="Graphic 16">
            <a:extLst>
              <a:ext uri="{FF2B5EF4-FFF2-40B4-BE49-F238E27FC236}">
                <a16:creationId xmlns:a16="http://schemas.microsoft.com/office/drawing/2014/main" id="{5711CF3B-BEF6-4360-AD34-59E17D963A15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5879149" y="3059160"/>
            <a:ext cx="659817" cy="996459"/>
          </a:xfrm>
          <a:prstGeom prst="rect">
            <a:avLst/>
          </a:prstGeom>
        </p:spPr>
      </p:pic>
      <p:pic>
        <p:nvPicPr>
          <p:cNvPr id="18" name="Graphic 17">
            <a:extLst>
              <a:ext uri="{FF2B5EF4-FFF2-40B4-BE49-F238E27FC236}">
                <a16:creationId xmlns:a16="http://schemas.microsoft.com/office/drawing/2014/main" id="{28AEFE85-7684-4B09-9315-5EAC7B7C9E5F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8650860" y="2968907"/>
            <a:ext cx="659817" cy="817600"/>
          </a:xfrm>
          <a:prstGeom prst="rect">
            <a:avLst/>
          </a:prstGeom>
        </p:spPr>
      </p:pic>
      <p:sp>
        <p:nvSpPr>
          <p:cNvPr id="22" name="TextBox 21">
            <a:extLst>
              <a:ext uri="{FF2B5EF4-FFF2-40B4-BE49-F238E27FC236}">
                <a16:creationId xmlns:a16="http://schemas.microsoft.com/office/drawing/2014/main" id="{556B9B98-30EF-4669-8230-213DA7EB59F6}"/>
              </a:ext>
            </a:extLst>
          </p:cNvPr>
          <p:cNvSpPr txBox="1"/>
          <p:nvPr/>
        </p:nvSpPr>
        <p:spPr>
          <a:xfrm>
            <a:off x="8395503" y="3812355"/>
            <a:ext cx="1366020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 defTabSz="609585" fontAlgn="base">
              <a:spcBef>
                <a:spcPct val="0"/>
              </a:spcBef>
              <a:spcAft>
                <a:spcPct val="0"/>
              </a:spcAft>
              <a:defRPr/>
            </a:pPr>
            <a:r>
              <a:rPr lang="en-US" sz="1200" b="1" dirty="0">
                <a:solidFill>
                  <a:srgbClr val="F79646">
                    <a:lumMod val="50000"/>
                  </a:srgbClr>
                </a:solidFill>
                <a:latin typeface="Arial"/>
                <a:ea typeface="ヒラギノ角ゴ Pro W3" pitchFamily="-126" charset="-128"/>
              </a:rPr>
              <a:t>Risk Adjustment Coder</a:t>
            </a:r>
          </a:p>
        </p:txBody>
      </p:sp>
      <p:sp>
        <p:nvSpPr>
          <p:cNvPr id="23" name="TextBox 22">
            <a:extLst>
              <a:ext uri="{FF2B5EF4-FFF2-40B4-BE49-F238E27FC236}">
                <a16:creationId xmlns:a16="http://schemas.microsoft.com/office/drawing/2014/main" id="{BE5FA384-4166-4E2C-B2D7-3515E331E8E3}"/>
              </a:ext>
            </a:extLst>
          </p:cNvPr>
          <p:cNvSpPr txBox="1"/>
          <p:nvPr/>
        </p:nvSpPr>
        <p:spPr>
          <a:xfrm>
            <a:off x="5621586" y="4055619"/>
            <a:ext cx="1366020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 defTabSz="609585" fontAlgn="base">
              <a:spcBef>
                <a:spcPct val="0"/>
              </a:spcBef>
              <a:spcAft>
                <a:spcPct val="0"/>
              </a:spcAft>
              <a:defRPr/>
            </a:pPr>
            <a:r>
              <a:rPr lang="en-US" sz="1200" b="1" dirty="0">
                <a:solidFill>
                  <a:srgbClr val="F79646">
                    <a:lumMod val="50000"/>
                  </a:srgbClr>
                </a:solidFill>
                <a:latin typeface="Arial"/>
                <a:ea typeface="ヒラギノ角ゴ Pro W3" pitchFamily="-126" charset="-128"/>
              </a:rPr>
              <a:t>Provider</a:t>
            </a:r>
          </a:p>
        </p:txBody>
      </p:sp>
      <p:pic>
        <p:nvPicPr>
          <p:cNvPr id="24" name="Graphic 23">
            <a:extLst>
              <a:ext uri="{FF2B5EF4-FFF2-40B4-BE49-F238E27FC236}">
                <a16:creationId xmlns:a16="http://schemas.microsoft.com/office/drawing/2014/main" id="{5F02176F-6C48-4B66-BF46-F739D8F9F52D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>
            <a:off x="3657128" y="2990139"/>
            <a:ext cx="814124" cy="691379"/>
          </a:xfrm>
          <a:prstGeom prst="rect">
            <a:avLst/>
          </a:prstGeom>
        </p:spPr>
      </p:pic>
      <p:sp>
        <p:nvSpPr>
          <p:cNvPr id="25" name="Rectangle 24">
            <a:extLst>
              <a:ext uri="{FF2B5EF4-FFF2-40B4-BE49-F238E27FC236}">
                <a16:creationId xmlns:a16="http://schemas.microsoft.com/office/drawing/2014/main" id="{8A5124E1-3137-4951-955F-06EAED810031}"/>
              </a:ext>
            </a:extLst>
          </p:cNvPr>
          <p:cNvSpPr/>
          <p:nvPr/>
        </p:nvSpPr>
        <p:spPr>
          <a:xfrm>
            <a:off x="3280817" y="3925227"/>
            <a:ext cx="1543313" cy="592954"/>
          </a:xfrm>
          <a:prstGeom prst="rect">
            <a:avLst/>
          </a:prstGeom>
          <a:solidFill>
            <a:schemeClr val="accent6">
              <a:lumMod val="75000"/>
            </a:schemeClr>
          </a:solidFill>
          <a:ln>
            <a:solidFill>
              <a:schemeClr val="accent1"/>
            </a:solidFill>
          </a:ln>
        </p:spPr>
        <p:style>
          <a:lnRef idx="2">
            <a:schemeClr val="accent2">
              <a:shade val="50000"/>
            </a:schemeClr>
          </a:lnRef>
          <a:fillRef idx="1">
            <a:schemeClr val="accent2"/>
          </a:fillRef>
          <a:effectRef idx="0">
            <a:schemeClr val="accent2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600" dirty="0"/>
              <a:t>Resolution</a:t>
            </a:r>
          </a:p>
          <a:p>
            <a:pPr algn="ctr"/>
            <a:r>
              <a:rPr lang="en-US" sz="1200" dirty="0"/>
              <a:t>(resolve gap closure/ invalidation)</a:t>
            </a:r>
          </a:p>
        </p:txBody>
      </p:sp>
      <p:sp>
        <p:nvSpPr>
          <p:cNvPr id="26" name="TextBox 25">
            <a:extLst>
              <a:ext uri="{FF2B5EF4-FFF2-40B4-BE49-F238E27FC236}">
                <a16:creationId xmlns:a16="http://schemas.microsoft.com/office/drawing/2014/main" id="{1DE39854-6D80-4F9E-9853-5D038F217BF8}"/>
              </a:ext>
            </a:extLst>
          </p:cNvPr>
          <p:cNvSpPr txBox="1"/>
          <p:nvPr/>
        </p:nvSpPr>
        <p:spPr>
          <a:xfrm>
            <a:off x="3394769" y="3613543"/>
            <a:ext cx="1366020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 defTabSz="609585" fontAlgn="base">
              <a:spcBef>
                <a:spcPct val="0"/>
              </a:spcBef>
              <a:spcAft>
                <a:spcPct val="0"/>
              </a:spcAft>
              <a:defRPr/>
            </a:pPr>
            <a:r>
              <a:rPr lang="en-US" sz="1200" b="1" dirty="0">
                <a:solidFill>
                  <a:srgbClr val="F79646">
                    <a:lumMod val="50000"/>
                  </a:srgbClr>
                </a:solidFill>
                <a:latin typeface="Arial"/>
                <a:ea typeface="ヒラギノ角ゴ Pro W3" pitchFamily="-126" charset="-128"/>
              </a:rPr>
              <a:t>Payer</a:t>
            </a:r>
          </a:p>
        </p:txBody>
      </p:sp>
      <p:sp>
        <p:nvSpPr>
          <p:cNvPr id="27" name="Rectangle 26">
            <a:extLst>
              <a:ext uri="{FF2B5EF4-FFF2-40B4-BE49-F238E27FC236}">
                <a16:creationId xmlns:a16="http://schemas.microsoft.com/office/drawing/2014/main" id="{8E8DBBBD-C24E-42EF-A9CA-89667C8C2403}"/>
              </a:ext>
            </a:extLst>
          </p:cNvPr>
          <p:cNvSpPr/>
          <p:nvPr/>
        </p:nvSpPr>
        <p:spPr>
          <a:xfrm>
            <a:off x="3280816" y="2279145"/>
            <a:ext cx="1543313" cy="592953"/>
          </a:xfrm>
          <a:prstGeom prst="rect">
            <a:avLst/>
          </a:prstGeom>
          <a:solidFill>
            <a:schemeClr val="accent1"/>
          </a:solidFill>
          <a:ln>
            <a:solidFill>
              <a:schemeClr val="accent1"/>
            </a:solidFill>
          </a:ln>
        </p:spPr>
        <p:style>
          <a:lnRef idx="2">
            <a:schemeClr val="accent2">
              <a:shade val="50000"/>
            </a:schemeClr>
          </a:lnRef>
          <a:fillRef idx="1">
            <a:schemeClr val="accent2"/>
          </a:fillRef>
          <a:effectRef idx="0">
            <a:schemeClr val="accent2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600" dirty="0"/>
              <a:t>Generation</a:t>
            </a:r>
          </a:p>
          <a:p>
            <a:pPr algn="ctr"/>
            <a:r>
              <a:rPr lang="en-US" sz="1200" dirty="0"/>
              <a:t>(coding gap reports)</a:t>
            </a:r>
          </a:p>
        </p:txBody>
      </p:sp>
      <p:sp>
        <p:nvSpPr>
          <p:cNvPr id="13" name="Arrow: Curved Down 12">
            <a:extLst>
              <a:ext uri="{FF2B5EF4-FFF2-40B4-BE49-F238E27FC236}">
                <a16:creationId xmlns:a16="http://schemas.microsoft.com/office/drawing/2014/main" id="{049F932E-55AF-455D-B792-48B4E9AA466D}"/>
              </a:ext>
            </a:extLst>
          </p:cNvPr>
          <p:cNvSpPr/>
          <p:nvPr/>
        </p:nvSpPr>
        <p:spPr>
          <a:xfrm rot="10800000">
            <a:off x="4599339" y="4631986"/>
            <a:ext cx="2858983" cy="731521"/>
          </a:xfrm>
          <a:prstGeom prst="curvedDownArrow">
            <a:avLst/>
          </a:prstGeom>
          <a:solidFill>
            <a:schemeClr val="accent6">
              <a:lumMod val="60000"/>
              <a:lumOff val="40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schemeClr val="tx1"/>
              </a:solidFill>
            </a:endParaRPr>
          </a:p>
        </p:txBody>
      </p:sp>
      <p:sp>
        <p:nvSpPr>
          <p:cNvPr id="29" name="Arrow: Curved Down 28">
            <a:extLst>
              <a:ext uri="{FF2B5EF4-FFF2-40B4-BE49-F238E27FC236}">
                <a16:creationId xmlns:a16="http://schemas.microsoft.com/office/drawing/2014/main" id="{D00F570A-3214-4CAE-B8CE-88B13114B2C2}"/>
              </a:ext>
            </a:extLst>
          </p:cNvPr>
          <p:cNvSpPr/>
          <p:nvPr/>
        </p:nvSpPr>
        <p:spPr>
          <a:xfrm>
            <a:off x="4599340" y="1436739"/>
            <a:ext cx="2957656" cy="771278"/>
          </a:xfrm>
          <a:prstGeom prst="curvedDownArrow">
            <a:avLst/>
          </a:prstGeom>
          <a:solidFill>
            <a:schemeClr val="accent6">
              <a:lumMod val="60000"/>
              <a:lumOff val="40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schemeClr val="tx1"/>
              </a:solidFill>
            </a:endParaRPr>
          </a:p>
        </p:txBody>
      </p:sp>
      <p:sp>
        <p:nvSpPr>
          <p:cNvPr id="15" name="Arrow: Curved Down 14">
            <a:extLst>
              <a:ext uri="{FF2B5EF4-FFF2-40B4-BE49-F238E27FC236}">
                <a16:creationId xmlns:a16="http://schemas.microsoft.com/office/drawing/2014/main" id="{064DA815-2EBC-40F6-83F6-36524558366D}"/>
              </a:ext>
            </a:extLst>
          </p:cNvPr>
          <p:cNvSpPr/>
          <p:nvPr/>
        </p:nvSpPr>
        <p:spPr>
          <a:xfrm>
            <a:off x="6583147" y="2258619"/>
            <a:ext cx="2067713" cy="731520"/>
          </a:xfrm>
          <a:prstGeom prst="curvedDownArrow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schemeClr val="tx1"/>
              </a:solidFill>
            </a:endParaRPr>
          </a:p>
        </p:txBody>
      </p:sp>
      <p:sp>
        <p:nvSpPr>
          <p:cNvPr id="30" name="Arrow: Curved Down 29">
            <a:extLst>
              <a:ext uri="{FF2B5EF4-FFF2-40B4-BE49-F238E27FC236}">
                <a16:creationId xmlns:a16="http://schemas.microsoft.com/office/drawing/2014/main" id="{3AAE86C9-836A-465E-A80A-5ECC827E88FF}"/>
              </a:ext>
            </a:extLst>
          </p:cNvPr>
          <p:cNvSpPr/>
          <p:nvPr/>
        </p:nvSpPr>
        <p:spPr>
          <a:xfrm rot="10800000">
            <a:off x="6553284" y="3742776"/>
            <a:ext cx="2053395" cy="731520"/>
          </a:xfrm>
          <a:prstGeom prst="curvedDownArrow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schemeClr val="tx1"/>
              </a:solidFill>
            </a:endParaRPr>
          </a:p>
        </p:txBody>
      </p:sp>
      <p:sp>
        <p:nvSpPr>
          <p:cNvPr id="19" name="Cylinder 18">
            <a:extLst>
              <a:ext uri="{FF2B5EF4-FFF2-40B4-BE49-F238E27FC236}">
                <a16:creationId xmlns:a16="http://schemas.microsoft.com/office/drawing/2014/main" id="{A34C4C6E-6266-4911-B02E-527883FB1971}"/>
              </a:ext>
            </a:extLst>
          </p:cNvPr>
          <p:cNvSpPr/>
          <p:nvPr/>
        </p:nvSpPr>
        <p:spPr>
          <a:xfrm>
            <a:off x="7253159" y="3818451"/>
            <a:ext cx="756790" cy="580170"/>
          </a:xfrm>
          <a:prstGeom prst="can">
            <a:avLst/>
          </a:prstGeom>
          <a:ln>
            <a:solidFill>
              <a:schemeClr val="bg1">
                <a:lumMod val="9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tIns="137160" rtlCol="0" anchor="ctr"/>
          <a:lstStyle/>
          <a:p>
            <a:pPr algn="ctr">
              <a:lnSpc>
                <a:spcPts val="1100"/>
              </a:lnSpc>
            </a:pPr>
            <a:r>
              <a:rPr lang="en-US" sz="1100" dirty="0"/>
              <a:t>Provider Patient Records</a:t>
            </a:r>
          </a:p>
        </p:txBody>
      </p:sp>
      <p:sp>
        <p:nvSpPr>
          <p:cNvPr id="21" name="Cylinder 20">
            <a:extLst>
              <a:ext uri="{FF2B5EF4-FFF2-40B4-BE49-F238E27FC236}">
                <a16:creationId xmlns:a16="http://schemas.microsoft.com/office/drawing/2014/main" id="{D3F92A35-7AE5-4F27-9E30-1FA04160C44D}"/>
              </a:ext>
            </a:extLst>
          </p:cNvPr>
          <p:cNvSpPr/>
          <p:nvPr/>
        </p:nvSpPr>
        <p:spPr>
          <a:xfrm>
            <a:off x="2831781" y="3157170"/>
            <a:ext cx="756790" cy="585606"/>
          </a:xfrm>
          <a:prstGeom prst="can">
            <a:avLst/>
          </a:prstGeom>
          <a:ln>
            <a:solidFill>
              <a:schemeClr val="bg1">
                <a:lumMod val="9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tIns="137160" rtlCol="0" anchor="ctr"/>
          <a:lstStyle/>
          <a:p>
            <a:pPr algn="ctr">
              <a:lnSpc>
                <a:spcPts val="1100"/>
              </a:lnSpc>
            </a:pPr>
            <a:r>
              <a:rPr lang="en-US" sz="1100" dirty="0"/>
              <a:t>Payer Patient Records</a:t>
            </a:r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C5CFA419-6A06-4317-9EFB-741716A96473}"/>
              </a:ext>
            </a:extLst>
          </p:cNvPr>
          <p:cNvSpPr/>
          <p:nvPr/>
        </p:nvSpPr>
        <p:spPr>
          <a:xfrm>
            <a:off x="2586617" y="1708323"/>
            <a:ext cx="2740054" cy="2153126"/>
          </a:xfrm>
          <a:prstGeom prst="rect">
            <a:avLst/>
          </a:prstGeom>
          <a:solidFill>
            <a:schemeClr val="accent4">
              <a:lumMod val="40000"/>
              <a:lumOff val="60000"/>
              <a:alpha val="12000"/>
            </a:schemeClr>
          </a:solidFill>
          <a:ln>
            <a:solidFill>
              <a:schemeClr val="accent1">
                <a:shade val="50000"/>
                <a:alpha val="25000"/>
              </a:schemeClr>
            </a:solidFill>
            <a:prstDash val="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783748565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6992073-D200-42E0-9FB9-A038AA6450B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18196" y="234882"/>
            <a:ext cx="10972800" cy="1043103"/>
          </a:xfrm>
        </p:spPr>
        <p:txBody>
          <a:bodyPr/>
          <a:lstStyle/>
          <a:p>
            <a:r>
              <a:rPr lang="en-US" dirty="0"/>
              <a:t>Three Stages Overview - Remediation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9A34AC66-A8B9-4352-A5F1-CFA56745734D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>
          <a:xfrm>
            <a:off x="1150529" y="2015845"/>
            <a:ext cx="10971844" cy="4501401"/>
          </a:xfrm>
        </p:spPr>
        <p:txBody>
          <a:bodyPr/>
          <a:lstStyle/>
          <a:p>
            <a:pPr marL="0" indent="0">
              <a:buNone/>
            </a:pPr>
            <a:r>
              <a:rPr lang="en-US" dirty="0"/>
              <a:t> </a:t>
            </a:r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9B90074F-DE65-45EB-9571-9D3C185F2116}"/>
              </a:ext>
            </a:extLst>
          </p:cNvPr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fld id="{6CACE926-AEF5-4BFE-8BD7-24414108CB7B}" type="slidenum">
              <a:rPr lang="en-US" altLang="en-US" smtClean="0"/>
              <a:pPr/>
              <a:t>18</a:t>
            </a:fld>
            <a:endParaRPr lang="en-US" altLang="en-US" dirty="0"/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AA5AC8FB-912D-43A8-8D0F-F9254F59B281}"/>
              </a:ext>
            </a:extLst>
          </p:cNvPr>
          <p:cNvSpPr/>
          <p:nvPr/>
        </p:nvSpPr>
        <p:spPr>
          <a:xfrm>
            <a:off x="6889475" y="3079074"/>
            <a:ext cx="1543313" cy="622319"/>
          </a:xfrm>
          <a:prstGeom prst="rect">
            <a:avLst/>
          </a:prstGeom>
        </p:spPr>
        <p:style>
          <a:lnRef idx="2">
            <a:schemeClr val="accent2">
              <a:shade val="50000"/>
            </a:schemeClr>
          </a:lnRef>
          <a:fillRef idx="1">
            <a:schemeClr val="accent2"/>
          </a:fillRef>
          <a:effectRef idx="0">
            <a:schemeClr val="accent2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600" dirty="0"/>
              <a:t>Remediation</a:t>
            </a:r>
          </a:p>
          <a:p>
            <a:pPr algn="ctr"/>
            <a:r>
              <a:rPr lang="en-US" sz="1200" dirty="0"/>
              <a:t>(gap closure/ invalidation)</a:t>
            </a:r>
          </a:p>
        </p:txBody>
      </p:sp>
      <p:pic>
        <p:nvPicPr>
          <p:cNvPr id="17" name="Graphic 16">
            <a:extLst>
              <a:ext uri="{FF2B5EF4-FFF2-40B4-BE49-F238E27FC236}">
                <a16:creationId xmlns:a16="http://schemas.microsoft.com/office/drawing/2014/main" id="{5711CF3B-BEF6-4360-AD34-59E17D963A15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5879149" y="3059160"/>
            <a:ext cx="659817" cy="996459"/>
          </a:xfrm>
          <a:prstGeom prst="rect">
            <a:avLst/>
          </a:prstGeom>
        </p:spPr>
      </p:pic>
      <p:pic>
        <p:nvPicPr>
          <p:cNvPr id="18" name="Graphic 17">
            <a:extLst>
              <a:ext uri="{FF2B5EF4-FFF2-40B4-BE49-F238E27FC236}">
                <a16:creationId xmlns:a16="http://schemas.microsoft.com/office/drawing/2014/main" id="{28AEFE85-7684-4B09-9315-5EAC7B7C9E5F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8650860" y="2968907"/>
            <a:ext cx="659817" cy="817600"/>
          </a:xfrm>
          <a:prstGeom prst="rect">
            <a:avLst/>
          </a:prstGeom>
        </p:spPr>
      </p:pic>
      <p:sp>
        <p:nvSpPr>
          <p:cNvPr id="22" name="TextBox 21">
            <a:extLst>
              <a:ext uri="{FF2B5EF4-FFF2-40B4-BE49-F238E27FC236}">
                <a16:creationId xmlns:a16="http://schemas.microsoft.com/office/drawing/2014/main" id="{556B9B98-30EF-4669-8230-213DA7EB59F6}"/>
              </a:ext>
            </a:extLst>
          </p:cNvPr>
          <p:cNvSpPr txBox="1"/>
          <p:nvPr/>
        </p:nvSpPr>
        <p:spPr>
          <a:xfrm>
            <a:off x="8395503" y="3812355"/>
            <a:ext cx="1366020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 defTabSz="609585" fontAlgn="base">
              <a:spcBef>
                <a:spcPct val="0"/>
              </a:spcBef>
              <a:spcAft>
                <a:spcPct val="0"/>
              </a:spcAft>
              <a:defRPr/>
            </a:pPr>
            <a:r>
              <a:rPr lang="en-US" sz="1200" b="1" dirty="0">
                <a:solidFill>
                  <a:srgbClr val="F79646">
                    <a:lumMod val="50000"/>
                  </a:srgbClr>
                </a:solidFill>
                <a:latin typeface="Arial"/>
                <a:ea typeface="ヒラギノ角ゴ Pro W3" pitchFamily="-126" charset="-128"/>
              </a:rPr>
              <a:t>Risk Adjustment Coder</a:t>
            </a:r>
          </a:p>
        </p:txBody>
      </p:sp>
      <p:sp>
        <p:nvSpPr>
          <p:cNvPr id="23" name="TextBox 22">
            <a:extLst>
              <a:ext uri="{FF2B5EF4-FFF2-40B4-BE49-F238E27FC236}">
                <a16:creationId xmlns:a16="http://schemas.microsoft.com/office/drawing/2014/main" id="{BE5FA384-4166-4E2C-B2D7-3515E331E8E3}"/>
              </a:ext>
            </a:extLst>
          </p:cNvPr>
          <p:cNvSpPr txBox="1"/>
          <p:nvPr/>
        </p:nvSpPr>
        <p:spPr>
          <a:xfrm>
            <a:off x="5621586" y="4055619"/>
            <a:ext cx="1366020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 defTabSz="609585" fontAlgn="base">
              <a:spcBef>
                <a:spcPct val="0"/>
              </a:spcBef>
              <a:spcAft>
                <a:spcPct val="0"/>
              </a:spcAft>
              <a:defRPr/>
            </a:pPr>
            <a:r>
              <a:rPr lang="en-US" sz="1200" b="1" dirty="0">
                <a:solidFill>
                  <a:srgbClr val="F79646">
                    <a:lumMod val="50000"/>
                  </a:srgbClr>
                </a:solidFill>
                <a:latin typeface="Arial"/>
                <a:ea typeface="ヒラギノ角ゴ Pro W3" pitchFamily="-126" charset="-128"/>
              </a:rPr>
              <a:t>Provider</a:t>
            </a:r>
          </a:p>
        </p:txBody>
      </p:sp>
      <p:pic>
        <p:nvPicPr>
          <p:cNvPr id="24" name="Graphic 23">
            <a:extLst>
              <a:ext uri="{FF2B5EF4-FFF2-40B4-BE49-F238E27FC236}">
                <a16:creationId xmlns:a16="http://schemas.microsoft.com/office/drawing/2014/main" id="{5F02176F-6C48-4B66-BF46-F739D8F9F52D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>
            <a:off x="3657128" y="2990139"/>
            <a:ext cx="814124" cy="691379"/>
          </a:xfrm>
          <a:prstGeom prst="rect">
            <a:avLst/>
          </a:prstGeom>
        </p:spPr>
      </p:pic>
      <p:sp>
        <p:nvSpPr>
          <p:cNvPr id="25" name="Rectangle 24">
            <a:extLst>
              <a:ext uri="{FF2B5EF4-FFF2-40B4-BE49-F238E27FC236}">
                <a16:creationId xmlns:a16="http://schemas.microsoft.com/office/drawing/2014/main" id="{8A5124E1-3137-4951-955F-06EAED810031}"/>
              </a:ext>
            </a:extLst>
          </p:cNvPr>
          <p:cNvSpPr/>
          <p:nvPr/>
        </p:nvSpPr>
        <p:spPr>
          <a:xfrm>
            <a:off x="3280817" y="3925227"/>
            <a:ext cx="1543313" cy="592954"/>
          </a:xfrm>
          <a:prstGeom prst="rect">
            <a:avLst/>
          </a:prstGeom>
          <a:solidFill>
            <a:schemeClr val="accent6">
              <a:lumMod val="75000"/>
            </a:schemeClr>
          </a:solidFill>
          <a:ln>
            <a:solidFill>
              <a:schemeClr val="accent1"/>
            </a:solidFill>
          </a:ln>
        </p:spPr>
        <p:style>
          <a:lnRef idx="2">
            <a:schemeClr val="accent2">
              <a:shade val="50000"/>
            </a:schemeClr>
          </a:lnRef>
          <a:fillRef idx="1">
            <a:schemeClr val="accent2"/>
          </a:fillRef>
          <a:effectRef idx="0">
            <a:schemeClr val="accent2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600" dirty="0"/>
              <a:t>Resolution</a:t>
            </a:r>
          </a:p>
          <a:p>
            <a:pPr algn="ctr"/>
            <a:r>
              <a:rPr lang="en-US" sz="1200" dirty="0"/>
              <a:t>(resolve gap closure/ invalidation)</a:t>
            </a:r>
          </a:p>
        </p:txBody>
      </p:sp>
      <p:sp>
        <p:nvSpPr>
          <p:cNvPr id="26" name="TextBox 25">
            <a:extLst>
              <a:ext uri="{FF2B5EF4-FFF2-40B4-BE49-F238E27FC236}">
                <a16:creationId xmlns:a16="http://schemas.microsoft.com/office/drawing/2014/main" id="{1DE39854-6D80-4F9E-9853-5D038F217BF8}"/>
              </a:ext>
            </a:extLst>
          </p:cNvPr>
          <p:cNvSpPr txBox="1"/>
          <p:nvPr/>
        </p:nvSpPr>
        <p:spPr>
          <a:xfrm>
            <a:off x="3394769" y="3613543"/>
            <a:ext cx="1366020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 defTabSz="609585" fontAlgn="base">
              <a:spcBef>
                <a:spcPct val="0"/>
              </a:spcBef>
              <a:spcAft>
                <a:spcPct val="0"/>
              </a:spcAft>
              <a:defRPr/>
            </a:pPr>
            <a:r>
              <a:rPr lang="en-US" sz="1200" b="1" dirty="0">
                <a:solidFill>
                  <a:srgbClr val="F79646">
                    <a:lumMod val="50000"/>
                  </a:srgbClr>
                </a:solidFill>
                <a:latin typeface="Arial"/>
                <a:ea typeface="ヒラギノ角ゴ Pro W3" pitchFamily="-126" charset="-128"/>
              </a:rPr>
              <a:t>Payer</a:t>
            </a:r>
          </a:p>
        </p:txBody>
      </p:sp>
      <p:sp>
        <p:nvSpPr>
          <p:cNvPr id="27" name="Rectangle 26">
            <a:extLst>
              <a:ext uri="{FF2B5EF4-FFF2-40B4-BE49-F238E27FC236}">
                <a16:creationId xmlns:a16="http://schemas.microsoft.com/office/drawing/2014/main" id="{8E8DBBBD-C24E-42EF-A9CA-89667C8C2403}"/>
              </a:ext>
            </a:extLst>
          </p:cNvPr>
          <p:cNvSpPr/>
          <p:nvPr/>
        </p:nvSpPr>
        <p:spPr>
          <a:xfrm>
            <a:off x="3280816" y="2279145"/>
            <a:ext cx="1543313" cy="592953"/>
          </a:xfrm>
          <a:prstGeom prst="rect">
            <a:avLst/>
          </a:prstGeom>
          <a:solidFill>
            <a:schemeClr val="accent1"/>
          </a:solidFill>
          <a:ln>
            <a:solidFill>
              <a:schemeClr val="accent1"/>
            </a:solidFill>
          </a:ln>
        </p:spPr>
        <p:style>
          <a:lnRef idx="2">
            <a:schemeClr val="accent2">
              <a:shade val="50000"/>
            </a:schemeClr>
          </a:lnRef>
          <a:fillRef idx="1">
            <a:schemeClr val="accent2"/>
          </a:fillRef>
          <a:effectRef idx="0">
            <a:schemeClr val="accent2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600" dirty="0"/>
              <a:t>Generation</a:t>
            </a:r>
          </a:p>
          <a:p>
            <a:pPr algn="ctr"/>
            <a:r>
              <a:rPr lang="en-US" sz="1200" dirty="0"/>
              <a:t>(coding gap reports)</a:t>
            </a:r>
          </a:p>
        </p:txBody>
      </p:sp>
      <p:sp>
        <p:nvSpPr>
          <p:cNvPr id="13" name="Arrow: Curved Down 12">
            <a:extLst>
              <a:ext uri="{FF2B5EF4-FFF2-40B4-BE49-F238E27FC236}">
                <a16:creationId xmlns:a16="http://schemas.microsoft.com/office/drawing/2014/main" id="{049F932E-55AF-455D-B792-48B4E9AA466D}"/>
              </a:ext>
            </a:extLst>
          </p:cNvPr>
          <p:cNvSpPr/>
          <p:nvPr/>
        </p:nvSpPr>
        <p:spPr>
          <a:xfrm rot="10800000">
            <a:off x="4599339" y="4631986"/>
            <a:ext cx="2858983" cy="731521"/>
          </a:xfrm>
          <a:prstGeom prst="curvedDownArrow">
            <a:avLst/>
          </a:prstGeom>
          <a:solidFill>
            <a:schemeClr val="accent6">
              <a:lumMod val="60000"/>
              <a:lumOff val="40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schemeClr val="tx1"/>
              </a:solidFill>
            </a:endParaRPr>
          </a:p>
        </p:txBody>
      </p:sp>
      <p:sp>
        <p:nvSpPr>
          <p:cNvPr id="29" name="Arrow: Curved Down 28">
            <a:extLst>
              <a:ext uri="{FF2B5EF4-FFF2-40B4-BE49-F238E27FC236}">
                <a16:creationId xmlns:a16="http://schemas.microsoft.com/office/drawing/2014/main" id="{D00F570A-3214-4CAE-B8CE-88B13114B2C2}"/>
              </a:ext>
            </a:extLst>
          </p:cNvPr>
          <p:cNvSpPr/>
          <p:nvPr/>
        </p:nvSpPr>
        <p:spPr>
          <a:xfrm>
            <a:off x="4599340" y="1436739"/>
            <a:ext cx="2957656" cy="771278"/>
          </a:xfrm>
          <a:prstGeom prst="curvedDownArrow">
            <a:avLst/>
          </a:prstGeom>
          <a:solidFill>
            <a:schemeClr val="accent6">
              <a:lumMod val="60000"/>
              <a:lumOff val="40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schemeClr val="tx1"/>
              </a:solidFill>
            </a:endParaRPr>
          </a:p>
        </p:txBody>
      </p:sp>
      <p:sp>
        <p:nvSpPr>
          <p:cNvPr id="15" name="Arrow: Curved Down 14">
            <a:extLst>
              <a:ext uri="{FF2B5EF4-FFF2-40B4-BE49-F238E27FC236}">
                <a16:creationId xmlns:a16="http://schemas.microsoft.com/office/drawing/2014/main" id="{064DA815-2EBC-40F6-83F6-36524558366D}"/>
              </a:ext>
            </a:extLst>
          </p:cNvPr>
          <p:cNvSpPr/>
          <p:nvPr/>
        </p:nvSpPr>
        <p:spPr>
          <a:xfrm>
            <a:off x="6583147" y="2258619"/>
            <a:ext cx="2067713" cy="731520"/>
          </a:xfrm>
          <a:prstGeom prst="curvedDownArrow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schemeClr val="tx1"/>
              </a:solidFill>
            </a:endParaRPr>
          </a:p>
        </p:txBody>
      </p:sp>
      <p:sp>
        <p:nvSpPr>
          <p:cNvPr id="30" name="Arrow: Curved Down 29">
            <a:extLst>
              <a:ext uri="{FF2B5EF4-FFF2-40B4-BE49-F238E27FC236}">
                <a16:creationId xmlns:a16="http://schemas.microsoft.com/office/drawing/2014/main" id="{3AAE86C9-836A-465E-A80A-5ECC827E88FF}"/>
              </a:ext>
            </a:extLst>
          </p:cNvPr>
          <p:cNvSpPr/>
          <p:nvPr/>
        </p:nvSpPr>
        <p:spPr>
          <a:xfrm rot="10800000">
            <a:off x="6553284" y="3742776"/>
            <a:ext cx="2053395" cy="731520"/>
          </a:xfrm>
          <a:prstGeom prst="curvedDownArrow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schemeClr val="tx1"/>
              </a:solidFill>
            </a:endParaRPr>
          </a:p>
        </p:txBody>
      </p:sp>
      <p:sp>
        <p:nvSpPr>
          <p:cNvPr id="19" name="Cylinder 18">
            <a:extLst>
              <a:ext uri="{FF2B5EF4-FFF2-40B4-BE49-F238E27FC236}">
                <a16:creationId xmlns:a16="http://schemas.microsoft.com/office/drawing/2014/main" id="{A34C4C6E-6266-4911-B02E-527883FB1971}"/>
              </a:ext>
            </a:extLst>
          </p:cNvPr>
          <p:cNvSpPr/>
          <p:nvPr/>
        </p:nvSpPr>
        <p:spPr>
          <a:xfrm>
            <a:off x="7253159" y="3818451"/>
            <a:ext cx="756790" cy="580170"/>
          </a:xfrm>
          <a:prstGeom prst="can">
            <a:avLst/>
          </a:prstGeom>
          <a:ln>
            <a:solidFill>
              <a:schemeClr val="bg1">
                <a:lumMod val="9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tIns="137160" rtlCol="0" anchor="ctr"/>
          <a:lstStyle/>
          <a:p>
            <a:pPr algn="ctr">
              <a:lnSpc>
                <a:spcPts val="1100"/>
              </a:lnSpc>
            </a:pPr>
            <a:r>
              <a:rPr lang="en-US" sz="1100" dirty="0"/>
              <a:t>Provider Patient Records</a:t>
            </a:r>
          </a:p>
        </p:txBody>
      </p:sp>
      <p:sp>
        <p:nvSpPr>
          <p:cNvPr id="21" name="Cylinder 20">
            <a:extLst>
              <a:ext uri="{FF2B5EF4-FFF2-40B4-BE49-F238E27FC236}">
                <a16:creationId xmlns:a16="http://schemas.microsoft.com/office/drawing/2014/main" id="{D3F92A35-7AE5-4F27-9E30-1FA04160C44D}"/>
              </a:ext>
            </a:extLst>
          </p:cNvPr>
          <p:cNvSpPr/>
          <p:nvPr/>
        </p:nvSpPr>
        <p:spPr>
          <a:xfrm>
            <a:off x="2831781" y="3157170"/>
            <a:ext cx="756790" cy="585606"/>
          </a:xfrm>
          <a:prstGeom prst="can">
            <a:avLst/>
          </a:prstGeom>
          <a:ln>
            <a:solidFill>
              <a:schemeClr val="bg1">
                <a:lumMod val="9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tIns="137160" rtlCol="0" anchor="ctr"/>
          <a:lstStyle/>
          <a:p>
            <a:pPr algn="ctr">
              <a:lnSpc>
                <a:spcPts val="1100"/>
              </a:lnSpc>
            </a:pPr>
            <a:r>
              <a:rPr lang="en-US" sz="1100" dirty="0"/>
              <a:t>Payer Patient Records</a:t>
            </a:r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C5CFA419-6A06-4317-9EFB-741716A96473}"/>
              </a:ext>
            </a:extLst>
          </p:cNvPr>
          <p:cNvSpPr/>
          <p:nvPr/>
        </p:nvSpPr>
        <p:spPr>
          <a:xfrm>
            <a:off x="5760773" y="1921706"/>
            <a:ext cx="3800716" cy="2828244"/>
          </a:xfrm>
          <a:prstGeom prst="rect">
            <a:avLst/>
          </a:prstGeom>
          <a:solidFill>
            <a:schemeClr val="accent4">
              <a:lumMod val="40000"/>
              <a:lumOff val="60000"/>
              <a:alpha val="12000"/>
            </a:schemeClr>
          </a:solidFill>
          <a:ln>
            <a:solidFill>
              <a:schemeClr val="accent1">
                <a:shade val="50000"/>
                <a:alpha val="25000"/>
              </a:schemeClr>
            </a:solidFill>
            <a:prstDash val="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502804359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6992073-D200-42E0-9FB9-A038AA6450B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18196" y="234882"/>
            <a:ext cx="10972800" cy="1043103"/>
          </a:xfrm>
        </p:spPr>
        <p:txBody>
          <a:bodyPr/>
          <a:lstStyle/>
          <a:p>
            <a:r>
              <a:rPr lang="en-US" dirty="0"/>
              <a:t>Three Stages Overview - Resolution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9A34AC66-A8B9-4352-A5F1-CFA56745734D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>
          <a:xfrm>
            <a:off x="1150529" y="2015845"/>
            <a:ext cx="10971844" cy="4501401"/>
          </a:xfrm>
        </p:spPr>
        <p:txBody>
          <a:bodyPr/>
          <a:lstStyle/>
          <a:p>
            <a:pPr marL="0" indent="0">
              <a:buNone/>
            </a:pPr>
            <a:r>
              <a:rPr lang="en-US" dirty="0"/>
              <a:t> </a:t>
            </a:r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9B90074F-DE65-45EB-9571-9D3C185F2116}"/>
              </a:ext>
            </a:extLst>
          </p:cNvPr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fld id="{6CACE926-AEF5-4BFE-8BD7-24414108CB7B}" type="slidenum">
              <a:rPr lang="en-US" altLang="en-US" smtClean="0"/>
              <a:pPr/>
              <a:t>19</a:t>
            </a:fld>
            <a:endParaRPr lang="en-US" altLang="en-US" dirty="0"/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AA5AC8FB-912D-43A8-8D0F-F9254F59B281}"/>
              </a:ext>
            </a:extLst>
          </p:cNvPr>
          <p:cNvSpPr/>
          <p:nvPr/>
        </p:nvSpPr>
        <p:spPr>
          <a:xfrm>
            <a:off x="6889475" y="3079074"/>
            <a:ext cx="1543313" cy="622319"/>
          </a:xfrm>
          <a:prstGeom prst="rect">
            <a:avLst/>
          </a:prstGeom>
        </p:spPr>
        <p:style>
          <a:lnRef idx="2">
            <a:schemeClr val="accent2">
              <a:shade val="50000"/>
            </a:schemeClr>
          </a:lnRef>
          <a:fillRef idx="1">
            <a:schemeClr val="accent2"/>
          </a:fillRef>
          <a:effectRef idx="0">
            <a:schemeClr val="accent2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600" dirty="0"/>
              <a:t>Remediation</a:t>
            </a:r>
          </a:p>
          <a:p>
            <a:pPr algn="ctr"/>
            <a:r>
              <a:rPr lang="en-US" sz="1200" dirty="0"/>
              <a:t>(gap closure/ invalidation)</a:t>
            </a:r>
          </a:p>
        </p:txBody>
      </p:sp>
      <p:pic>
        <p:nvPicPr>
          <p:cNvPr id="17" name="Graphic 16">
            <a:extLst>
              <a:ext uri="{FF2B5EF4-FFF2-40B4-BE49-F238E27FC236}">
                <a16:creationId xmlns:a16="http://schemas.microsoft.com/office/drawing/2014/main" id="{5711CF3B-BEF6-4360-AD34-59E17D963A15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5879149" y="3059160"/>
            <a:ext cx="659817" cy="996459"/>
          </a:xfrm>
          <a:prstGeom prst="rect">
            <a:avLst/>
          </a:prstGeom>
        </p:spPr>
      </p:pic>
      <p:pic>
        <p:nvPicPr>
          <p:cNvPr id="18" name="Graphic 17">
            <a:extLst>
              <a:ext uri="{FF2B5EF4-FFF2-40B4-BE49-F238E27FC236}">
                <a16:creationId xmlns:a16="http://schemas.microsoft.com/office/drawing/2014/main" id="{28AEFE85-7684-4B09-9315-5EAC7B7C9E5F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8650860" y="2968907"/>
            <a:ext cx="659817" cy="817600"/>
          </a:xfrm>
          <a:prstGeom prst="rect">
            <a:avLst/>
          </a:prstGeom>
        </p:spPr>
      </p:pic>
      <p:sp>
        <p:nvSpPr>
          <p:cNvPr id="22" name="TextBox 21">
            <a:extLst>
              <a:ext uri="{FF2B5EF4-FFF2-40B4-BE49-F238E27FC236}">
                <a16:creationId xmlns:a16="http://schemas.microsoft.com/office/drawing/2014/main" id="{556B9B98-30EF-4669-8230-213DA7EB59F6}"/>
              </a:ext>
            </a:extLst>
          </p:cNvPr>
          <p:cNvSpPr txBox="1"/>
          <p:nvPr/>
        </p:nvSpPr>
        <p:spPr>
          <a:xfrm>
            <a:off x="8395503" y="3812355"/>
            <a:ext cx="1366020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 defTabSz="609585" fontAlgn="base">
              <a:spcBef>
                <a:spcPct val="0"/>
              </a:spcBef>
              <a:spcAft>
                <a:spcPct val="0"/>
              </a:spcAft>
              <a:defRPr/>
            </a:pPr>
            <a:r>
              <a:rPr lang="en-US" sz="1200" b="1" dirty="0">
                <a:solidFill>
                  <a:srgbClr val="F79646">
                    <a:lumMod val="50000"/>
                  </a:srgbClr>
                </a:solidFill>
                <a:latin typeface="Arial"/>
                <a:ea typeface="ヒラギノ角ゴ Pro W3" pitchFamily="-126" charset="-128"/>
              </a:rPr>
              <a:t>Risk Adjustment Coder</a:t>
            </a:r>
          </a:p>
        </p:txBody>
      </p:sp>
      <p:sp>
        <p:nvSpPr>
          <p:cNvPr id="23" name="TextBox 22">
            <a:extLst>
              <a:ext uri="{FF2B5EF4-FFF2-40B4-BE49-F238E27FC236}">
                <a16:creationId xmlns:a16="http://schemas.microsoft.com/office/drawing/2014/main" id="{BE5FA384-4166-4E2C-B2D7-3515E331E8E3}"/>
              </a:ext>
            </a:extLst>
          </p:cNvPr>
          <p:cNvSpPr txBox="1"/>
          <p:nvPr/>
        </p:nvSpPr>
        <p:spPr>
          <a:xfrm>
            <a:off x="5621586" y="4055619"/>
            <a:ext cx="1366020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 defTabSz="609585" fontAlgn="base">
              <a:spcBef>
                <a:spcPct val="0"/>
              </a:spcBef>
              <a:spcAft>
                <a:spcPct val="0"/>
              </a:spcAft>
              <a:defRPr/>
            </a:pPr>
            <a:r>
              <a:rPr lang="en-US" sz="1200" b="1" dirty="0">
                <a:solidFill>
                  <a:srgbClr val="F79646">
                    <a:lumMod val="50000"/>
                  </a:srgbClr>
                </a:solidFill>
                <a:latin typeface="Arial"/>
                <a:ea typeface="ヒラギノ角ゴ Pro W3" pitchFamily="-126" charset="-128"/>
              </a:rPr>
              <a:t>Provider</a:t>
            </a:r>
          </a:p>
        </p:txBody>
      </p:sp>
      <p:pic>
        <p:nvPicPr>
          <p:cNvPr id="24" name="Graphic 23">
            <a:extLst>
              <a:ext uri="{FF2B5EF4-FFF2-40B4-BE49-F238E27FC236}">
                <a16:creationId xmlns:a16="http://schemas.microsoft.com/office/drawing/2014/main" id="{5F02176F-6C48-4B66-BF46-F739D8F9F52D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>
            <a:off x="3657128" y="2990139"/>
            <a:ext cx="814124" cy="691379"/>
          </a:xfrm>
          <a:prstGeom prst="rect">
            <a:avLst/>
          </a:prstGeom>
        </p:spPr>
      </p:pic>
      <p:sp>
        <p:nvSpPr>
          <p:cNvPr id="25" name="Rectangle 24">
            <a:extLst>
              <a:ext uri="{FF2B5EF4-FFF2-40B4-BE49-F238E27FC236}">
                <a16:creationId xmlns:a16="http://schemas.microsoft.com/office/drawing/2014/main" id="{8A5124E1-3137-4951-955F-06EAED810031}"/>
              </a:ext>
            </a:extLst>
          </p:cNvPr>
          <p:cNvSpPr/>
          <p:nvPr/>
        </p:nvSpPr>
        <p:spPr>
          <a:xfrm>
            <a:off x="3280817" y="3925227"/>
            <a:ext cx="1543313" cy="592954"/>
          </a:xfrm>
          <a:prstGeom prst="rect">
            <a:avLst/>
          </a:prstGeom>
          <a:solidFill>
            <a:schemeClr val="accent6">
              <a:lumMod val="75000"/>
            </a:schemeClr>
          </a:solidFill>
          <a:ln>
            <a:solidFill>
              <a:schemeClr val="accent1"/>
            </a:solidFill>
          </a:ln>
        </p:spPr>
        <p:style>
          <a:lnRef idx="2">
            <a:schemeClr val="accent2">
              <a:shade val="50000"/>
            </a:schemeClr>
          </a:lnRef>
          <a:fillRef idx="1">
            <a:schemeClr val="accent2"/>
          </a:fillRef>
          <a:effectRef idx="0">
            <a:schemeClr val="accent2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600" dirty="0"/>
              <a:t>Resolution</a:t>
            </a:r>
          </a:p>
          <a:p>
            <a:pPr algn="ctr"/>
            <a:r>
              <a:rPr lang="en-US" sz="1200" dirty="0"/>
              <a:t>(resolve gap closure/ invalidation)</a:t>
            </a:r>
          </a:p>
        </p:txBody>
      </p:sp>
      <p:sp>
        <p:nvSpPr>
          <p:cNvPr id="26" name="TextBox 25">
            <a:extLst>
              <a:ext uri="{FF2B5EF4-FFF2-40B4-BE49-F238E27FC236}">
                <a16:creationId xmlns:a16="http://schemas.microsoft.com/office/drawing/2014/main" id="{1DE39854-6D80-4F9E-9853-5D038F217BF8}"/>
              </a:ext>
            </a:extLst>
          </p:cNvPr>
          <p:cNvSpPr txBox="1"/>
          <p:nvPr/>
        </p:nvSpPr>
        <p:spPr>
          <a:xfrm>
            <a:off x="3394769" y="3613543"/>
            <a:ext cx="1366020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 defTabSz="609585" fontAlgn="base">
              <a:spcBef>
                <a:spcPct val="0"/>
              </a:spcBef>
              <a:spcAft>
                <a:spcPct val="0"/>
              </a:spcAft>
              <a:defRPr/>
            </a:pPr>
            <a:r>
              <a:rPr lang="en-US" sz="1200" b="1" dirty="0">
                <a:solidFill>
                  <a:srgbClr val="F79646">
                    <a:lumMod val="50000"/>
                  </a:srgbClr>
                </a:solidFill>
                <a:latin typeface="Arial"/>
                <a:ea typeface="ヒラギノ角ゴ Pro W3" pitchFamily="-126" charset="-128"/>
              </a:rPr>
              <a:t>Payer</a:t>
            </a:r>
          </a:p>
        </p:txBody>
      </p:sp>
      <p:sp>
        <p:nvSpPr>
          <p:cNvPr id="27" name="Rectangle 26">
            <a:extLst>
              <a:ext uri="{FF2B5EF4-FFF2-40B4-BE49-F238E27FC236}">
                <a16:creationId xmlns:a16="http://schemas.microsoft.com/office/drawing/2014/main" id="{8E8DBBBD-C24E-42EF-A9CA-89667C8C2403}"/>
              </a:ext>
            </a:extLst>
          </p:cNvPr>
          <p:cNvSpPr/>
          <p:nvPr/>
        </p:nvSpPr>
        <p:spPr>
          <a:xfrm>
            <a:off x="3280816" y="2279145"/>
            <a:ext cx="1543313" cy="592953"/>
          </a:xfrm>
          <a:prstGeom prst="rect">
            <a:avLst/>
          </a:prstGeom>
          <a:solidFill>
            <a:schemeClr val="accent1"/>
          </a:solidFill>
          <a:ln>
            <a:solidFill>
              <a:schemeClr val="accent1"/>
            </a:solidFill>
          </a:ln>
        </p:spPr>
        <p:style>
          <a:lnRef idx="2">
            <a:schemeClr val="accent2">
              <a:shade val="50000"/>
            </a:schemeClr>
          </a:lnRef>
          <a:fillRef idx="1">
            <a:schemeClr val="accent2"/>
          </a:fillRef>
          <a:effectRef idx="0">
            <a:schemeClr val="accent2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600" dirty="0"/>
              <a:t>Generation</a:t>
            </a:r>
          </a:p>
          <a:p>
            <a:pPr algn="ctr"/>
            <a:r>
              <a:rPr lang="en-US" sz="1200" dirty="0"/>
              <a:t>(coding gap reports)</a:t>
            </a:r>
          </a:p>
        </p:txBody>
      </p:sp>
      <p:sp>
        <p:nvSpPr>
          <p:cNvPr id="13" name="Arrow: Curved Down 12">
            <a:extLst>
              <a:ext uri="{FF2B5EF4-FFF2-40B4-BE49-F238E27FC236}">
                <a16:creationId xmlns:a16="http://schemas.microsoft.com/office/drawing/2014/main" id="{049F932E-55AF-455D-B792-48B4E9AA466D}"/>
              </a:ext>
            </a:extLst>
          </p:cNvPr>
          <p:cNvSpPr/>
          <p:nvPr/>
        </p:nvSpPr>
        <p:spPr>
          <a:xfrm rot="10800000">
            <a:off x="4599339" y="4631986"/>
            <a:ext cx="2858983" cy="731521"/>
          </a:xfrm>
          <a:prstGeom prst="curvedDownArrow">
            <a:avLst/>
          </a:prstGeom>
          <a:solidFill>
            <a:schemeClr val="accent6">
              <a:lumMod val="60000"/>
              <a:lumOff val="40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schemeClr val="tx1"/>
              </a:solidFill>
            </a:endParaRPr>
          </a:p>
        </p:txBody>
      </p:sp>
      <p:sp>
        <p:nvSpPr>
          <p:cNvPr id="29" name="Arrow: Curved Down 28">
            <a:extLst>
              <a:ext uri="{FF2B5EF4-FFF2-40B4-BE49-F238E27FC236}">
                <a16:creationId xmlns:a16="http://schemas.microsoft.com/office/drawing/2014/main" id="{D00F570A-3214-4CAE-B8CE-88B13114B2C2}"/>
              </a:ext>
            </a:extLst>
          </p:cNvPr>
          <p:cNvSpPr/>
          <p:nvPr/>
        </p:nvSpPr>
        <p:spPr>
          <a:xfrm>
            <a:off x="4599340" y="1436739"/>
            <a:ext cx="2957656" cy="771278"/>
          </a:xfrm>
          <a:prstGeom prst="curvedDownArrow">
            <a:avLst/>
          </a:prstGeom>
          <a:solidFill>
            <a:schemeClr val="accent6">
              <a:lumMod val="60000"/>
              <a:lumOff val="40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schemeClr val="tx1"/>
              </a:solidFill>
            </a:endParaRPr>
          </a:p>
        </p:txBody>
      </p:sp>
      <p:sp>
        <p:nvSpPr>
          <p:cNvPr id="15" name="Arrow: Curved Down 14">
            <a:extLst>
              <a:ext uri="{FF2B5EF4-FFF2-40B4-BE49-F238E27FC236}">
                <a16:creationId xmlns:a16="http://schemas.microsoft.com/office/drawing/2014/main" id="{064DA815-2EBC-40F6-83F6-36524558366D}"/>
              </a:ext>
            </a:extLst>
          </p:cNvPr>
          <p:cNvSpPr/>
          <p:nvPr/>
        </p:nvSpPr>
        <p:spPr>
          <a:xfrm>
            <a:off x="6583147" y="2258619"/>
            <a:ext cx="2067713" cy="731520"/>
          </a:xfrm>
          <a:prstGeom prst="curvedDownArrow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schemeClr val="tx1"/>
              </a:solidFill>
            </a:endParaRPr>
          </a:p>
        </p:txBody>
      </p:sp>
      <p:sp>
        <p:nvSpPr>
          <p:cNvPr id="30" name="Arrow: Curved Down 29">
            <a:extLst>
              <a:ext uri="{FF2B5EF4-FFF2-40B4-BE49-F238E27FC236}">
                <a16:creationId xmlns:a16="http://schemas.microsoft.com/office/drawing/2014/main" id="{3AAE86C9-836A-465E-A80A-5ECC827E88FF}"/>
              </a:ext>
            </a:extLst>
          </p:cNvPr>
          <p:cNvSpPr/>
          <p:nvPr/>
        </p:nvSpPr>
        <p:spPr>
          <a:xfrm rot="10800000">
            <a:off x="6553284" y="3742776"/>
            <a:ext cx="2053395" cy="731520"/>
          </a:xfrm>
          <a:prstGeom prst="curvedDownArrow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schemeClr val="tx1"/>
              </a:solidFill>
            </a:endParaRPr>
          </a:p>
        </p:txBody>
      </p:sp>
      <p:sp>
        <p:nvSpPr>
          <p:cNvPr id="19" name="Cylinder 18">
            <a:extLst>
              <a:ext uri="{FF2B5EF4-FFF2-40B4-BE49-F238E27FC236}">
                <a16:creationId xmlns:a16="http://schemas.microsoft.com/office/drawing/2014/main" id="{A34C4C6E-6266-4911-B02E-527883FB1971}"/>
              </a:ext>
            </a:extLst>
          </p:cNvPr>
          <p:cNvSpPr/>
          <p:nvPr/>
        </p:nvSpPr>
        <p:spPr>
          <a:xfrm>
            <a:off x="7253159" y="3818451"/>
            <a:ext cx="756790" cy="580170"/>
          </a:xfrm>
          <a:prstGeom prst="can">
            <a:avLst/>
          </a:prstGeom>
          <a:ln>
            <a:solidFill>
              <a:schemeClr val="bg1">
                <a:lumMod val="9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tIns="137160" rtlCol="0" anchor="ctr"/>
          <a:lstStyle/>
          <a:p>
            <a:pPr algn="ctr">
              <a:lnSpc>
                <a:spcPts val="1100"/>
              </a:lnSpc>
            </a:pPr>
            <a:r>
              <a:rPr lang="en-US" sz="1100" dirty="0"/>
              <a:t>Provider Patient Records</a:t>
            </a:r>
          </a:p>
        </p:txBody>
      </p:sp>
      <p:sp>
        <p:nvSpPr>
          <p:cNvPr id="21" name="Cylinder 20">
            <a:extLst>
              <a:ext uri="{FF2B5EF4-FFF2-40B4-BE49-F238E27FC236}">
                <a16:creationId xmlns:a16="http://schemas.microsoft.com/office/drawing/2014/main" id="{D3F92A35-7AE5-4F27-9E30-1FA04160C44D}"/>
              </a:ext>
            </a:extLst>
          </p:cNvPr>
          <p:cNvSpPr/>
          <p:nvPr/>
        </p:nvSpPr>
        <p:spPr>
          <a:xfrm>
            <a:off x="2831781" y="3157170"/>
            <a:ext cx="756790" cy="585606"/>
          </a:xfrm>
          <a:prstGeom prst="can">
            <a:avLst/>
          </a:prstGeom>
          <a:ln>
            <a:solidFill>
              <a:schemeClr val="bg1">
                <a:lumMod val="9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tIns="137160" rtlCol="0" anchor="ctr"/>
          <a:lstStyle/>
          <a:p>
            <a:pPr algn="ctr">
              <a:lnSpc>
                <a:spcPts val="1100"/>
              </a:lnSpc>
            </a:pPr>
            <a:r>
              <a:rPr lang="en-US" sz="1100" dirty="0"/>
              <a:t>Payer Patient Records</a:t>
            </a:r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C5CFA419-6A06-4317-9EFB-741716A96473}"/>
              </a:ext>
            </a:extLst>
          </p:cNvPr>
          <p:cNvSpPr/>
          <p:nvPr/>
        </p:nvSpPr>
        <p:spPr>
          <a:xfrm>
            <a:off x="2615979" y="2943226"/>
            <a:ext cx="2740054" cy="2153126"/>
          </a:xfrm>
          <a:prstGeom prst="rect">
            <a:avLst/>
          </a:prstGeom>
          <a:solidFill>
            <a:schemeClr val="accent4">
              <a:lumMod val="40000"/>
              <a:lumOff val="60000"/>
              <a:alpha val="12000"/>
            </a:schemeClr>
          </a:solidFill>
          <a:ln>
            <a:solidFill>
              <a:schemeClr val="accent1">
                <a:shade val="50000"/>
                <a:alpha val="25000"/>
              </a:schemeClr>
            </a:solidFill>
            <a:prstDash val="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141773794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E4FC254-7E84-4C1E-B2B1-8F45C616E91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DRAFT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4025DF32-5ADE-4348-8F51-B2255B4D83D2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/>
        <p:txBody>
          <a:bodyPr/>
          <a:lstStyle/>
          <a:p>
            <a:pPr marL="0" indent="0">
              <a:buNone/>
            </a:pPr>
            <a:r>
              <a:rPr lang="en-US" dirty="0"/>
              <a:t> </a:t>
            </a:r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6F1D9FDC-5EC9-421B-B816-669D4CBA8D03}"/>
              </a:ext>
            </a:extLst>
          </p:cNvPr>
          <p:cNvSpPr>
            <a:spLocks noGrp="1"/>
          </p:cNvSpPr>
          <p:nvPr>
            <p:ph type="ftr" sz="quarter" idx="10"/>
          </p:nvPr>
        </p:nvSpPr>
        <p:spPr/>
        <p:txBody>
          <a:bodyPr/>
          <a:lstStyle/>
          <a:p>
            <a:r>
              <a:rPr lang="en-US" b="1"/>
              <a:t>© 2019 Health Level Seven ® International. Licensed under Creative Commons Attribution 4.0 International</a:t>
            </a:r>
          </a:p>
          <a:p>
            <a:r>
              <a:rPr lang="en-US" b="1"/>
              <a:t>HL7, Health Level Seven, FHIR and the FHIR flame logo are registered trademarks of Health Level Seven International. Reg. U.S. TM Office.</a:t>
            </a:r>
            <a:endParaRPr lang="en-US" b="1" dirty="0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ABC91477-8158-43AE-8C67-AA1E9785A906}"/>
              </a:ext>
            </a:extLst>
          </p:cNvPr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fld id="{6CACE926-AEF5-4BFE-8BD7-24414108CB7B}" type="slidenum">
              <a:rPr lang="en-US" altLang="en-US" smtClean="0"/>
              <a:pPr/>
              <a:t>20</a:t>
            </a:fld>
            <a:endParaRPr lang="en-US" altLang="en-US" dirty="0"/>
          </a:p>
        </p:txBody>
      </p:sp>
      <p:pic>
        <p:nvPicPr>
          <p:cNvPr id="6" name="Graphic 5">
            <a:extLst>
              <a:ext uri="{FF2B5EF4-FFF2-40B4-BE49-F238E27FC236}">
                <a16:creationId xmlns:a16="http://schemas.microsoft.com/office/drawing/2014/main" id="{842186CE-C3CB-491F-B90D-334B74F93238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2999919" y="3156811"/>
            <a:ext cx="659817" cy="996459"/>
          </a:xfrm>
          <a:prstGeom prst="rect">
            <a:avLst/>
          </a:prstGeom>
        </p:spPr>
      </p:pic>
      <p:pic>
        <p:nvPicPr>
          <p:cNvPr id="7" name="Graphic 6">
            <a:extLst>
              <a:ext uri="{FF2B5EF4-FFF2-40B4-BE49-F238E27FC236}">
                <a16:creationId xmlns:a16="http://schemas.microsoft.com/office/drawing/2014/main" id="{3E4BF30F-2D52-4FA7-8B6E-989427E65C55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6961382" y="2961684"/>
            <a:ext cx="814124" cy="899821"/>
          </a:xfrm>
          <a:prstGeom prst="rect">
            <a:avLst/>
          </a:prstGeom>
        </p:spPr>
      </p:pic>
      <p:sp>
        <p:nvSpPr>
          <p:cNvPr id="10" name="TextBox 9">
            <a:extLst>
              <a:ext uri="{FF2B5EF4-FFF2-40B4-BE49-F238E27FC236}">
                <a16:creationId xmlns:a16="http://schemas.microsoft.com/office/drawing/2014/main" id="{984AE2E2-20A9-4B44-A58D-4BBB1DF61213}"/>
              </a:ext>
            </a:extLst>
          </p:cNvPr>
          <p:cNvSpPr txBox="1"/>
          <p:nvPr/>
        </p:nvSpPr>
        <p:spPr>
          <a:xfrm>
            <a:off x="8157734" y="3093269"/>
            <a:ext cx="2115679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 defTabSz="609585" fontAlgn="base">
              <a:spcBef>
                <a:spcPct val="0"/>
              </a:spcBef>
              <a:spcAft>
                <a:spcPct val="0"/>
              </a:spcAft>
              <a:defRPr/>
            </a:pPr>
            <a:r>
              <a:rPr lang="en-US" sz="1600" b="1" dirty="0">
                <a:solidFill>
                  <a:srgbClr val="F79646">
                    <a:lumMod val="50000"/>
                  </a:srgbClr>
                </a:solidFill>
                <a:latin typeface="Arial"/>
                <a:ea typeface="ヒラギノ角ゴ Pro W3" pitchFamily="-126" charset="-128"/>
              </a:rPr>
              <a:t>Risk Adjustment Coder</a:t>
            </a:r>
          </a:p>
        </p:txBody>
      </p:sp>
      <p:sp>
        <p:nvSpPr>
          <p:cNvPr id="8" name="Arrow: U-Turn 7">
            <a:extLst>
              <a:ext uri="{FF2B5EF4-FFF2-40B4-BE49-F238E27FC236}">
                <a16:creationId xmlns:a16="http://schemas.microsoft.com/office/drawing/2014/main" id="{BBA494F5-C840-4276-B567-19F510FB3BE8}"/>
              </a:ext>
            </a:extLst>
          </p:cNvPr>
          <p:cNvSpPr/>
          <p:nvPr/>
        </p:nvSpPr>
        <p:spPr>
          <a:xfrm rot="10800000" flipH="1" flipV="1">
            <a:off x="3604185" y="1851893"/>
            <a:ext cx="3860326" cy="1053296"/>
          </a:xfrm>
          <a:prstGeom prst="uturnArrow">
            <a:avLst/>
          </a:prstGeom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schemeClr val="tx1"/>
              </a:solidFill>
            </a:endParaRPr>
          </a:p>
        </p:txBody>
      </p:sp>
      <p:sp>
        <p:nvSpPr>
          <p:cNvPr id="13" name="Arrow: U-Turn 12">
            <a:extLst>
              <a:ext uri="{FF2B5EF4-FFF2-40B4-BE49-F238E27FC236}">
                <a16:creationId xmlns:a16="http://schemas.microsoft.com/office/drawing/2014/main" id="{174416F3-D18D-44B8-B799-1F518BBC5027}"/>
              </a:ext>
            </a:extLst>
          </p:cNvPr>
          <p:cNvSpPr/>
          <p:nvPr/>
        </p:nvSpPr>
        <p:spPr>
          <a:xfrm rot="10800000">
            <a:off x="3531047" y="3933240"/>
            <a:ext cx="3800056" cy="899820"/>
          </a:xfrm>
          <a:prstGeom prst="uturnArrow">
            <a:avLst/>
          </a:prstGeom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schemeClr val="tx1"/>
              </a:solidFill>
            </a:endParaRPr>
          </a:p>
        </p:txBody>
      </p:sp>
      <p:sp>
        <p:nvSpPr>
          <p:cNvPr id="14" name="Rectangle 13">
            <a:extLst>
              <a:ext uri="{FF2B5EF4-FFF2-40B4-BE49-F238E27FC236}">
                <a16:creationId xmlns:a16="http://schemas.microsoft.com/office/drawing/2014/main" id="{330FFA72-BBBD-4DBC-800E-90E49E5C0B79}"/>
              </a:ext>
            </a:extLst>
          </p:cNvPr>
          <p:cNvSpPr/>
          <p:nvPr/>
        </p:nvSpPr>
        <p:spPr>
          <a:xfrm>
            <a:off x="4405024" y="1681285"/>
            <a:ext cx="1995776" cy="598013"/>
          </a:xfrm>
          <a:prstGeom prst="rect">
            <a:avLst/>
          </a:prstGeom>
          <a:solidFill>
            <a:schemeClr val="bg1"/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600" b="1" dirty="0">
              <a:solidFill>
                <a:schemeClr val="tx1"/>
              </a:solidFill>
            </a:endParaRPr>
          </a:p>
        </p:txBody>
      </p:sp>
      <p:sp>
        <p:nvSpPr>
          <p:cNvPr id="16" name="Rectangle 15">
            <a:extLst>
              <a:ext uri="{FF2B5EF4-FFF2-40B4-BE49-F238E27FC236}">
                <a16:creationId xmlns:a16="http://schemas.microsoft.com/office/drawing/2014/main" id="{6908AAC3-35FE-4372-8B8E-78FD5F752EEB}"/>
              </a:ext>
            </a:extLst>
          </p:cNvPr>
          <p:cNvSpPr/>
          <p:nvPr/>
        </p:nvSpPr>
        <p:spPr>
          <a:xfrm>
            <a:off x="4349365" y="4461982"/>
            <a:ext cx="2496212" cy="658153"/>
          </a:xfrm>
          <a:prstGeom prst="rect">
            <a:avLst/>
          </a:prstGeom>
          <a:solidFill>
            <a:schemeClr val="bg1"/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400" b="1" dirty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Risk Adjustment Coding Gap Bundle</a:t>
            </a:r>
          </a:p>
        </p:txBody>
      </p:sp>
      <p:pic>
        <p:nvPicPr>
          <p:cNvPr id="15" name="Graphic 14">
            <a:extLst>
              <a:ext uri="{FF2B5EF4-FFF2-40B4-BE49-F238E27FC236}">
                <a16:creationId xmlns:a16="http://schemas.microsoft.com/office/drawing/2014/main" id="{2238B198-100C-4BB4-99EA-77BDB6D2D87E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>
            <a:off x="7827826" y="2976857"/>
            <a:ext cx="659817" cy="817600"/>
          </a:xfrm>
          <a:prstGeom prst="rect">
            <a:avLst/>
          </a:prstGeom>
        </p:spPr>
      </p:pic>
      <p:pic>
        <p:nvPicPr>
          <p:cNvPr id="17" name="Graphic 16">
            <a:extLst>
              <a:ext uri="{FF2B5EF4-FFF2-40B4-BE49-F238E27FC236}">
                <a16:creationId xmlns:a16="http://schemas.microsoft.com/office/drawing/2014/main" id="{7A371408-2B6F-4F8B-9EB7-90944CF211A2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p:blipFill>
        <p:spPr>
          <a:xfrm>
            <a:off x="3677205" y="3156811"/>
            <a:ext cx="814124" cy="899821"/>
          </a:xfrm>
          <a:prstGeom prst="rect">
            <a:avLst/>
          </a:prstGeom>
        </p:spPr>
      </p:pic>
      <p:sp>
        <p:nvSpPr>
          <p:cNvPr id="18" name="TextBox 17">
            <a:extLst>
              <a:ext uri="{FF2B5EF4-FFF2-40B4-BE49-F238E27FC236}">
                <a16:creationId xmlns:a16="http://schemas.microsoft.com/office/drawing/2014/main" id="{5F1980C8-D681-4224-9991-03DD4264996C}"/>
              </a:ext>
            </a:extLst>
          </p:cNvPr>
          <p:cNvSpPr txBox="1"/>
          <p:nvPr/>
        </p:nvSpPr>
        <p:spPr>
          <a:xfrm>
            <a:off x="1101784" y="3276730"/>
            <a:ext cx="2115679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 defTabSz="609585" fontAlgn="base">
              <a:spcBef>
                <a:spcPct val="0"/>
              </a:spcBef>
              <a:spcAft>
                <a:spcPct val="0"/>
              </a:spcAft>
              <a:defRPr/>
            </a:pPr>
            <a:r>
              <a:rPr lang="en-US" sz="1600" b="1" dirty="0">
                <a:solidFill>
                  <a:srgbClr val="F79646">
                    <a:lumMod val="50000"/>
                  </a:srgbClr>
                </a:solidFill>
                <a:latin typeface="Arial"/>
                <a:ea typeface="ヒラギノ角ゴ Pro W3" pitchFamily="-126" charset="-128"/>
              </a:rPr>
              <a:t>Provider</a:t>
            </a:r>
          </a:p>
        </p:txBody>
      </p:sp>
    </p:spTree>
    <p:extLst>
      <p:ext uri="{BB962C8B-B14F-4D97-AF65-F5344CB8AC3E}">
        <p14:creationId xmlns:p14="http://schemas.microsoft.com/office/powerpoint/2010/main" val="2286965308"/>
      </p:ext>
    </p:extLst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4F4567D-1FF5-4FD7-9A7C-93079475BC7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Source images for STU1</a:t>
            </a:r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7078C0B5-F7E9-4D4A-BE30-E8C2FBFA35C3}"/>
              </a:ext>
            </a:extLst>
          </p:cNvPr>
          <p:cNvSpPr>
            <a:spLocks noGrp="1"/>
          </p:cNvSpPr>
          <p:nvPr>
            <p:ph type="ftr" sz="quarter" idx="10"/>
          </p:nvPr>
        </p:nvSpPr>
        <p:spPr/>
        <p:txBody>
          <a:bodyPr/>
          <a:lstStyle/>
          <a:p>
            <a:r>
              <a:rPr lang="en-US" b="1"/>
              <a:t>© 2019 Health Level Seven ® International. Licensed under Creative Commons Attribution 4.0 International</a:t>
            </a:r>
          </a:p>
          <a:p>
            <a:r>
              <a:rPr lang="en-US" b="1"/>
              <a:t>HL7, Health Level Seven, FHIR and the FHIR flame logo are registered trademarks of Health Level Seven International. Reg. U.S. TM Office.</a:t>
            </a:r>
            <a:endParaRPr lang="en-US" b="1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48744D42-5266-4E15-8667-314DF0B70C69}"/>
              </a:ext>
            </a:extLst>
          </p:cNvPr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fld id="{6CACE926-AEF5-4BFE-8BD7-24414108CB7B}" type="slidenum">
              <a:rPr lang="en-US" altLang="en-US" smtClean="0"/>
              <a:pPr/>
              <a:t>21</a:t>
            </a:fld>
            <a:endParaRPr lang="en-US" altLang="en-US" dirty="0"/>
          </a:p>
        </p:txBody>
      </p:sp>
    </p:spTree>
    <p:extLst>
      <p:ext uri="{BB962C8B-B14F-4D97-AF65-F5344CB8AC3E}">
        <p14:creationId xmlns:p14="http://schemas.microsoft.com/office/powerpoint/2010/main" val="1180351346"/>
      </p:ext>
    </p:extLst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Rectangle 4">
            <a:extLst>
              <a:ext uri="{FF2B5EF4-FFF2-40B4-BE49-F238E27FC236}">
                <a16:creationId xmlns:a16="http://schemas.microsoft.com/office/drawing/2014/main" id="{06B8EBBA-6AB6-4A04-9C62-F17F63BC7B4A}"/>
              </a:ext>
            </a:extLst>
          </p:cNvPr>
          <p:cNvSpPr/>
          <p:nvPr/>
        </p:nvSpPr>
        <p:spPr>
          <a:xfrm>
            <a:off x="2020813" y="1647262"/>
            <a:ext cx="5429447" cy="1267825"/>
          </a:xfrm>
          <a:prstGeom prst="rect">
            <a:avLst/>
          </a:prstGeom>
          <a:solidFill>
            <a:srgbClr val="080808"/>
          </a:solidFill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anchorCtr="0"/>
          <a:lstStyle/>
          <a:p>
            <a:pPr algn="ctr"/>
            <a:r>
              <a:rPr lang="en-US" sz="2000" dirty="0">
                <a:solidFill>
                  <a:schemeClr val="bg1"/>
                </a:solidFill>
                <a:latin typeface="Helvetica Neue" panose="02000503000000020004"/>
              </a:rPr>
              <a:t>2021 MA Payment Year</a:t>
            </a:r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BD2982BF-0DC8-4C4B-A110-9884F0F21ADA}"/>
              </a:ext>
            </a:extLst>
          </p:cNvPr>
          <p:cNvSpPr/>
          <p:nvPr/>
        </p:nvSpPr>
        <p:spPr>
          <a:xfrm>
            <a:off x="2020814" y="2176182"/>
            <a:ext cx="1785877" cy="738905"/>
          </a:xfrm>
          <a:prstGeom prst="rect">
            <a:avLst/>
          </a:prstGeom>
          <a:solidFill>
            <a:schemeClr val="accent6">
              <a:lumMod val="20000"/>
              <a:lumOff val="80000"/>
            </a:schemeClr>
          </a:solidFill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200" dirty="0">
                <a:solidFill>
                  <a:schemeClr val="tx1"/>
                </a:solidFill>
                <a:latin typeface="Helvetica Neue" panose="02000503000000020004"/>
              </a:rPr>
              <a:t>Member Encounters,</a:t>
            </a:r>
          </a:p>
          <a:p>
            <a:pPr algn="ctr"/>
            <a:r>
              <a:rPr lang="en-US" sz="1200" dirty="0">
                <a:solidFill>
                  <a:schemeClr val="tx1"/>
                </a:solidFill>
                <a:latin typeface="Helvetica Neue" panose="02000503000000020004"/>
              </a:rPr>
              <a:t>Data Collection and</a:t>
            </a:r>
          </a:p>
          <a:p>
            <a:pPr algn="ctr"/>
            <a:r>
              <a:rPr lang="en-US" sz="1200" dirty="0">
                <a:solidFill>
                  <a:schemeClr val="tx1"/>
                </a:solidFill>
                <a:latin typeface="Helvetica Neue" panose="02000503000000020004"/>
              </a:rPr>
              <a:t>Sweeps (2020)</a:t>
            </a:r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36815FED-1A3A-4158-8242-92AA6D81233B}"/>
              </a:ext>
            </a:extLst>
          </p:cNvPr>
          <p:cNvSpPr/>
          <p:nvPr/>
        </p:nvSpPr>
        <p:spPr>
          <a:xfrm>
            <a:off x="3806691" y="2176182"/>
            <a:ext cx="1836427" cy="738905"/>
          </a:xfrm>
          <a:prstGeom prst="rect">
            <a:avLst/>
          </a:prstGeom>
          <a:solidFill>
            <a:schemeClr val="accent6">
              <a:lumMod val="20000"/>
              <a:lumOff val="80000"/>
            </a:schemeClr>
          </a:solidFill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200" dirty="0">
                <a:solidFill>
                  <a:schemeClr val="tx1"/>
                </a:solidFill>
                <a:latin typeface="Helvetica Neue" panose="02000503000000020004"/>
              </a:rPr>
              <a:t>Data Collection and</a:t>
            </a:r>
          </a:p>
          <a:p>
            <a:pPr algn="ctr"/>
            <a:r>
              <a:rPr lang="en-US" sz="1200" dirty="0">
                <a:solidFill>
                  <a:schemeClr val="tx1"/>
                </a:solidFill>
                <a:latin typeface="Helvetica Neue" panose="02000503000000020004"/>
              </a:rPr>
              <a:t>Payment Adjustments</a:t>
            </a:r>
          </a:p>
          <a:p>
            <a:pPr algn="ctr"/>
            <a:r>
              <a:rPr lang="en-US" sz="1200" dirty="0">
                <a:solidFill>
                  <a:schemeClr val="tx1"/>
                </a:solidFill>
                <a:latin typeface="Helvetica Neue" panose="02000503000000020004"/>
              </a:rPr>
              <a:t>(2021)</a:t>
            </a:r>
          </a:p>
        </p:txBody>
      </p:sp>
      <p:sp>
        <p:nvSpPr>
          <p:cNvPr id="8" name="Rectangle 7">
            <a:extLst>
              <a:ext uri="{FF2B5EF4-FFF2-40B4-BE49-F238E27FC236}">
                <a16:creationId xmlns:a16="http://schemas.microsoft.com/office/drawing/2014/main" id="{50FAE1F4-403E-40BD-B308-6582092EDAA0}"/>
              </a:ext>
            </a:extLst>
          </p:cNvPr>
          <p:cNvSpPr/>
          <p:nvPr/>
        </p:nvSpPr>
        <p:spPr>
          <a:xfrm>
            <a:off x="5646462" y="2176182"/>
            <a:ext cx="1785876" cy="738905"/>
          </a:xfrm>
          <a:prstGeom prst="rect">
            <a:avLst/>
          </a:prstGeom>
          <a:solidFill>
            <a:schemeClr val="accent6">
              <a:lumMod val="20000"/>
              <a:lumOff val="80000"/>
            </a:schemeClr>
          </a:solidFill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200" dirty="0">
                <a:solidFill>
                  <a:schemeClr val="tx1"/>
                </a:solidFill>
                <a:latin typeface="Helvetica Neue" panose="02000503000000020004"/>
              </a:rPr>
              <a:t>Submission Deadline</a:t>
            </a:r>
          </a:p>
          <a:p>
            <a:pPr algn="ctr"/>
            <a:r>
              <a:rPr lang="en-US" sz="1200" dirty="0">
                <a:solidFill>
                  <a:schemeClr val="tx1"/>
                </a:solidFill>
                <a:latin typeface="Helvetica Neue" panose="02000503000000020004"/>
              </a:rPr>
              <a:t>(end of Jan 2022)</a:t>
            </a:r>
          </a:p>
        </p:txBody>
      </p:sp>
      <p:sp>
        <p:nvSpPr>
          <p:cNvPr id="9" name="Rectangle 8">
            <a:extLst>
              <a:ext uri="{FF2B5EF4-FFF2-40B4-BE49-F238E27FC236}">
                <a16:creationId xmlns:a16="http://schemas.microsoft.com/office/drawing/2014/main" id="{9911ECB7-D55C-41A9-A730-91553449314B}"/>
              </a:ext>
            </a:extLst>
          </p:cNvPr>
          <p:cNvSpPr/>
          <p:nvPr/>
        </p:nvSpPr>
        <p:spPr>
          <a:xfrm>
            <a:off x="5618505" y="4198862"/>
            <a:ext cx="5429447" cy="1267825"/>
          </a:xfrm>
          <a:prstGeom prst="rect">
            <a:avLst/>
          </a:prstGeom>
          <a:solidFill>
            <a:srgbClr val="080808"/>
          </a:solidFill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anchorCtr="0"/>
          <a:lstStyle/>
          <a:p>
            <a:pPr algn="ctr"/>
            <a:r>
              <a:rPr lang="en-US" sz="2000" dirty="0">
                <a:solidFill>
                  <a:schemeClr val="bg1"/>
                </a:solidFill>
                <a:latin typeface="Helvetica Neue" panose="02000503000000020004"/>
              </a:rPr>
              <a:t>2023 MA Payment Year</a:t>
            </a:r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FBA4E987-F031-4F46-8FB5-6879C53B9AD5}"/>
              </a:ext>
            </a:extLst>
          </p:cNvPr>
          <p:cNvSpPr/>
          <p:nvPr/>
        </p:nvSpPr>
        <p:spPr>
          <a:xfrm>
            <a:off x="5618506" y="4727782"/>
            <a:ext cx="1785877" cy="738905"/>
          </a:xfrm>
          <a:prstGeom prst="rect">
            <a:avLst/>
          </a:prstGeom>
          <a:solidFill>
            <a:schemeClr val="accent5">
              <a:lumMod val="20000"/>
              <a:lumOff val="80000"/>
            </a:schemeClr>
          </a:solidFill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200" dirty="0">
                <a:solidFill>
                  <a:schemeClr val="tx1"/>
                </a:solidFill>
                <a:latin typeface="Helvetica Neue" panose="02000503000000020004"/>
              </a:rPr>
              <a:t>Member Encounters,</a:t>
            </a:r>
          </a:p>
          <a:p>
            <a:pPr algn="ctr"/>
            <a:r>
              <a:rPr lang="en-US" sz="1200" dirty="0">
                <a:solidFill>
                  <a:schemeClr val="tx1"/>
                </a:solidFill>
                <a:latin typeface="Helvetica Neue" panose="02000503000000020004"/>
              </a:rPr>
              <a:t>Data Collection and</a:t>
            </a:r>
          </a:p>
          <a:p>
            <a:pPr algn="ctr"/>
            <a:r>
              <a:rPr lang="en-US" sz="1200" dirty="0">
                <a:solidFill>
                  <a:schemeClr val="tx1"/>
                </a:solidFill>
                <a:latin typeface="Helvetica Neue" panose="02000503000000020004"/>
              </a:rPr>
              <a:t>Sweeps (2022)</a:t>
            </a:r>
          </a:p>
        </p:txBody>
      </p:sp>
      <p:sp>
        <p:nvSpPr>
          <p:cNvPr id="11" name="Rectangle 10">
            <a:extLst>
              <a:ext uri="{FF2B5EF4-FFF2-40B4-BE49-F238E27FC236}">
                <a16:creationId xmlns:a16="http://schemas.microsoft.com/office/drawing/2014/main" id="{7E181264-0025-4F7F-80D3-D95B4B911729}"/>
              </a:ext>
            </a:extLst>
          </p:cNvPr>
          <p:cNvSpPr/>
          <p:nvPr/>
        </p:nvSpPr>
        <p:spPr>
          <a:xfrm>
            <a:off x="7404383" y="4727782"/>
            <a:ext cx="1836427" cy="738905"/>
          </a:xfrm>
          <a:prstGeom prst="rect">
            <a:avLst/>
          </a:prstGeom>
          <a:solidFill>
            <a:schemeClr val="accent5">
              <a:lumMod val="20000"/>
              <a:lumOff val="80000"/>
            </a:schemeClr>
          </a:solidFill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200" dirty="0">
                <a:solidFill>
                  <a:schemeClr val="tx1"/>
                </a:solidFill>
                <a:latin typeface="Helvetica Neue" panose="02000503000000020004"/>
              </a:rPr>
              <a:t>Data Collection and</a:t>
            </a:r>
          </a:p>
          <a:p>
            <a:pPr algn="ctr"/>
            <a:r>
              <a:rPr lang="en-US" sz="1200" dirty="0">
                <a:solidFill>
                  <a:schemeClr val="tx1"/>
                </a:solidFill>
                <a:latin typeface="Helvetica Neue" panose="02000503000000020004"/>
              </a:rPr>
              <a:t>Payment Adjustments</a:t>
            </a:r>
          </a:p>
          <a:p>
            <a:pPr algn="ctr"/>
            <a:r>
              <a:rPr lang="en-US" sz="1200" dirty="0">
                <a:solidFill>
                  <a:schemeClr val="tx1"/>
                </a:solidFill>
                <a:latin typeface="Helvetica Neue" panose="02000503000000020004"/>
              </a:rPr>
              <a:t>(2023)</a:t>
            </a:r>
          </a:p>
        </p:txBody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BD49A79E-402C-4EBA-9DD1-9B2E53943447}"/>
              </a:ext>
            </a:extLst>
          </p:cNvPr>
          <p:cNvSpPr/>
          <p:nvPr/>
        </p:nvSpPr>
        <p:spPr>
          <a:xfrm>
            <a:off x="9244154" y="4727782"/>
            <a:ext cx="1785876" cy="738905"/>
          </a:xfrm>
          <a:prstGeom prst="rect">
            <a:avLst/>
          </a:prstGeom>
          <a:solidFill>
            <a:schemeClr val="accent5">
              <a:lumMod val="20000"/>
              <a:lumOff val="80000"/>
            </a:schemeClr>
          </a:solidFill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200" dirty="0">
                <a:solidFill>
                  <a:schemeClr val="tx1"/>
                </a:solidFill>
                <a:latin typeface="Helvetica Neue" panose="02000503000000020004"/>
              </a:rPr>
              <a:t>Submission Deadline</a:t>
            </a:r>
          </a:p>
          <a:p>
            <a:pPr algn="ctr"/>
            <a:r>
              <a:rPr lang="en-US" sz="1200" dirty="0">
                <a:solidFill>
                  <a:schemeClr val="tx1"/>
                </a:solidFill>
                <a:latin typeface="Helvetica Neue" panose="02000503000000020004"/>
              </a:rPr>
              <a:t>(end of Jan 2024)</a:t>
            </a:r>
          </a:p>
        </p:txBody>
      </p:sp>
      <p:sp>
        <p:nvSpPr>
          <p:cNvPr id="13" name="Rectangle 12">
            <a:extLst>
              <a:ext uri="{FF2B5EF4-FFF2-40B4-BE49-F238E27FC236}">
                <a16:creationId xmlns:a16="http://schemas.microsoft.com/office/drawing/2014/main" id="{CA7ED9DE-7637-436C-95E8-FAD91E3B85FC}"/>
              </a:ext>
            </a:extLst>
          </p:cNvPr>
          <p:cNvSpPr/>
          <p:nvPr/>
        </p:nvSpPr>
        <p:spPr>
          <a:xfrm>
            <a:off x="3828685" y="2920404"/>
            <a:ext cx="5429447" cy="1267825"/>
          </a:xfrm>
          <a:prstGeom prst="rect">
            <a:avLst/>
          </a:prstGeom>
          <a:solidFill>
            <a:srgbClr val="080808"/>
          </a:solidFill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anchorCtr="0"/>
          <a:lstStyle/>
          <a:p>
            <a:pPr algn="ctr"/>
            <a:r>
              <a:rPr lang="en-US" sz="2000" dirty="0">
                <a:solidFill>
                  <a:schemeClr val="bg1"/>
                </a:solidFill>
                <a:latin typeface="Helvetica Neue" panose="02000503000000020004"/>
              </a:rPr>
              <a:t>2022 MA Payment Year</a:t>
            </a:r>
          </a:p>
        </p:txBody>
      </p:sp>
      <p:sp>
        <p:nvSpPr>
          <p:cNvPr id="14" name="Rectangle 13">
            <a:extLst>
              <a:ext uri="{FF2B5EF4-FFF2-40B4-BE49-F238E27FC236}">
                <a16:creationId xmlns:a16="http://schemas.microsoft.com/office/drawing/2014/main" id="{1A20A124-1377-4E88-88B1-32E6054AE6A9}"/>
              </a:ext>
            </a:extLst>
          </p:cNvPr>
          <p:cNvSpPr/>
          <p:nvPr/>
        </p:nvSpPr>
        <p:spPr>
          <a:xfrm>
            <a:off x="3828686" y="3449324"/>
            <a:ext cx="1785877" cy="738905"/>
          </a:xfrm>
          <a:prstGeom prst="rect">
            <a:avLst/>
          </a:prstGeom>
          <a:solidFill>
            <a:schemeClr val="accent4">
              <a:lumMod val="20000"/>
              <a:lumOff val="80000"/>
            </a:schemeClr>
          </a:solidFill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200" dirty="0">
                <a:solidFill>
                  <a:schemeClr val="tx1"/>
                </a:solidFill>
                <a:latin typeface="Helvetica Neue" panose="02000503000000020004"/>
              </a:rPr>
              <a:t>Member Encounters,</a:t>
            </a:r>
          </a:p>
          <a:p>
            <a:pPr algn="ctr"/>
            <a:r>
              <a:rPr lang="en-US" sz="1200" dirty="0">
                <a:solidFill>
                  <a:schemeClr val="tx1"/>
                </a:solidFill>
                <a:latin typeface="Helvetica Neue" panose="02000503000000020004"/>
              </a:rPr>
              <a:t>Data Collection and</a:t>
            </a:r>
          </a:p>
          <a:p>
            <a:pPr algn="ctr"/>
            <a:r>
              <a:rPr lang="en-US" sz="1200" dirty="0">
                <a:solidFill>
                  <a:schemeClr val="tx1"/>
                </a:solidFill>
                <a:latin typeface="Helvetica Neue" panose="02000503000000020004"/>
              </a:rPr>
              <a:t>Sweeps (2021)</a:t>
            </a:r>
          </a:p>
        </p:txBody>
      </p:sp>
      <p:sp>
        <p:nvSpPr>
          <p:cNvPr id="15" name="Rectangle 14">
            <a:extLst>
              <a:ext uri="{FF2B5EF4-FFF2-40B4-BE49-F238E27FC236}">
                <a16:creationId xmlns:a16="http://schemas.microsoft.com/office/drawing/2014/main" id="{FC34B759-58FC-45D4-AD68-D1A3AF9E3436}"/>
              </a:ext>
            </a:extLst>
          </p:cNvPr>
          <p:cNvSpPr/>
          <p:nvPr/>
        </p:nvSpPr>
        <p:spPr>
          <a:xfrm>
            <a:off x="5614563" y="3449324"/>
            <a:ext cx="1836427" cy="738905"/>
          </a:xfrm>
          <a:prstGeom prst="rect">
            <a:avLst/>
          </a:prstGeom>
          <a:solidFill>
            <a:schemeClr val="accent4">
              <a:lumMod val="20000"/>
              <a:lumOff val="80000"/>
            </a:schemeClr>
          </a:solidFill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200" dirty="0">
                <a:solidFill>
                  <a:schemeClr val="tx1"/>
                </a:solidFill>
                <a:latin typeface="Helvetica Neue" panose="02000503000000020004"/>
              </a:rPr>
              <a:t>Data Collection and</a:t>
            </a:r>
          </a:p>
          <a:p>
            <a:pPr algn="ctr"/>
            <a:r>
              <a:rPr lang="en-US" sz="1200" dirty="0">
                <a:solidFill>
                  <a:schemeClr val="tx1"/>
                </a:solidFill>
                <a:latin typeface="Helvetica Neue" panose="02000503000000020004"/>
              </a:rPr>
              <a:t>Payment Adjustments</a:t>
            </a:r>
          </a:p>
          <a:p>
            <a:pPr algn="ctr"/>
            <a:r>
              <a:rPr lang="en-US" sz="1200" dirty="0">
                <a:solidFill>
                  <a:schemeClr val="tx1"/>
                </a:solidFill>
                <a:latin typeface="Helvetica Neue" panose="02000503000000020004"/>
              </a:rPr>
              <a:t>(2022)</a:t>
            </a:r>
          </a:p>
        </p:txBody>
      </p:sp>
      <p:sp>
        <p:nvSpPr>
          <p:cNvPr id="19" name="Rectangle 18">
            <a:extLst>
              <a:ext uri="{FF2B5EF4-FFF2-40B4-BE49-F238E27FC236}">
                <a16:creationId xmlns:a16="http://schemas.microsoft.com/office/drawing/2014/main" id="{63C9337A-1D87-4EA6-AE1F-7110C1A6B986}"/>
              </a:ext>
            </a:extLst>
          </p:cNvPr>
          <p:cNvSpPr/>
          <p:nvPr/>
        </p:nvSpPr>
        <p:spPr>
          <a:xfrm>
            <a:off x="7454334" y="3449324"/>
            <a:ext cx="1785876" cy="738905"/>
          </a:xfrm>
          <a:prstGeom prst="rect">
            <a:avLst/>
          </a:prstGeom>
          <a:solidFill>
            <a:schemeClr val="accent4">
              <a:lumMod val="20000"/>
              <a:lumOff val="80000"/>
            </a:schemeClr>
          </a:solidFill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200" dirty="0">
                <a:solidFill>
                  <a:schemeClr val="tx1"/>
                </a:solidFill>
                <a:latin typeface="Helvetica Neue" panose="02000503000000020004"/>
              </a:rPr>
              <a:t>Submission Deadline</a:t>
            </a:r>
          </a:p>
          <a:p>
            <a:pPr algn="ctr"/>
            <a:r>
              <a:rPr lang="en-US" sz="1200" dirty="0">
                <a:solidFill>
                  <a:schemeClr val="tx1"/>
                </a:solidFill>
                <a:latin typeface="Helvetica Neue" panose="02000503000000020004"/>
              </a:rPr>
              <a:t>(end of Jan 2023)</a:t>
            </a:r>
          </a:p>
        </p:txBody>
      </p:sp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D3A915E2-5A71-480C-BBEC-6C19C2DCFE22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/>
        <p:txBody>
          <a:bodyPr/>
          <a:lstStyle/>
          <a:p>
            <a:fld id="{D57F1E4F-1CFF-5643-939E-217C01CDF565}" type="slidenum">
              <a:rPr lang="en-US" smtClean="0"/>
              <a:pPr/>
              <a:t>22</a:t>
            </a:fld>
            <a:endParaRPr lang="en-US"/>
          </a:p>
        </p:txBody>
      </p:sp>
      <p:sp>
        <p:nvSpPr>
          <p:cNvPr id="16" name="TextBox 15">
            <a:extLst>
              <a:ext uri="{FF2B5EF4-FFF2-40B4-BE49-F238E27FC236}">
                <a16:creationId xmlns:a16="http://schemas.microsoft.com/office/drawing/2014/main" id="{84FD4B0A-BBB0-42AC-A141-67894E35A7B2}"/>
              </a:ext>
            </a:extLst>
          </p:cNvPr>
          <p:cNvSpPr txBox="1"/>
          <p:nvPr/>
        </p:nvSpPr>
        <p:spPr>
          <a:xfrm>
            <a:off x="2619984" y="4401784"/>
            <a:ext cx="1920718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sz="1200" i="1" dirty="0">
                <a:solidFill>
                  <a:srgbClr val="000000"/>
                </a:solidFill>
                <a:latin typeface="Helvetica Neue" panose="02000503000000020004"/>
              </a:rPr>
              <a:t>Calendar Year 2022</a:t>
            </a:r>
          </a:p>
          <a:p>
            <a:pPr algn="ctr"/>
            <a:r>
              <a:rPr lang="en-US" sz="1200" i="1" dirty="0">
                <a:solidFill>
                  <a:srgbClr val="000000"/>
                </a:solidFill>
                <a:latin typeface="Helvetica Neue" panose="02000503000000020004"/>
              </a:rPr>
              <a:t>Clinical Evaluation Period</a:t>
            </a:r>
          </a:p>
        </p:txBody>
      </p:sp>
      <p:sp>
        <p:nvSpPr>
          <p:cNvPr id="17" name="Oval 16">
            <a:extLst>
              <a:ext uri="{FF2B5EF4-FFF2-40B4-BE49-F238E27FC236}">
                <a16:creationId xmlns:a16="http://schemas.microsoft.com/office/drawing/2014/main" id="{E01EE3A5-256E-429D-96F0-19FADBE65BDA}"/>
              </a:ext>
            </a:extLst>
          </p:cNvPr>
          <p:cNvSpPr/>
          <p:nvPr/>
        </p:nvSpPr>
        <p:spPr>
          <a:xfrm>
            <a:off x="5635828" y="4632214"/>
            <a:ext cx="1785877" cy="910285"/>
          </a:xfrm>
          <a:prstGeom prst="ellipse">
            <a:avLst/>
          </a:prstGeom>
          <a:noFill/>
          <a:ln w="38100">
            <a:solidFill>
              <a:schemeClr val="accent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600">
              <a:latin typeface="Helvetica Neue" panose="02000503000000020004"/>
            </a:endParaRPr>
          </a:p>
        </p:txBody>
      </p:sp>
      <p:cxnSp>
        <p:nvCxnSpPr>
          <p:cNvPr id="18" name="Straight Arrow Connector 19">
            <a:extLst>
              <a:ext uri="{FF2B5EF4-FFF2-40B4-BE49-F238E27FC236}">
                <a16:creationId xmlns:a16="http://schemas.microsoft.com/office/drawing/2014/main" id="{1B0796DC-0C90-429F-BD65-901FC9C9C691}"/>
              </a:ext>
            </a:extLst>
          </p:cNvPr>
          <p:cNvCxnSpPr>
            <a:cxnSpLocks/>
            <a:stCxn id="16" idx="2"/>
            <a:endCxn id="17" idx="2"/>
          </p:cNvCxnSpPr>
          <p:nvPr/>
        </p:nvCxnSpPr>
        <p:spPr>
          <a:xfrm rot="16200000" flipH="1">
            <a:off x="4496131" y="3947660"/>
            <a:ext cx="223908" cy="2055485"/>
          </a:xfrm>
          <a:prstGeom prst="curvedConnector2">
            <a:avLst/>
          </a:prstGeom>
          <a:ln w="38100">
            <a:solidFill>
              <a:schemeClr val="accent1"/>
            </a:solidFill>
            <a:tailEnd type="triangle" w="lg" len="lg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0" name="Rectangle 19">
            <a:extLst>
              <a:ext uri="{FF2B5EF4-FFF2-40B4-BE49-F238E27FC236}">
                <a16:creationId xmlns:a16="http://schemas.microsoft.com/office/drawing/2014/main" id="{76C4BAA0-22D8-43C7-89AB-D776EFAF76D1}"/>
              </a:ext>
            </a:extLst>
          </p:cNvPr>
          <p:cNvSpPr/>
          <p:nvPr/>
        </p:nvSpPr>
        <p:spPr>
          <a:xfrm>
            <a:off x="5614562" y="1647262"/>
            <a:ext cx="1836427" cy="3808792"/>
          </a:xfrm>
          <a:prstGeom prst="rect">
            <a:avLst/>
          </a:prstGeom>
          <a:noFill/>
          <a:ln w="38100">
            <a:solidFill>
              <a:schemeClr val="accent1"/>
            </a:solidFill>
            <a:prstDash val="sysDash"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200">
              <a:latin typeface="Helvetica Neue" panose="02000503000000020004"/>
            </a:endParaRPr>
          </a:p>
        </p:txBody>
      </p:sp>
      <p:sp>
        <p:nvSpPr>
          <p:cNvPr id="27" name="Rectangle 26">
            <a:extLst>
              <a:ext uri="{FF2B5EF4-FFF2-40B4-BE49-F238E27FC236}">
                <a16:creationId xmlns:a16="http://schemas.microsoft.com/office/drawing/2014/main" id="{E7487F32-20A9-4B58-81E0-51635BA593B6}"/>
              </a:ext>
            </a:extLst>
          </p:cNvPr>
          <p:cNvSpPr/>
          <p:nvPr/>
        </p:nvSpPr>
        <p:spPr>
          <a:xfrm>
            <a:off x="5632483" y="4198862"/>
            <a:ext cx="5408180" cy="1267825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anchorCtr="0"/>
          <a:lstStyle/>
          <a:p>
            <a:pPr algn="ctr"/>
            <a:r>
              <a:rPr lang="en-US" sz="2000" dirty="0">
                <a:solidFill>
                  <a:schemeClr val="bg1"/>
                </a:solidFill>
                <a:latin typeface="Helvetica Neue" panose="02000503000000020004"/>
              </a:rPr>
              <a:t>2023 MA Payment Year</a:t>
            </a:r>
          </a:p>
        </p:txBody>
      </p:sp>
      <p:sp>
        <p:nvSpPr>
          <p:cNvPr id="28" name="Rectangle 27">
            <a:extLst>
              <a:ext uri="{FF2B5EF4-FFF2-40B4-BE49-F238E27FC236}">
                <a16:creationId xmlns:a16="http://schemas.microsoft.com/office/drawing/2014/main" id="{9E478D5E-C548-449C-9EEE-B1A437C5BF0D}"/>
              </a:ext>
            </a:extLst>
          </p:cNvPr>
          <p:cNvSpPr/>
          <p:nvPr/>
        </p:nvSpPr>
        <p:spPr>
          <a:xfrm>
            <a:off x="3832030" y="2920404"/>
            <a:ext cx="5408180" cy="1267825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anchorCtr="0"/>
          <a:lstStyle/>
          <a:p>
            <a:pPr algn="ctr"/>
            <a:r>
              <a:rPr lang="en-US" sz="2000" dirty="0">
                <a:solidFill>
                  <a:schemeClr val="bg1"/>
                </a:solidFill>
                <a:latin typeface="Helvetica Neue" panose="02000503000000020004"/>
              </a:rPr>
              <a:t>2022 MA Payment Year</a:t>
            </a:r>
          </a:p>
        </p:txBody>
      </p:sp>
      <p:sp>
        <p:nvSpPr>
          <p:cNvPr id="29" name="Rectangle 28">
            <a:extLst>
              <a:ext uri="{FF2B5EF4-FFF2-40B4-BE49-F238E27FC236}">
                <a16:creationId xmlns:a16="http://schemas.microsoft.com/office/drawing/2014/main" id="{F71790B6-A53F-4B98-882F-7CFDAAABC876}"/>
              </a:ext>
            </a:extLst>
          </p:cNvPr>
          <p:cNvSpPr/>
          <p:nvPr/>
        </p:nvSpPr>
        <p:spPr>
          <a:xfrm>
            <a:off x="2028167" y="1641946"/>
            <a:ext cx="5408180" cy="1267825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anchorCtr="0"/>
          <a:lstStyle/>
          <a:p>
            <a:pPr algn="ctr"/>
            <a:r>
              <a:rPr lang="en-US" sz="2000" dirty="0">
                <a:solidFill>
                  <a:schemeClr val="bg1"/>
                </a:solidFill>
                <a:latin typeface="Helvetica Neue" panose="02000503000000020004"/>
              </a:rPr>
              <a:t>2021 MA Payment Year</a:t>
            </a:r>
          </a:p>
        </p:txBody>
      </p:sp>
      <p:sp>
        <p:nvSpPr>
          <p:cNvPr id="30" name="TextBox 29">
            <a:extLst>
              <a:ext uri="{FF2B5EF4-FFF2-40B4-BE49-F238E27FC236}">
                <a16:creationId xmlns:a16="http://schemas.microsoft.com/office/drawing/2014/main" id="{A4235D45-BE47-4A4B-9745-5A03266902CA}"/>
              </a:ext>
            </a:extLst>
          </p:cNvPr>
          <p:cNvSpPr txBox="1"/>
          <p:nvPr/>
        </p:nvSpPr>
        <p:spPr>
          <a:xfrm>
            <a:off x="7972763" y="1713480"/>
            <a:ext cx="2220481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sz="1200" i="1" dirty="0">
                <a:solidFill>
                  <a:srgbClr val="000000"/>
                </a:solidFill>
                <a:latin typeface="Helvetica Neue" panose="02000503000000020004"/>
              </a:rPr>
              <a:t>Calendar Year 2022</a:t>
            </a:r>
          </a:p>
          <a:p>
            <a:pPr algn="ctr"/>
            <a:r>
              <a:rPr lang="en-US" sz="1200" i="1" dirty="0">
                <a:solidFill>
                  <a:srgbClr val="000000"/>
                </a:solidFill>
                <a:latin typeface="Helvetica Neue" panose="02000503000000020004"/>
              </a:rPr>
              <a:t>Concurrent RA Activities</a:t>
            </a:r>
          </a:p>
          <a:p>
            <a:pPr algn="ctr"/>
            <a:r>
              <a:rPr lang="en-US" sz="1200" i="1" dirty="0">
                <a:solidFill>
                  <a:srgbClr val="000000"/>
                </a:solidFill>
                <a:latin typeface="Helvetica Neue" panose="02000503000000020004"/>
              </a:rPr>
              <a:t>(box enclosed by dashed line)</a:t>
            </a:r>
          </a:p>
        </p:txBody>
      </p:sp>
      <p:cxnSp>
        <p:nvCxnSpPr>
          <p:cNvPr id="31" name="Straight Arrow Connector 19">
            <a:extLst>
              <a:ext uri="{FF2B5EF4-FFF2-40B4-BE49-F238E27FC236}">
                <a16:creationId xmlns:a16="http://schemas.microsoft.com/office/drawing/2014/main" id="{9590AC1E-DEBC-4C42-9FB9-EE2059174D65}"/>
              </a:ext>
            </a:extLst>
          </p:cNvPr>
          <p:cNvCxnSpPr>
            <a:cxnSpLocks/>
            <a:stCxn id="30" idx="2"/>
          </p:cNvCxnSpPr>
          <p:nvPr/>
        </p:nvCxnSpPr>
        <p:spPr>
          <a:xfrm rot="5400000">
            <a:off x="8144768" y="1674757"/>
            <a:ext cx="253182" cy="1623291"/>
          </a:xfrm>
          <a:prstGeom prst="curvedConnector2">
            <a:avLst/>
          </a:prstGeom>
          <a:ln w="38100">
            <a:solidFill>
              <a:schemeClr val="accent1"/>
            </a:solidFill>
            <a:tailEnd type="triangle" w="lg" len="lg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747977979"/>
      </p:ext>
    </p:extLst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45F2381-8604-4358-8F18-175FC5E18DC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Index page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DCEC0050-5931-4660-BADB-02D459073902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647625980"/>
      </p:ext>
    </p:extLst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361" name="Title 1">
            <a:extLst>
              <a:ext uri="{FF2B5EF4-FFF2-40B4-BE49-F238E27FC236}">
                <a16:creationId xmlns:a16="http://schemas.microsoft.com/office/drawing/2014/main" id="{9BD03358-C736-4C1A-8E91-843C37ADF1D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en-US" dirty="0"/>
              <a:t>Workflow for Medicare Advantage Population</a:t>
            </a:r>
          </a:p>
        </p:txBody>
      </p:sp>
      <p:sp>
        <p:nvSpPr>
          <p:cNvPr id="15363" name="Footer Placeholder 3">
            <a:extLst>
              <a:ext uri="{FF2B5EF4-FFF2-40B4-BE49-F238E27FC236}">
                <a16:creationId xmlns:a16="http://schemas.microsoft.com/office/drawing/2014/main" id="{62AFA8FB-2E5A-4324-ADD7-1326236DA958}"/>
              </a:ext>
            </a:extLst>
          </p:cNvPr>
          <p:cNvSpPr>
            <a:spLocks noGrp="1"/>
          </p:cNvSpPr>
          <p:nvPr>
            <p:ph type="ftr" sz="quarter" idx="10"/>
          </p:nvPr>
        </p:nvSpPr>
        <p:spPr/>
        <p:txBody>
          <a:bodyPr/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  <a:ea typeface="ヒラギノ角ゴ Pro W3" pitchFamily="-126" charset="-128"/>
              </a:defRPr>
            </a:lvl1pPr>
            <a:lvl2pPr marL="990575" indent="-380990">
              <a:defRPr>
                <a:solidFill>
                  <a:schemeClr val="tx1"/>
                </a:solidFill>
                <a:latin typeface="Arial" panose="020B0604020202020204" pitchFamily="34" charset="0"/>
                <a:ea typeface="ヒラギノ角ゴ Pro W3" pitchFamily="-126" charset="-128"/>
              </a:defRPr>
            </a:lvl2pPr>
            <a:lvl3pPr marL="1523962" indent="-304792">
              <a:defRPr>
                <a:solidFill>
                  <a:schemeClr val="tx1"/>
                </a:solidFill>
                <a:latin typeface="Arial" panose="020B0604020202020204" pitchFamily="34" charset="0"/>
                <a:ea typeface="ヒラギノ角ゴ Pro W3" pitchFamily="-126" charset="-128"/>
              </a:defRPr>
            </a:lvl3pPr>
            <a:lvl4pPr marL="2133547" indent="-304792">
              <a:defRPr>
                <a:solidFill>
                  <a:schemeClr val="tx1"/>
                </a:solidFill>
                <a:latin typeface="Arial" panose="020B0604020202020204" pitchFamily="34" charset="0"/>
                <a:ea typeface="ヒラギノ角ゴ Pro W3" pitchFamily="-126" charset="-128"/>
              </a:defRPr>
            </a:lvl4pPr>
            <a:lvl5pPr marL="2743131" indent="-304792">
              <a:defRPr>
                <a:solidFill>
                  <a:schemeClr val="tx1"/>
                </a:solidFill>
                <a:latin typeface="Arial" panose="020B0604020202020204" pitchFamily="34" charset="0"/>
                <a:ea typeface="ヒラギノ角ゴ Pro W3" pitchFamily="-126" charset="-128"/>
              </a:defRPr>
            </a:lvl5pPr>
            <a:lvl6pPr marL="3352716" indent="-304792" defTabSz="609585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ヒラギノ角ゴ Pro W3" pitchFamily="-126" charset="-128"/>
              </a:defRPr>
            </a:lvl6pPr>
            <a:lvl7pPr marL="3962301" indent="-304792" defTabSz="609585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ヒラギノ角ゴ Pro W3" pitchFamily="-126" charset="-128"/>
              </a:defRPr>
            </a:lvl7pPr>
            <a:lvl8pPr marL="4571886" indent="-304792" defTabSz="609585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ヒラギノ角ゴ Pro W3" pitchFamily="-126" charset="-128"/>
              </a:defRPr>
            </a:lvl8pPr>
            <a:lvl9pPr marL="5181470" indent="-304792" defTabSz="609585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ヒラギノ角ゴ Pro W3" pitchFamily="-126" charset="-128"/>
              </a:defRPr>
            </a:lvl9pPr>
          </a:lstStyle>
          <a:p>
            <a:pPr defTabSz="609585" fontAlgn="base">
              <a:spcBef>
                <a:spcPct val="0"/>
              </a:spcBef>
              <a:spcAft>
                <a:spcPct val="0"/>
              </a:spcAft>
            </a:pPr>
            <a:r>
              <a:rPr lang="en-US" altLang="en-US">
                <a:solidFill>
                  <a:prstClr val="black"/>
                </a:solidFill>
              </a:rPr>
              <a:t>© 2019 Health Level Seven ® International. Licensed under Creative Commons Attribution 4.0 International HL7, Health Level Seven, FHIR and the FHIR flame logo are registered trademarks of Health Level Seven International. Reg. U.S. TM Office.</a:t>
            </a:r>
          </a:p>
        </p:txBody>
      </p:sp>
      <p:sp>
        <p:nvSpPr>
          <p:cNvPr id="15364" name="Slide Number Placeholder 4">
            <a:extLst>
              <a:ext uri="{FF2B5EF4-FFF2-40B4-BE49-F238E27FC236}">
                <a16:creationId xmlns:a16="http://schemas.microsoft.com/office/drawing/2014/main" id="{2EEC91F9-0B4D-4914-992D-9AA65CF32774}"/>
              </a:ext>
            </a:extLst>
          </p:cNvPr>
          <p:cNvSpPr>
            <a:spLocks noGrp="1"/>
          </p:cNvSpPr>
          <p:nvPr>
            <p:ph type="sldNum" sz="quarter" idx="11"/>
          </p:nvPr>
        </p:nvSpPr>
        <p:spPr/>
        <p:txBody>
          <a:bodyPr/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  <a:ea typeface="ヒラギノ角ゴ Pro W3" pitchFamily="-126" charset="-128"/>
              </a:defRPr>
            </a:lvl1pPr>
            <a:lvl2pPr marL="990575" indent="-380990">
              <a:defRPr>
                <a:solidFill>
                  <a:schemeClr val="tx1"/>
                </a:solidFill>
                <a:latin typeface="Arial" panose="020B0604020202020204" pitchFamily="34" charset="0"/>
                <a:ea typeface="ヒラギノ角ゴ Pro W3" pitchFamily="-126" charset="-128"/>
              </a:defRPr>
            </a:lvl2pPr>
            <a:lvl3pPr marL="1523962" indent="-304792">
              <a:defRPr>
                <a:solidFill>
                  <a:schemeClr val="tx1"/>
                </a:solidFill>
                <a:latin typeface="Arial" panose="020B0604020202020204" pitchFamily="34" charset="0"/>
                <a:ea typeface="ヒラギノ角ゴ Pro W3" pitchFamily="-126" charset="-128"/>
              </a:defRPr>
            </a:lvl3pPr>
            <a:lvl4pPr marL="2133547" indent="-304792">
              <a:defRPr>
                <a:solidFill>
                  <a:schemeClr val="tx1"/>
                </a:solidFill>
                <a:latin typeface="Arial" panose="020B0604020202020204" pitchFamily="34" charset="0"/>
                <a:ea typeface="ヒラギノ角ゴ Pro W3" pitchFamily="-126" charset="-128"/>
              </a:defRPr>
            </a:lvl4pPr>
            <a:lvl5pPr marL="2743131" indent="-304792">
              <a:defRPr>
                <a:solidFill>
                  <a:schemeClr val="tx1"/>
                </a:solidFill>
                <a:latin typeface="Arial" panose="020B0604020202020204" pitchFamily="34" charset="0"/>
                <a:ea typeface="ヒラギノ角ゴ Pro W3" pitchFamily="-126" charset="-128"/>
              </a:defRPr>
            </a:lvl5pPr>
            <a:lvl6pPr marL="3352716" indent="-304792" defTabSz="609585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ヒラギノ角ゴ Pro W3" pitchFamily="-126" charset="-128"/>
              </a:defRPr>
            </a:lvl6pPr>
            <a:lvl7pPr marL="3962301" indent="-304792" defTabSz="609585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ヒラギノ角ゴ Pro W3" pitchFamily="-126" charset="-128"/>
              </a:defRPr>
            </a:lvl7pPr>
            <a:lvl8pPr marL="4571886" indent="-304792" defTabSz="609585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ヒラギノ角ゴ Pro W3" pitchFamily="-126" charset="-128"/>
              </a:defRPr>
            </a:lvl8pPr>
            <a:lvl9pPr marL="5181470" indent="-304792" defTabSz="609585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ヒラギノ角ゴ Pro W3" pitchFamily="-126" charset="-128"/>
              </a:defRPr>
            </a:lvl9pPr>
          </a:lstStyle>
          <a:p>
            <a:pPr defTabSz="609585" fontAlgn="base">
              <a:spcBef>
                <a:spcPct val="0"/>
              </a:spcBef>
              <a:spcAft>
                <a:spcPct val="0"/>
              </a:spcAft>
            </a:pPr>
            <a:fld id="{A6B490F0-9F17-4BC8-B7C0-FB1407BB346B}" type="slidenum">
              <a:rPr lang="en-US" altLang="en-US">
                <a:solidFill>
                  <a:prstClr val="black"/>
                </a:solidFill>
              </a:rPr>
              <a:pPr defTabSz="609585" fontAlgn="base">
                <a:spcBef>
                  <a:spcPct val="0"/>
                </a:spcBef>
                <a:spcAft>
                  <a:spcPct val="0"/>
                </a:spcAft>
              </a:pPr>
              <a:t>24</a:t>
            </a:fld>
            <a:endParaRPr lang="en-US" altLang="en-US">
              <a:solidFill>
                <a:prstClr val="black"/>
              </a:solidFill>
            </a:endParaRPr>
          </a:p>
        </p:txBody>
      </p:sp>
      <p:pic>
        <p:nvPicPr>
          <p:cNvPr id="27" name="Graphic 26">
            <a:extLst>
              <a:ext uri="{FF2B5EF4-FFF2-40B4-BE49-F238E27FC236}">
                <a16:creationId xmlns:a16="http://schemas.microsoft.com/office/drawing/2014/main" id="{FCA3DB60-E4FD-411D-BFC4-01DA17A8ABBA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10150582" y="2961684"/>
            <a:ext cx="659817" cy="817600"/>
          </a:xfrm>
          <a:prstGeom prst="rect">
            <a:avLst/>
          </a:prstGeom>
        </p:spPr>
      </p:pic>
      <p:pic>
        <p:nvPicPr>
          <p:cNvPr id="28" name="Graphic 27">
            <a:extLst>
              <a:ext uri="{FF2B5EF4-FFF2-40B4-BE49-F238E27FC236}">
                <a16:creationId xmlns:a16="http://schemas.microsoft.com/office/drawing/2014/main" id="{8129DB4E-D9A3-45FE-9463-3C9796BFFFB2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7512232" y="2961683"/>
            <a:ext cx="659817" cy="996459"/>
          </a:xfrm>
          <a:prstGeom prst="rect">
            <a:avLst/>
          </a:prstGeom>
        </p:spPr>
      </p:pic>
      <p:pic>
        <p:nvPicPr>
          <p:cNvPr id="29" name="Graphic 28">
            <a:extLst>
              <a:ext uri="{FF2B5EF4-FFF2-40B4-BE49-F238E27FC236}">
                <a16:creationId xmlns:a16="http://schemas.microsoft.com/office/drawing/2014/main" id="{D25F9C97-C24C-4ADA-AAB2-031E49EE5393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>
            <a:off x="4445355" y="2979090"/>
            <a:ext cx="814124" cy="899821"/>
          </a:xfrm>
          <a:prstGeom prst="rect">
            <a:avLst/>
          </a:prstGeom>
        </p:spPr>
      </p:pic>
      <p:sp>
        <p:nvSpPr>
          <p:cNvPr id="30" name="Rounded Rectangle 3">
            <a:extLst>
              <a:ext uri="{FF2B5EF4-FFF2-40B4-BE49-F238E27FC236}">
                <a16:creationId xmlns:a16="http://schemas.microsoft.com/office/drawing/2014/main" id="{02FF7B03-5F23-45A9-82FE-ABEE01E53862}"/>
              </a:ext>
            </a:extLst>
          </p:cNvPr>
          <p:cNvSpPr/>
          <p:nvPr/>
        </p:nvSpPr>
        <p:spPr>
          <a:xfrm>
            <a:off x="5601878" y="2381431"/>
            <a:ext cx="1630257" cy="784360"/>
          </a:xfrm>
          <a:prstGeom prst="roundRect">
            <a:avLst/>
          </a:prstGeom>
          <a:solidFill>
            <a:schemeClr val="accent2">
              <a:lumMod val="40000"/>
              <a:lumOff val="60000"/>
            </a:schemeClr>
          </a:solidFill>
          <a:ln w="28575" cap="flat" cmpd="sng" algn="ctr">
            <a:solidFill>
              <a:schemeClr val="accent2">
                <a:lumMod val="60000"/>
                <a:lumOff val="40000"/>
              </a:schemeClr>
            </a:solidFill>
            <a:prstDash val="solid"/>
            <a:miter lim="800000"/>
          </a:ln>
          <a:effectLst/>
        </p:spPr>
        <p:txBody>
          <a:bodyPr rtlCol="0" anchor="t" anchorCtr="0"/>
          <a:lstStyle/>
          <a:p>
            <a:pPr algn="ctr" defTabSz="609585" fontAlgn="base">
              <a:spcBef>
                <a:spcPct val="0"/>
              </a:spcBef>
              <a:spcAft>
                <a:spcPct val="0"/>
              </a:spcAft>
              <a:defRPr/>
            </a:pPr>
            <a:r>
              <a:rPr lang="en-US" sz="1200" b="1" dirty="0">
                <a:solidFill>
                  <a:prstClr val="black"/>
                </a:solidFill>
                <a:latin typeface="Arial" panose="020B0604020202020204" pitchFamily="34" charset="0"/>
                <a:ea typeface="ヒラギノ角ゴ Pro W3" pitchFamily="-126" charset="-128"/>
                <a:cs typeface="Arial" panose="020B0604020202020204" pitchFamily="34" charset="0"/>
              </a:rPr>
              <a:t>Payer Sends Risk Coding report to provider group</a:t>
            </a:r>
          </a:p>
        </p:txBody>
      </p:sp>
      <p:cxnSp>
        <p:nvCxnSpPr>
          <p:cNvPr id="31" name="Straight Arrow Connector 30">
            <a:extLst>
              <a:ext uri="{FF2B5EF4-FFF2-40B4-BE49-F238E27FC236}">
                <a16:creationId xmlns:a16="http://schemas.microsoft.com/office/drawing/2014/main" id="{9719D31E-8A9E-445D-B5AE-979F276B314D}"/>
              </a:ext>
            </a:extLst>
          </p:cNvPr>
          <p:cNvCxnSpPr>
            <a:cxnSpLocks/>
          </p:cNvCxnSpPr>
          <p:nvPr/>
        </p:nvCxnSpPr>
        <p:spPr>
          <a:xfrm>
            <a:off x="8416630" y="3676571"/>
            <a:ext cx="1415973" cy="0"/>
          </a:xfrm>
          <a:prstGeom prst="straightConnector1">
            <a:avLst/>
          </a:prstGeom>
          <a:ln w="38100">
            <a:solidFill>
              <a:schemeClr val="bg1">
                <a:lumMod val="75000"/>
              </a:schemeClr>
            </a:solidFill>
            <a:headEnd type="triangl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32" name="Graphic 31">
            <a:extLst>
              <a:ext uri="{FF2B5EF4-FFF2-40B4-BE49-F238E27FC236}">
                <a16:creationId xmlns:a16="http://schemas.microsoft.com/office/drawing/2014/main" id="{67B26F22-9F6E-4E1E-9DFE-1B22426633F9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p:blipFill>
        <p:spPr>
          <a:xfrm>
            <a:off x="7558975" y="3937220"/>
            <a:ext cx="566328" cy="499701"/>
          </a:xfrm>
          <a:prstGeom prst="rect">
            <a:avLst/>
          </a:prstGeom>
        </p:spPr>
      </p:pic>
      <p:cxnSp>
        <p:nvCxnSpPr>
          <p:cNvPr id="33" name="Straight Arrow Connector 32">
            <a:extLst>
              <a:ext uri="{FF2B5EF4-FFF2-40B4-BE49-F238E27FC236}">
                <a16:creationId xmlns:a16="http://schemas.microsoft.com/office/drawing/2014/main" id="{D7F51C0D-6B70-4864-874E-EA5E93427A95}"/>
              </a:ext>
            </a:extLst>
          </p:cNvPr>
          <p:cNvCxnSpPr>
            <a:cxnSpLocks/>
          </p:cNvCxnSpPr>
          <p:nvPr/>
        </p:nvCxnSpPr>
        <p:spPr>
          <a:xfrm flipH="1">
            <a:off x="8416629" y="3434805"/>
            <a:ext cx="1489371" cy="0"/>
          </a:xfrm>
          <a:prstGeom prst="straightConnector1">
            <a:avLst/>
          </a:prstGeom>
          <a:ln w="38100">
            <a:solidFill>
              <a:schemeClr val="bg1">
                <a:lumMod val="75000"/>
              </a:schemeClr>
            </a:solidFill>
            <a:headEnd type="triangl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4" name="Straight Arrow Connector 33">
            <a:extLst>
              <a:ext uri="{FF2B5EF4-FFF2-40B4-BE49-F238E27FC236}">
                <a16:creationId xmlns:a16="http://schemas.microsoft.com/office/drawing/2014/main" id="{F8591E37-DF51-4BFB-9CA6-E112737AFCEF}"/>
              </a:ext>
            </a:extLst>
          </p:cNvPr>
          <p:cNvCxnSpPr>
            <a:cxnSpLocks/>
          </p:cNvCxnSpPr>
          <p:nvPr/>
        </p:nvCxnSpPr>
        <p:spPr>
          <a:xfrm flipH="1">
            <a:off x="5645918" y="3403600"/>
            <a:ext cx="1595364" cy="0"/>
          </a:xfrm>
          <a:prstGeom prst="straightConnector1">
            <a:avLst/>
          </a:prstGeom>
          <a:ln w="38100">
            <a:solidFill>
              <a:schemeClr val="bg1">
                <a:lumMod val="75000"/>
              </a:schemeClr>
            </a:solidFill>
            <a:headEnd type="triangl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5" name="Rounded Rectangle 3">
            <a:extLst>
              <a:ext uri="{FF2B5EF4-FFF2-40B4-BE49-F238E27FC236}">
                <a16:creationId xmlns:a16="http://schemas.microsoft.com/office/drawing/2014/main" id="{DBF3F585-87FF-4A30-A5F2-55205A27B61F}"/>
              </a:ext>
            </a:extLst>
          </p:cNvPr>
          <p:cNvSpPr/>
          <p:nvPr/>
        </p:nvSpPr>
        <p:spPr>
          <a:xfrm>
            <a:off x="5561851" y="3743369"/>
            <a:ext cx="1705799" cy="693552"/>
          </a:xfrm>
          <a:prstGeom prst="roundRect">
            <a:avLst>
              <a:gd name="adj" fmla="val 0"/>
            </a:avLst>
          </a:prstGeom>
          <a:noFill/>
          <a:ln w="12700" cap="flat" cmpd="sng" algn="ctr">
            <a:noFill/>
            <a:prstDash val="solid"/>
            <a:miter lim="800000"/>
          </a:ln>
          <a:effectLst/>
        </p:spPr>
        <p:txBody>
          <a:bodyPr rtlCol="0" anchor="ctr" anchorCtr="0"/>
          <a:lstStyle/>
          <a:p>
            <a:pPr algn="ctr" defTabSz="609585" fontAlgn="base">
              <a:spcBef>
                <a:spcPct val="0"/>
              </a:spcBef>
              <a:spcAft>
                <a:spcPct val="0"/>
              </a:spcAft>
              <a:defRPr/>
            </a:pPr>
            <a:r>
              <a:rPr lang="en-US" sz="1200" b="1" dirty="0">
                <a:solidFill>
                  <a:prstClr val="black"/>
                </a:solidFill>
                <a:latin typeface="Arial" panose="020B0604020202020204" pitchFamily="34" charset="0"/>
                <a:ea typeface="ヒラギノ角ゴ Pro W3" pitchFamily="-126" charset="-128"/>
                <a:cs typeface="Arial" panose="020B0604020202020204" pitchFamily="34" charset="0"/>
              </a:rPr>
              <a:t>Provider submits accurate diagnoses to payer</a:t>
            </a:r>
          </a:p>
        </p:txBody>
      </p:sp>
      <p:pic>
        <p:nvPicPr>
          <p:cNvPr id="36" name="Picture 2" descr="Centers for Medicare &amp; Medicaid Services - Wikipedia">
            <a:extLst>
              <a:ext uri="{FF2B5EF4-FFF2-40B4-BE49-F238E27FC236}">
                <a16:creationId xmlns:a16="http://schemas.microsoft.com/office/drawing/2014/main" id="{890BA03F-6052-4F98-886E-B5C1A9D0AC21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7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52084" y="3235005"/>
            <a:ext cx="1711037" cy="5928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cxnSp>
        <p:nvCxnSpPr>
          <p:cNvPr id="37" name="Straight Arrow Connector 36">
            <a:extLst>
              <a:ext uri="{FF2B5EF4-FFF2-40B4-BE49-F238E27FC236}">
                <a16:creationId xmlns:a16="http://schemas.microsoft.com/office/drawing/2014/main" id="{4A02C928-3291-45D2-AE0A-6DCA2CCAB054}"/>
              </a:ext>
            </a:extLst>
          </p:cNvPr>
          <p:cNvCxnSpPr>
            <a:cxnSpLocks/>
          </p:cNvCxnSpPr>
          <p:nvPr/>
        </p:nvCxnSpPr>
        <p:spPr>
          <a:xfrm flipH="1">
            <a:off x="2594194" y="3429000"/>
            <a:ext cx="1529073" cy="0"/>
          </a:xfrm>
          <a:prstGeom prst="straightConnector1">
            <a:avLst/>
          </a:prstGeom>
          <a:ln w="38100">
            <a:solidFill>
              <a:schemeClr val="bg1">
                <a:lumMod val="75000"/>
              </a:schemeClr>
            </a:solidFill>
            <a:headEnd type="triangl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8" name="Rounded Rectangle 3">
            <a:extLst>
              <a:ext uri="{FF2B5EF4-FFF2-40B4-BE49-F238E27FC236}">
                <a16:creationId xmlns:a16="http://schemas.microsoft.com/office/drawing/2014/main" id="{6DEC7F72-7631-48C7-8470-8BA4F3FE5E2E}"/>
              </a:ext>
            </a:extLst>
          </p:cNvPr>
          <p:cNvSpPr/>
          <p:nvPr/>
        </p:nvSpPr>
        <p:spPr>
          <a:xfrm>
            <a:off x="2167395" y="2557579"/>
            <a:ext cx="2002987" cy="808208"/>
          </a:xfrm>
          <a:prstGeom prst="roundRect">
            <a:avLst>
              <a:gd name="adj" fmla="val 0"/>
            </a:avLst>
          </a:prstGeom>
          <a:noFill/>
          <a:ln w="12700" cap="flat" cmpd="sng" algn="ctr">
            <a:noFill/>
            <a:prstDash val="solid"/>
            <a:miter lim="800000"/>
          </a:ln>
          <a:effectLst/>
        </p:spPr>
        <p:txBody>
          <a:bodyPr rtlCol="0" anchor="b" anchorCtr="0"/>
          <a:lstStyle/>
          <a:p>
            <a:pPr algn="ctr" defTabSz="609585" fontAlgn="base">
              <a:spcBef>
                <a:spcPct val="0"/>
              </a:spcBef>
              <a:spcAft>
                <a:spcPct val="0"/>
              </a:spcAft>
              <a:defRPr/>
            </a:pPr>
            <a:r>
              <a:rPr lang="en-US" sz="1200" b="1" dirty="0">
                <a:solidFill>
                  <a:prstClr val="black"/>
                </a:solidFill>
                <a:latin typeface="Arial" panose="020B0604020202020204" pitchFamily="34" charset="0"/>
                <a:ea typeface="ヒラギノ角ゴ Pro W3" pitchFamily="-126" charset="-128"/>
                <a:cs typeface="Arial" panose="020B0604020202020204" pitchFamily="34" charset="0"/>
              </a:rPr>
              <a:t>CMS allows payer to offer MA plan</a:t>
            </a:r>
          </a:p>
        </p:txBody>
      </p:sp>
      <p:cxnSp>
        <p:nvCxnSpPr>
          <p:cNvPr id="39" name="Straight Arrow Connector 38">
            <a:extLst>
              <a:ext uri="{FF2B5EF4-FFF2-40B4-BE49-F238E27FC236}">
                <a16:creationId xmlns:a16="http://schemas.microsoft.com/office/drawing/2014/main" id="{7F924731-280C-4507-8CA6-D28D52C23F72}"/>
              </a:ext>
            </a:extLst>
          </p:cNvPr>
          <p:cNvCxnSpPr>
            <a:cxnSpLocks/>
          </p:cNvCxnSpPr>
          <p:nvPr/>
        </p:nvCxnSpPr>
        <p:spPr>
          <a:xfrm>
            <a:off x="2594191" y="3676571"/>
            <a:ext cx="1529076" cy="0"/>
          </a:xfrm>
          <a:prstGeom prst="straightConnector1">
            <a:avLst/>
          </a:prstGeom>
          <a:ln w="38100">
            <a:solidFill>
              <a:schemeClr val="bg1">
                <a:lumMod val="75000"/>
              </a:schemeClr>
            </a:solidFill>
            <a:headEnd type="triangl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0" name="Rounded Rectangle 3">
            <a:extLst>
              <a:ext uri="{FF2B5EF4-FFF2-40B4-BE49-F238E27FC236}">
                <a16:creationId xmlns:a16="http://schemas.microsoft.com/office/drawing/2014/main" id="{89FB3CA7-AFC2-4D51-BE81-EBE43508B846}"/>
              </a:ext>
            </a:extLst>
          </p:cNvPr>
          <p:cNvSpPr/>
          <p:nvPr/>
        </p:nvSpPr>
        <p:spPr>
          <a:xfrm>
            <a:off x="8172048" y="2773611"/>
            <a:ext cx="1869760" cy="652728"/>
          </a:xfrm>
          <a:prstGeom prst="roundRect">
            <a:avLst>
              <a:gd name="adj" fmla="val 0"/>
            </a:avLst>
          </a:prstGeom>
          <a:noFill/>
          <a:ln w="12700" cap="flat" cmpd="sng" algn="ctr">
            <a:noFill/>
            <a:prstDash val="solid"/>
            <a:miter lim="800000"/>
          </a:ln>
          <a:effectLst/>
        </p:spPr>
        <p:txBody>
          <a:bodyPr lIns="121920" tIns="60960" rIns="121920" bIns="60960" rtlCol="0" anchor="b" anchorCtr="0"/>
          <a:lstStyle/>
          <a:p>
            <a:pPr algn="ctr" defTabSz="609585" fontAlgn="base">
              <a:spcBef>
                <a:spcPct val="0"/>
              </a:spcBef>
              <a:spcAft>
                <a:spcPct val="0"/>
              </a:spcAft>
              <a:defRPr/>
            </a:pPr>
            <a:r>
              <a:rPr lang="en-US" sz="1200" b="1" dirty="0">
                <a:solidFill>
                  <a:prstClr val="black"/>
                </a:solidFill>
                <a:latin typeface="Arial" panose="020B0604020202020204" pitchFamily="34" charset="0"/>
                <a:ea typeface="ヒラギノ角ゴ Pro W3" pitchFamily="-126" charset="-128"/>
              </a:rPr>
              <a:t>Provider group may schedule a visit with the patient</a:t>
            </a:r>
          </a:p>
        </p:txBody>
      </p:sp>
      <p:sp>
        <p:nvSpPr>
          <p:cNvPr id="41" name="Rounded Rectangle 3">
            <a:extLst>
              <a:ext uri="{FF2B5EF4-FFF2-40B4-BE49-F238E27FC236}">
                <a16:creationId xmlns:a16="http://schemas.microsoft.com/office/drawing/2014/main" id="{93419742-EA41-4935-B639-2E758B2480CE}"/>
              </a:ext>
            </a:extLst>
          </p:cNvPr>
          <p:cNvSpPr/>
          <p:nvPr/>
        </p:nvSpPr>
        <p:spPr>
          <a:xfrm>
            <a:off x="8327284" y="3706981"/>
            <a:ext cx="1705800" cy="803231"/>
          </a:xfrm>
          <a:prstGeom prst="roundRect">
            <a:avLst>
              <a:gd name="adj" fmla="val 0"/>
            </a:avLst>
          </a:prstGeom>
          <a:noFill/>
          <a:ln w="12700" cap="flat" cmpd="sng" algn="ctr">
            <a:noFill/>
            <a:prstDash val="solid"/>
            <a:miter lim="800000"/>
          </a:ln>
          <a:effectLst/>
        </p:spPr>
        <p:txBody>
          <a:bodyPr rtlCol="0" anchor="ctr" anchorCtr="0"/>
          <a:lstStyle/>
          <a:p>
            <a:pPr algn="ctr" defTabSz="609585" fontAlgn="base">
              <a:spcBef>
                <a:spcPct val="0"/>
              </a:spcBef>
              <a:spcAft>
                <a:spcPct val="0"/>
              </a:spcAft>
              <a:defRPr/>
            </a:pPr>
            <a:r>
              <a:rPr lang="en-US" sz="1200" b="1" dirty="0">
                <a:solidFill>
                  <a:prstClr val="black"/>
                </a:solidFill>
                <a:latin typeface="Arial" panose="020B0604020202020204" pitchFamily="34" charset="0"/>
                <a:ea typeface="ヒラギノ角ゴ Pro W3" pitchFamily="-126" charset="-128"/>
                <a:cs typeface="Arial" panose="020B0604020202020204" pitchFamily="34" charset="0"/>
              </a:rPr>
              <a:t>Patient comes in and the appropriate codes get captured</a:t>
            </a:r>
          </a:p>
        </p:txBody>
      </p:sp>
      <p:cxnSp>
        <p:nvCxnSpPr>
          <p:cNvPr id="42" name="Straight Arrow Connector 41">
            <a:extLst>
              <a:ext uri="{FF2B5EF4-FFF2-40B4-BE49-F238E27FC236}">
                <a16:creationId xmlns:a16="http://schemas.microsoft.com/office/drawing/2014/main" id="{864EE59C-9E32-4468-8F5E-0D3BC2F1F405}"/>
              </a:ext>
            </a:extLst>
          </p:cNvPr>
          <p:cNvCxnSpPr>
            <a:cxnSpLocks/>
          </p:cNvCxnSpPr>
          <p:nvPr/>
        </p:nvCxnSpPr>
        <p:spPr>
          <a:xfrm flipV="1">
            <a:off x="5637430" y="3677189"/>
            <a:ext cx="1519164" cy="11924"/>
          </a:xfrm>
          <a:prstGeom prst="straightConnector1">
            <a:avLst/>
          </a:prstGeom>
          <a:ln w="38100">
            <a:solidFill>
              <a:schemeClr val="bg1">
                <a:lumMod val="75000"/>
              </a:schemeClr>
            </a:solidFill>
            <a:headEnd type="triangl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3" name="Rounded Rectangle 3">
            <a:extLst>
              <a:ext uri="{FF2B5EF4-FFF2-40B4-BE49-F238E27FC236}">
                <a16:creationId xmlns:a16="http://schemas.microsoft.com/office/drawing/2014/main" id="{CF99DBC3-EA4C-4379-B165-91BB61B50DAF}"/>
              </a:ext>
            </a:extLst>
          </p:cNvPr>
          <p:cNvSpPr/>
          <p:nvPr/>
        </p:nvSpPr>
        <p:spPr>
          <a:xfrm>
            <a:off x="2247064" y="3739786"/>
            <a:ext cx="2255153" cy="919687"/>
          </a:xfrm>
          <a:prstGeom prst="roundRect">
            <a:avLst>
              <a:gd name="adj" fmla="val 0"/>
            </a:avLst>
          </a:prstGeom>
          <a:noFill/>
          <a:ln w="12700" cap="flat" cmpd="sng" algn="ctr">
            <a:noFill/>
            <a:prstDash val="solid"/>
            <a:miter lim="800000"/>
          </a:ln>
          <a:effectLst/>
        </p:spPr>
        <p:txBody>
          <a:bodyPr rtlCol="0" anchor="ctr" anchorCtr="0"/>
          <a:lstStyle/>
          <a:p>
            <a:pPr algn="ctr" defTabSz="609585" fontAlgn="base">
              <a:spcBef>
                <a:spcPct val="0"/>
              </a:spcBef>
              <a:spcAft>
                <a:spcPct val="0"/>
              </a:spcAft>
              <a:defRPr/>
            </a:pPr>
            <a:r>
              <a:rPr lang="en-US" sz="1200" b="1" dirty="0">
                <a:solidFill>
                  <a:prstClr val="black"/>
                </a:solidFill>
                <a:latin typeface="Arial" panose="020B0604020202020204" pitchFamily="34" charset="0"/>
                <a:ea typeface="ヒラギノ角ゴ Pro W3" pitchFamily="-126" charset="-128"/>
                <a:cs typeface="Arial" panose="020B0604020202020204" pitchFamily="34" charset="0"/>
              </a:rPr>
              <a:t>Payer sends codes to CMS for use in calculating appropriate monthly member premium</a:t>
            </a:r>
          </a:p>
        </p:txBody>
      </p:sp>
      <p:sp>
        <p:nvSpPr>
          <p:cNvPr id="52" name="Rounded Rectangle 15">
            <a:extLst>
              <a:ext uri="{FF2B5EF4-FFF2-40B4-BE49-F238E27FC236}">
                <a16:creationId xmlns:a16="http://schemas.microsoft.com/office/drawing/2014/main" id="{22C6AAF8-C3A5-4B46-B7CD-85F1D3E9DB03}"/>
              </a:ext>
            </a:extLst>
          </p:cNvPr>
          <p:cNvSpPr/>
          <p:nvPr/>
        </p:nvSpPr>
        <p:spPr>
          <a:xfrm>
            <a:off x="9759906" y="2364603"/>
            <a:ext cx="1363173" cy="681056"/>
          </a:xfrm>
          <a:prstGeom prst="roundRect">
            <a:avLst>
              <a:gd name="adj" fmla="val 0"/>
            </a:avLst>
          </a:prstGeom>
          <a:noFill/>
          <a:ln w="12700" cap="flat" cmpd="sng" algn="ctr">
            <a:noFill/>
            <a:prstDash val="solid"/>
            <a:miter lim="800000"/>
          </a:ln>
          <a:effectLst/>
        </p:spPr>
        <p:txBody>
          <a:bodyPr rtlCol="0" anchor="ctr" anchorCtr="0"/>
          <a:lstStyle/>
          <a:p>
            <a:pPr algn="ctr" defTabSz="1219170">
              <a:defRPr/>
            </a:pPr>
            <a:r>
              <a:rPr lang="en-US" sz="1333" b="1" dirty="0">
                <a:solidFill>
                  <a:srgbClr val="C00000"/>
                </a:solidFill>
                <a:latin typeface="Arial"/>
                <a:ea typeface="ヒラギノ角ゴ Pro W3" pitchFamily="-126" charset="-128"/>
              </a:rPr>
              <a:t>Patient</a:t>
            </a:r>
            <a:endParaRPr lang="en-US" sz="1333" b="1" kern="0" dirty="0">
              <a:solidFill>
                <a:srgbClr val="C00000"/>
              </a:solidFill>
              <a:latin typeface="Arial"/>
              <a:ea typeface="ヒラギノ角ゴ Pro W3" pitchFamily="-126" charset="-128"/>
            </a:endParaRPr>
          </a:p>
        </p:txBody>
      </p:sp>
      <p:sp>
        <p:nvSpPr>
          <p:cNvPr id="53" name="TextBox 52">
            <a:extLst>
              <a:ext uri="{FF2B5EF4-FFF2-40B4-BE49-F238E27FC236}">
                <a16:creationId xmlns:a16="http://schemas.microsoft.com/office/drawing/2014/main" id="{BA5094DE-7D34-4FC5-82BA-BAF7A1628703}"/>
              </a:ext>
            </a:extLst>
          </p:cNvPr>
          <p:cNvSpPr txBox="1"/>
          <p:nvPr/>
        </p:nvSpPr>
        <p:spPr>
          <a:xfrm>
            <a:off x="7212228" y="2395209"/>
            <a:ext cx="1259821" cy="50257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 defTabSz="609585" fontAlgn="base">
              <a:spcBef>
                <a:spcPct val="0"/>
              </a:spcBef>
              <a:spcAft>
                <a:spcPct val="0"/>
              </a:spcAft>
              <a:defRPr/>
            </a:pPr>
            <a:r>
              <a:rPr lang="en-US" sz="1333" b="1" dirty="0">
                <a:solidFill>
                  <a:srgbClr val="C00000"/>
                </a:solidFill>
                <a:latin typeface="Arial"/>
                <a:ea typeface="ヒラギノ角ゴ Pro W3" pitchFamily="-126" charset="-128"/>
              </a:rPr>
              <a:t>Provider Group</a:t>
            </a:r>
          </a:p>
        </p:txBody>
      </p:sp>
      <p:sp>
        <p:nvSpPr>
          <p:cNvPr id="54" name="TextBox 53">
            <a:extLst>
              <a:ext uri="{FF2B5EF4-FFF2-40B4-BE49-F238E27FC236}">
                <a16:creationId xmlns:a16="http://schemas.microsoft.com/office/drawing/2014/main" id="{1BF9B401-9E22-49A1-8DA8-76E6172C43D0}"/>
              </a:ext>
            </a:extLst>
          </p:cNvPr>
          <p:cNvSpPr txBox="1"/>
          <p:nvPr/>
        </p:nvSpPr>
        <p:spPr>
          <a:xfrm>
            <a:off x="3764497" y="2514002"/>
            <a:ext cx="2115679" cy="2974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 defTabSz="609585" fontAlgn="base">
              <a:spcBef>
                <a:spcPct val="0"/>
              </a:spcBef>
              <a:spcAft>
                <a:spcPct val="0"/>
              </a:spcAft>
              <a:defRPr/>
            </a:pPr>
            <a:r>
              <a:rPr lang="en-US" sz="1333" b="1" dirty="0">
                <a:solidFill>
                  <a:srgbClr val="F79646">
                    <a:lumMod val="50000"/>
                  </a:srgbClr>
                </a:solidFill>
                <a:latin typeface="Arial"/>
                <a:ea typeface="ヒラギノ角ゴ Pro W3" pitchFamily="-126" charset="-128"/>
              </a:rPr>
              <a:t>Payer</a:t>
            </a:r>
          </a:p>
        </p:txBody>
      </p:sp>
      <p:sp>
        <p:nvSpPr>
          <p:cNvPr id="2" name="Oval 1">
            <a:extLst>
              <a:ext uri="{FF2B5EF4-FFF2-40B4-BE49-F238E27FC236}">
                <a16:creationId xmlns:a16="http://schemas.microsoft.com/office/drawing/2014/main" id="{5D0169D5-6BC7-48EA-B0F1-149FA0F465C3}"/>
              </a:ext>
            </a:extLst>
          </p:cNvPr>
          <p:cNvSpPr/>
          <p:nvPr/>
        </p:nvSpPr>
        <p:spPr>
          <a:xfrm>
            <a:off x="4414964" y="1657510"/>
            <a:ext cx="3912321" cy="1917711"/>
          </a:xfrm>
          <a:prstGeom prst="ellipse">
            <a:avLst/>
          </a:prstGeom>
          <a:noFill/>
          <a:ln>
            <a:solidFill>
              <a:srgbClr val="00B05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defTabSz="609585" fontAlgn="base">
              <a:spcBef>
                <a:spcPct val="0"/>
              </a:spcBef>
              <a:spcAft>
                <a:spcPct val="0"/>
              </a:spcAft>
            </a:pPr>
            <a:endParaRPr lang="en-US" sz="2400" dirty="0">
              <a:solidFill>
                <a:prstClr val="white"/>
              </a:solidFill>
              <a:latin typeface="Arial"/>
            </a:endParaRP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C58EE0DD-6D0B-4581-BB37-C408CD8456B4}"/>
              </a:ext>
            </a:extLst>
          </p:cNvPr>
          <p:cNvSpPr txBox="1"/>
          <p:nvPr/>
        </p:nvSpPr>
        <p:spPr>
          <a:xfrm>
            <a:off x="5645918" y="1674039"/>
            <a:ext cx="1210588" cy="33855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defTabSz="609585" fontAlgn="base">
              <a:spcBef>
                <a:spcPct val="0"/>
              </a:spcBef>
              <a:spcAft>
                <a:spcPct val="0"/>
              </a:spcAft>
            </a:pPr>
            <a:r>
              <a:rPr lang="en-US" sz="1600" dirty="0">
                <a:solidFill>
                  <a:srgbClr val="00B050"/>
                </a:solidFill>
                <a:latin typeface="Arial" panose="020B0604020202020204" pitchFamily="34" charset="0"/>
                <a:ea typeface="ヒラギノ角ゴ Pro W3" pitchFamily="-126" charset="-128"/>
              </a:rPr>
              <a:t>Phase One</a:t>
            </a:r>
          </a:p>
        </p:txBody>
      </p:sp>
    </p:spTree>
    <p:extLst>
      <p:ext uri="{BB962C8B-B14F-4D97-AF65-F5344CB8AC3E}">
        <p14:creationId xmlns:p14="http://schemas.microsoft.com/office/powerpoint/2010/main" val="3699966150"/>
      </p:ext>
    </p:extLst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361" name="Title 1">
            <a:extLst>
              <a:ext uri="{FF2B5EF4-FFF2-40B4-BE49-F238E27FC236}">
                <a16:creationId xmlns:a16="http://schemas.microsoft.com/office/drawing/2014/main" id="{9BD03358-C736-4C1A-8E91-843C37ADF1D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en-US" dirty="0"/>
              <a:t>Workflow for Medicare Advantage Population</a:t>
            </a:r>
          </a:p>
        </p:txBody>
      </p:sp>
      <p:sp>
        <p:nvSpPr>
          <p:cNvPr id="15363" name="Footer Placeholder 3">
            <a:extLst>
              <a:ext uri="{FF2B5EF4-FFF2-40B4-BE49-F238E27FC236}">
                <a16:creationId xmlns:a16="http://schemas.microsoft.com/office/drawing/2014/main" id="{62AFA8FB-2E5A-4324-ADD7-1326236DA958}"/>
              </a:ext>
            </a:extLst>
          </p:cNvPr>
          <p:cNvSpPr>
            <a:spLocks noGrp="1"/>
          </p:cNvSpPr>
          <p:nvPr>
            <p:ph type="ftr" sz="quarter" idx="10"/>
          </p:nvPr>
        </p:nvSpPr>
        <p:spPr/>
        <p:txBody>
          <a:bodyPr/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  <a:ea typeface="ヒラギノ角ゴ Pro W3" pitchFamily="-126" charset="-128"/>
              </a:defRPr>
            </a:lvl1pPr>
            <a:lvl2pPr marL="990575" indent="-380990">
              <a:defRPr>
                <a:solidFill>
                  <a:schemeClr val="tx1"/>
                </a:solidFill>
                <a:latin typeface="Arial" panose="020B0604020202020204" pitchFamily="34" charset="0"/>
                <a:ea typeface="ヒラギノ角ゴ Pro W3" pitchFamily="-126" charset="-128"/>
              </a:defRPr>
            </a:lvl2pPr>
            <a:lvl3pPr marL="1523962" indent="-304792">
              <a:defRPr>
                <a:solidFill>
                  <a:schemeClr val="tx1"/>
                </a:solidFill>
                <a:latin typeface="Arial" panose="020B0604020202020204" pitchFamily="34" charset="0"/>
                <a:ea typeface="ヒラギノ角ゴ Pro W3" pitchFamily="-126" charset="-128"/>
              </a:defRPr>
            </a:lvl3pPr>
            <a:lvl4pPr marL="2133547" indent="-304792">
              <a:defRPr>
                <a:solidFill>
                  <a:schemeClr val="tx1"/>
                </a:solidFill>
                <a:latin typeface="Arial" panose="020B0604020202020204" pitchFamily="34" charset="0"/>
                <a:ea typeface="ヒラギノ角ゴ Pro W3" pitchFamily="-126" charset="-128"/>
              </a:defRPr>
            </a:lvl4pPr>
            <a:lvl5pPr marL="2743131" indent="-304792">
              <a:defRPr>
                <a:solidFill>
                  <a:schemeClr val="tx1"/>
                </a:solidFill>
                <a:latin typeface="Arial" panose="020B0604020202020204" pitchFamily="34" charset="0"/>
                <a:ea typeface="ヒラギノ角ゴ Pro W3" pitchFamily="-126" charset="-128"/>
              </a:defRPr>
            </a:lvl5pPr>
            <a:lvl6pPr marL="3352716" indent="-304792" defTabSz="609585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ヒラギノ角ゴ Pro W3" pitchFamily="-126" charset="-128"/>
              </a:defRPr>
            </a:lvl6pPr>
            <a:lvl7pPr marL="3962301" indent="-304792" defTabSz="609585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ヒラギノ角ゴ Pro W3" pitchFamily="-126" charset="-128"/>
              </a:defRPr>
            </a:lvl7pPr>
            <a:lvl8pPr marL="4571886" indent="-304792" defTabSz="609585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ヒラギノ角ゴ Pro W3" pitchFamily="-126" charset="-128"/>
              </a:defRPr>
            </a:lvl8pPr>
            <a:lvl9pPr marL="5181470" indent="-304792" defTabSz="609585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ヒラギノ角ゴ Pro W3" pitchFamily="-126" charset="-128"/>
              </a:defRPr>
            </a:lvl9pPr>
          </a:lstStyle>
          <a:p>
            <a:pPr defTabSz="609585" fontAlgn="base">
              <a:spcBef>
                <a:spcPct val="0"/>
              </a:spcBef>
              <a:spcAft>
                <a:spcPct val="0"/>
              </a:spcAft>
            </a:pPr>
            <a:r>
              <a:rPr lang="en-US" altLang="en-US">
                <a:solidFill>
                  <a:prstClr val="black"/>
                </a:solidFill>
              </a:rPr>
              <a:t>© 2019 Health Level Seven ® International. Licensed under Creative Commons Attribution 4.0 International HL7, Health Level Seven, FHIR and the FHIR flame logo are registered trademarks of Health Level Seven International. Reg. U.S. TM Office.</a:t>
            </a:r>
          </a:p>
        </p:txBody>
      </p:sp>
      <p:sp>
        <p:nvSpPr>
          <p:cNvPr id="15364" name="Slide Number Placeholder 4">
            <a:extLst>
              <a:ext uri="{FF2B5EF4-FFF2-40B4-BE49-F238E27FC236}">
                <a16:creationId xmlns:a16="http://schemas.microsoft.com/office/drawing/2014/main" id="{2EEC91F9-0B4D-4914-992D-9AA65CF32774}"/>
              </a:ext>
            </a:extLst>
          </p:cNvPr>
          <p:cNvSpPr>
            <a:spLocks noGrp="1"/>
          </p:cNvSpPr>
          <p:nvPr>
            <p:ph type="sldNum" sz="quarter" idx="11"/>
          </p:nvPr>
        </p:nvSpPr>
        <p:spPr/>
        <p:txBody>
          <a:bodyPr/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  <a:ea typeface="ヒラギノ角ゴ Pro W3" pitchFamily="-126" charset="-128"/>
              </a:defRPr>
            </a:lvl1pPr>
            <a:lvl2pPr marL="990575" indent="-380990">
              <a:defRPr>
                <a:solidFill>
                  <a:schemeClr val="tx1"/>
                </a:solidFill>
                <a:latin typeface="Arial" panose="020B0604020202020204" pitchFamily="34" charset="0"/>
                <a:ea typeface="ヒラギノ角ゴ Pro W3" pitchFamily="-126" charset="-128"/>
              </a:defRPr>
            </a:lvl2pPr>
            <a:lvl3pPr marL="1523962" indent="-304792">
              <a:defRPr>
                <a:solidFill>
                  <a:schemeClr val="tx1"/>
                </a:solidFill>
                <a:latin typeface="Arial" panose="020B0604020202020204" pitchFamily="34" charset="0"/>
                <a:ea typeface="ヒラギノ角ゴ Pro W3" pitchFamily="-126" charset="-128"/>
              </a:defRPr>
            </a:lvl3pPr>
            <a:lvl4pPr marL="2133547" indent="-304792">
              <a:defRPr>
                <a:solidFill>
                  <a:schemeClr val="tx1"/>
                </a:solidFill>
                <a:latin typeface="Arial" panose="020B0604020202020204" pitchFamily="34" charset="0"/>
                <a:ea typeface="ヒラギノ角ゴ Pro W3" pitchFamily="-126" charset="-128"/>
              </a:defRPr>
            </a:lvl4pPr>
            <a:lvl5pPr marL="2743131" indent="-304792">
              <a:defRPr>
                <a:solidFill>
                  <a:schemeClr val="tx1"/>
                </a:solidFill>
                <a:latin typeface="Arial" panose="020B0604020202020204" pitchFamily="34" charset="0"/>
                <a:ea typeface="ヒラギノ角ゴ Pro W3" pitchFamily="-126" charset="-128"/>
              </a:defRPr>
            </a:lvl5pPr>
            <a:lvl6pPr marL="3352716" indent="-304792" defTabSz="609585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ヒラギノ角ゴ Pro W3" pitchFamily="-126" charset="-128"/>
              </a:defRPr>
            </a:lvl6pPr>
            <a:lvl7pPr marL="3962301" indent="-304792" defTabSz="609585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ヒラギノ角ゴ Pro W3" pitchFamily="-126" charset="-128"/>
              </a:defRPr>
            </a:lvl7pPr>
            <a:lvl8pPr marL="4571886" indent="-304792" defTabSz="609585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ヒラギノ角ゴ Pro W3" pitchFamily="-126" charset="-128"/>
              </a:defRPr>
            </a:lvl8pPr>
            <a:lvl9pPr marL="5181470" indent="-304792" defTabSz="609585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ヒラギノ角ゴ Pro W3" pitchFamily="-126" charset="-128"/>
              </a:defRPr>
            </a:lvl9pPr>
          </a:lstStyle>
          <a:p>
            <a:pPr defTabSz="609585" fontAlgn="base">
              <a:spcBef>
                <a:spcPct val="0"/>
              </a:spcBef>
              <a:spcAft>
                <a:spcPct val="0"/>
              </a:spcAft>
            </a:pPr>
            <a:fld id="{A6B490F0-9F17-4BC8-B7C0-FB1407BB346B}" type="slidenum">
              <a:rPr lang="en-US" altLang="en-US">
                <a:solidFill>
                  <a:prstClr val="black"/>
                </a:solidFill>
              </a:rPr>
              <a:pPr defTabSz="609585" fontAlgn="base">
                <a:spcBef>
                  <a:spcPct val="0"/>
                </a:spcBef>
                <a:spcAft>
                  <a:spcPct val="0"/>
                </a:spcAft>
              </a:pPr>
              <a:t>25</a:t>
            </a:fld>
            <a:endParaRPr lang="en-US" altLang="en-US">
              <a:solidFill>
                <a:prstClr val="black"/>
              </a:solidFill>
            </a:endParaRPr>
          </a:p>
        </p:txBody>
      </p:sp>
      <p:pic>
        <p:nvPicPr>
          <p:cNvPr id="27" name="Graphic 26">
            <a:extLst>
              <a:ext uri="{FF2B5EF4-FFF2-40B4-BE49-F238E27FC236}">
                <a16:creationId xmlns:a16="http://schemas.microsoft.com/office/drawing/2014/main" id="{FCA3DB60-E4FD-411D-BFC4-01DA17A8ABBA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10150582" y="2961684"/>
            <a:ext cx="659817" cy="817600"/>
          </a:xfrm>
          <a:prstGeom prst="rect">
            <a:avLst/>
          </a:prstGeom>
        </p:spPr>
      </p:pic>
      <p:pic>
        <p:nvPicPr>
          <p:cNvPr id="28" name="Graphic 27">
            <a:extLst>
              <a:ext uri="{FF2B5EF4-FFF2-40B4-BE49-F238E27FC236}">
                <a16:creationId xmlns:a16="http://schemas.microsoft.com/office/drawing/2014/main" id="{8129DB4E-D9A3-45FE-9463-3C9796BFFFB2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7512232" y="2961683"/>
            <a:ext cx="659817" cy="996459"/>
          </a:xfrm>
          <a:prstGeom prst="rect">
            <a:avLst/>
          </a:prstGeom>
        </p:spPr>
      </p:pic>
      <p:pic>
        <p:nvPicPr>
          <p:cNvPr id="29" name="Graphic 28">
            <a:extLst>
              <a:ext uri="{FF2B5EF4-FFF2-40B4-BE49-F238E27FC236}">
                <a16:creationId xmlns:a16="http://schemas.microsoft.com/office/drawing/2014/main" id="{D25F9C97-C24C-4ADA-AAB2-031E49EE5393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>
            <a:off x="4445355" y="2979090"/>
            <a:ext cx="814124" cy="899821"/>
          </a:xfrm>
          <a:prstGeom prst="rect">
            <a:avLst/>
          </a:prstGeom>
        </p:spPr>
      </p:pic>
      <p:sp>
        <p:nvSpPr>
          <p:cNvPr id="30" name="Rounded Rectangle 3">
            <a:extLst>
              <a:ext uri="{FF2B5EF4-FFF2-40B4-BE49-F238E27FC236}">
                <a16:creationId xmlns:a16="http://schemas.microsoft.com/office/drawing/2014/main" id="{02FF7B03-5F23-45A9-82FE-ABEE01E53862}"/>
              </a:ext>
            </a:extLst>
          </p:cNvPr>
          <p:cNvSpPr/>
          <p:nvPr/>
        </p:nvSpPr>
        <p:spPr>
          <a:xfrm>
            <a:off x="5601878" y="2381431"/>
            <a:ext cx="1630257" cy="784360"/>
          </a:xfrm>
          <a:prstGeom prst="roundRect">
            <a:avLst/>
          </a:prstGeom>
          <a:solidFill>
            <a:schemeClr val="accent2">
              <a:lumMod val="40000"/>
              <a:lumOff val="60000"/>
            </a:schemeClr>
          </a:solidFill>
          <a:ln w="28575" cap="flat" cmpd="sng" algn="ctr">
            <a:solidFill>
              <a:schemeClr val="accent2">
                <a:lumMod val="60000"/>
                <a:lumOff val="40000"/>
              </a:schemeClr>
            </a:solidFill>
            <a:prstDash val="solid"/>
            <a:miter lim="800000"/>
          </a:ln>
          <a:effectLst/>
        </p:spPr>
        <p:txBody>
          <a:bodyPr rtlCol="0" anchor="t" anchorCtr="0"/>
          <a:lstStyle/>
          <a:p>
            <a:pPr algn="ctr" defTabSz="609585" fontAlgn="base">
              <a:spcBef>
                <a:spcPct val="0"/>
              </a:spcBef>
              <a:spcAft>
                <a:spcPct val="0"/>
              </a:spcAft>
              <a:defRPr/>
            </a:pPr>
            <a:r>
              <a:rPr lang="en-US" sz="1200" b="1" dirty="0">
                <a:solidFill>
                  <a:prstClr val="black"/>
                </a:solidFill>
                <a:latin typeface="Arial" panose="020B0604020202020204" pitchFamily="34" charset="0"/>
                <a:ea typeface="ヒラギノ角ゴ Pro W3" pitchFamily="-126" charset="-128"/>
                <a:cs typeface="Arial" panose="020B0604020202020204" pitchFamily="34" charset="0"/>
              </a:rPr>
              <a:t>Payer sends risk coding gap report to provider group</a:t>
            </a:r>
          </a:p>
        </p:txBody>
      </p:sp>
      <p:cxnSp>
        <p:nvCxnSpPr>
          <p:cNvPr id="31" name="Straight Arrow Connector 30">
            <a:extLst>
              <a:ext uri="{FF2B5EF4-FFF2-40B4-BE49-F238E27FC236}">
                <a16:creationId xmlns:a16="http://schemas.microsoft.com/office/drawing/2014/main" id="{9719D31E-8A9E-445D-B5AE-979F276B314D}"/>
              </a:ext>
            </a:extLst>
          </p:cNvPr>
          <p:cNvCxnSpPr>
            <a:cxnSpLocks/>
          </p:cNvCxnSpPr>
          <p:nvPr/>
        </p:nvCxnSpPr>
        <p:spPr>
          <a:xfrm>
            <a:off x="8416630" y="3676571"/>
            <a:ext cx="1415973" cy="0"/>
          </a:xfrm>
          <a:prstGeom prst="straightConnector1">
            <a:avLst/>
          </a:prstGeom>
          <a:ln w="38100">
            <a:solidFill>
              <a:schemeClr val="bg1">
                <a:lumMod val="75000"/>
              </a:schemeClr>
            </a:solidFill>
            <a:headEnd type="triangl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32" name="Graphic 31">
            <a:extLst>
              <a:ext uri="{FF2B5EF4-FFF2-40B4-BE49-F238E27FC236}">
                <a16:creationId xmlns:a16="http://schemas.microsoft.com/office/drawing/2014/main" id="{67B26F22-9F6E-4E1E-9DFE-1B22426633F9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p:blipFill>
        <p:spPr>
          <a:xfrm>
            <a:off x="7558975" y="3937220"/>
            <a:ext cx="566328" cy="499701"/>
          </a:xfrm>
          <a:prstGeom prst="rect">
            <a:avLst/>
          </a:prstGeom>
        </p:spPr>
      </p:pic>
      <p:cxnSp>
        <p:nvCxnSpPr>
          <p:cNvPr id="33" name="Straight Arrow Connector 32">
            <a:extLst>
              <a:ext uri="{FF2B5EF4-FFF2-40B4-BE49-F238E27FC236}">
                <a16:creationId xmlns:a16="http://schemas.microsoft.com/office/drawing/2014/main" id="{D7F51C0D-6B70-4864-874E-EA5E93427A95}"/>
              </a:ext>
            </a:extLst>
          </p:cNvPr>
          <p:cNvCxnSpPr>
            <a:cxnSpLocks/>
          </p:cNvCxnSpPr>
          <p:nvPr/>
        </p:nvCxnSpPr>
        <p:spPr>
          <a:xfrm flipH="1">
            <a:off x="8416629" y="3434805"/>
            <a:ext cx="1489371" cy="0"/>
          </a:xfrm>
          <a:prstGeom prst="straightConnector1">
            <a:avLst/>
          </a:prstGeom>
          <a:ln w="38100">
            <a:solidFill>
              <a:schemeClr val="bg1">
                <a:lumMod val="75000"/>
              </a:schemeClr>
            </a:solidFill>
            <a:headEnd type="triangl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4" name="Straight Arrow Connector 33">
            <a:extLst>
              <a:ext uri="{FF2B5EF4-FFF2-40B4-BE49-F238E27FC236}">
                <a16:creationId xmlns:a16="http://schemas.microsoft.com/office/drawing/2014/main" id="{F8591E37-DF51-4BFB-9CA6-E112737AFCEF}"/>
              </a:ext>
            </a:extLst>
          </p:cNvPr>
          <p:cNvCxnSpPr>
            <a:cxnSpLocks/>
          </p:cNvCxnSpPr>
          <p:nvPr/>
        </p:nvCxnSpPr>
        <p:spPr>
          <a:xfrm flipH="1">
            <a:off x="5645918" y="3403600"/>
            <a:ext cx="1595364" cy="0"/>
          </a:xfrm>
          <a:prstGeom prst="straightConnector1">
            <a:avLst/>
          </a:prstGeom>
          <a:ln w="38100">
            <a:solidFill>
              <a:schemeClr val="bg1">
                <a:lumMod val="75000"/>
              </a:schemeClr>
            </a:solidFill>
            <a:headEnd type="triangl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5" name="Rounded Rectangle 3">
            <a:extLst>
              <a:ext uri="{FF2B5EF4-FFF2-40B4-BE49-F238E27FC236}">
                <a16:creationId xmlns:a16="http://schemas.microsoft.com/office/drawing/2014/main" id="{DBF3F585-87FF-4A30-A5F2-55205A27B61F}"/>
              </a:ext>
            </a:extLst>
          </p:cNvPr>
          <p:cNvSpPr/>
          <p:nvPr/>
        </p:nvSpPr>
        <p:spPr>
          <a:xfrm>
            <a:off x="5561851" y="3743369"/>
            <a:ext cx="1705799" cy="693552"/>
          </a:xfrm>
          <a:prstGeom prst="roundRect">
            <a:avLst>
              <a:gd name="adj" fmla="val 0"/>
            </a:avLst>
          </a:prstGeom>
          <a:noFill/>
          <a:ln w="12700" cap="flat" cmpd="sng" algn="ctr">
            <a:noFill/>
            <a:prstDash val="solid"/>
            <a:miter lim="800000"/>
          </a:ln>
          <a:effectLst/>
        </p:spPr>
        <p:txBody>
          <a:bodyPr rtlCol="0" anchor="ctr" anchorCtr="0"/>
          <a:lstStyle/>
          <a:p>
            <a:pPr algn="ctr" defTabSz="609585" fontAlgn="base">
              <a:spcBef>
                <a:spcPct val="0"/>
              </a:spcBef>
              <a:spcAft>
                <a:spcPct val="0"/>
              </a:spcAft>
              <a:defRPr/>
            </a:pPr>
            <a:r>
              <a:rPr lang="en-US" sz="1200" b="1" dirty="0">
                <a:solidFill>
                  <a:prstClr val="black"/>
                </a:solidFill>
                <a:latin typeface="Arial" panose="020B0604020202020204" pitchFamily="34" charset="0"/>
                <a:ea typeface="ヒラギノ角ゴ Pro W3" pitchFamily="-126" charset="-128"/>
                <a:cs typeface="Arial" panose="020B0604020202020204" pitchFamily="34" charset="0"/>
              </a:rPr>
              <a:t>Provider submits accurate diagnoses to payer</a:t>
            </a:r>
          </a:p>
        </p:txBody>
      </p:sp>
      <p:pic>
        <p:nvPicPr>
          <p:cNvPr id="36" name="Picture 2" descr="Centers for Medicare &amp; Medicaid Services - Wikipedia">
            <a:extLst>
              <a:ext uri="{FF2B5EF4-FFF2-40B4-BE49-F238E27FC236}">
                <a16:creationId xmlns:a16="http://schemas.microsoft.com/office/drawing/2014/main" id="{890BA03F-6052-4F98-886E-B5C1A9D0AC21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7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52084" y="3235005"/>
            <a:ext cx="1711037" cy="5928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cxnSp>
        <p:nvCxnSpPr>
          <p:cNvPr id="37" name="Straight Arrow Connector 36">
            <a:extLst>
              <a:ext uri="{FF2B5EF4-FFF2-40B4-BE49-F238E27FC236}">
                <a16:creationId xmlns:a16="http://schemas.microsoft.com/office/drawing/2014/main" id="{4A02C928-3291-45D2-AE0A-6DCA2CCAB054}"/>
              </a:ext>
            </a:extLst>
          </p:cNvPr>
          <p:cNvCxnSpPr>
            <a:cxnSpLocks/>
          </p:cNvCxnSpPr>
          <p:nvPr/>
        </p:nvCxnSpPr>
        <p:spPr>
          <a:xfrm flipH="1">
            <a:off x="2594194" y="3429000"/>
            <a:ext cx="1529073" cy="0"/>
          </a:xfrm>
          <a:prstGeom prst="straightConnector1">
            <a:avLst/>
          </a:prstGeom>
          <a:ln w="38100">
            <a:solidFill>
              <a:schemeClr val="bg1">
                <a:lumMod val="75000"/>
              </a:schemeClr>
            </a:solidFill>
            <a:headEnd type="triangl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8" name="Rounded Rectangle 3">
            <a:extLst>
              <a:ext uri="{FF2B5EF4-FFF2-40B4-BE49-F238E27FC236}">
                <a16:creationId xmlns:a16="http://schemas.microsoft.com/office/drawing/2014/main" id="{6DEC7F72-7631-48C7-8470-8BA4F3FE5E2E}"/>
              </a:ext>
            </a:extLst>
          </p:cNvPr>
          <p:cNvSpPr/>
          <p:nvPr/>
        </p:nvSpPr>
        <p:spPr>
          <a:xfrm>
            <a:off x="2167395" y="2557579"/>
            <a:ext cx="2002987" cy="808208"/>
          </a:xfrm>
          <a:prstGeom prst="roundRect">
            <a:avLst>
              <a:gd name="adj" fmla="val 0"/>
            </a:avLst>
          </a:prstGeom>
          <a:noFill/>
          <a:ln w="12700" cap="flat" cmpd="sng" algn="ctr">
            <a:noFill/>
            <a:prstDash val="solid"/>
            <a:miter lim="800000"/>
          </a:ln>
          <a:effectLst/>
        </p:spPr>
        <p:txBody>
          <a:bodyPr rtlCol="0" anchor="b" anchorCtr="0"/>
          <a:lstStyle/>
          <a:p>
            <a:pPr algn="ctr" defTabSz="609585" fontAlgn="base">
              <a:spcBef>
                <a:spcPct val="0"/>
              </a:spcBef>
              <a:spcAft>
                <a:spcPct val="0"/>
              </a:spcAft>
              <a:defRPr/>
            </a:pPr>
            <a:r>
              <a:rPr lang="en-US" sz="1200" b="1" dirty="0">
                <a:solidFill>
                  <a:prstClr val="black"/>
                </a:solidFill>
                <a:latin typeface="Arial" panose="020B0604020202020204" pitchFamily="34" charset="0"/>
                <a:ea typeface="ヒラギノ角ゴ Pro W3" pitchFamily="-126" charset="-128"/>
                <a:cs typeface="Arial" panose="020B0604020202020204" pitchFamily="34" charset="0"/>
              </a:rPr>
              <a:t>CMS allows payer to offer MA plan</a:t>
            </a:r>
          </a:p>
        </p:txBody>
      </p:sp>
      <p:cxnSp>
        <p:nvCxnSpPr>
          <p:cNvPr id="39" name="Straight Arrow Connector 38">
            <a:extLst>
              <a:ext uri="{FF2B5EF4-FFF2-40B4-BE49-F238E27FC236}">
                <a16:creationId xmlns:a16="http://schemas.microsoft.com/office/drawing/2014/main" id="{7F924731-280C-4507-8CA6-D28D52C23F72}"/>
              </a:ext>
            </a:extLst>
          </p:cNvPr>
          <p:cNvCxnSpPr>
            <a:cxnSpLocks/>
          </p:cNvCxnSpPr>
          <p:nvPr/>
        </p:nvCxnSpPr>
        <p:spPr>
          <a:xfrm>
            <a:off x="2594191" y="3676571"/>
            <a:ext cx="1529076" cy="0"/>
          </a:xfrm>
          <a:prstGeom prst="straightConnector1">
            <a:avLst/>
          </a:prstGeom>
          <a:ln w="38100">
            <a:solidFill>
              <a:schemeClr val="bg1">
                <a:lumMod val="75000"/>
              </a:schemeClr>
            </a:solidFill>
            <a:headEnd type="triangl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0" name="Rounded Rectangle 3">
            <a:extLst>
              <a:ext uri="{FF2B5EF4-FFF2-40B4-BE49-F238E27FC236}">
                <a16:creationId xmlns:a16="http://schemas.microsoft.com/office/drawing/2014/main" id="{89FB3CA7-AFC2-4D51-BE81-EBE43508B846}"/>
              </a:ext>
            </a:extLst>
          </p:cNvPr>
          <p:cNvSpPr/>
          <p:nvPr/>
        </p:nvSpPr>
        <p:spPr>
          <a:xfrm>
            <a:off x="8172048" y="2773611"/>
            <a:ext cx="1869760" cy="652728"/>
          </a:xfrm>
          <a:prstGeom prst="roundRect">
            <a:avLst>
              <a:gd name="adj" fmla="val 0"/>
            </a:avLst>
          </a:prstGeom>
          <a:noFill/>
          <a:ln w="12700" cap="flat" cmpd="sng" algn="ctr">
            <a:noFill/>
            <a:prstDash val="solid"/>
            <a:miter lim="800000"/>
          </a:ln>
          <a:effectLst/>
        </p:spPr>
        <p:txBody>
          <a:bodyPr lIns="121920" tIns="60960" rIns="121920" bIns="60960" rtlCol="0" anchor="b" anchorCtr="0"/>
          <a:lstStyle/>
          <a:p>
            <a:pPr algn="ctr" defTabSz="609585" fontAlgn="base">
              <a:spcBef>
                <a:spcPct val="0"/>
              </a:spcBef>
              <a:spcAft>
                <a:spcPct val="0"/>
              </a:spcAft>
              <a:defRPr/>
            </a:pPr>
            <a:r>
              <a:rPr lang="en-US" sz="1200" b="1" dirty="0">
                <a:solidFill>
                  <a:prstClr val="black"/>
                </a:solidFill>
                <a:latin typeface="Arial" panose="020B0604020202020204" pitchFamily="34" charset="0"/>
                <a:ea typeface="ヒラギノ角ゴ Pro W3" pitchFamily="-126" charset="-128"/>
              </a:rPr>
              <a:t>Provider group may schedule a visit with the patient</a:t>
            </a:r>
          </a:p>
        </p:txBody>
      </p:sp>
      <p:sp>
        <p:nvSpPr>
          <p:cNvPr id="41" name="Rounded Rectangle 3">
            <a:extLst>
              <a:ext uri="{FF2B5EF4-FFF2-40B4-BE49-F238E27FC236}">
                <a16:creationId xmlns:a16="http://schemas.microsoft.com/office/drawing/2014/main" id="{93419742-EA41-4935-B639-2E758B2480CE}"/>
              </a:ext>
            </a:extLst>
          </p:cNvPr>
          <p:cNvSpPr/>
          <p:nvPr/>
        </p:nvSpPr>
        <p:spPr>
          <a:xfrm>
            <a:off x="8327284" y="3706981"/>
            <a:ext cx="1705800" cy="803231"/>
          </a:xfrm>
          <a:prstGeom prst="roundRect">
            <a:avLst>
              <a:gd name="adj" fmla="val 0"/>
            </a:avLst>
          </a:prstGeom>
          <a:noFill/>
          <a:ln w="12700" cap="flat" cmpd="sng" algn="ctr">
            <a:noFill/>
            <a:prstDash val="solid"/>
            <a:miter lim="800000"/>
          </a:ln>
          <a:effectLst/>
        </p:spPr>
        <p:txBody>
          <a:bodyPr rtlCol="0" anchor="ctr" anchorCtr="0"/>
          <a:lstStyle/>
          <a:p>
            <a:pPr algn="ctr" defTabSz="609585" fontAlgn="base">
              <a:spcBef>
                <a:spcPct val="0"/>
              </a:spcBef>
              <a:spcAft>
                <a:spcPct val="0"/>
              </a:spcAft>
              <a:defRPr/>
            </a:pPr>
            <a:r>
              <a:rPr lang="en-US" sz="1200" b="1" dirty="0">
                <a:solidFill>
                  <a:prstClr val="black"/>
                </a:solidFill>
                <a:latin typeface="Arial" panose="020B0604020202020204" pitchFamily="34" charset="0"/>
                <a:ea typeface="ヒラギノ角ゴ Pro W3" pitchFamily="-126" charset="-128"/>
                <a:cs typeface="Arial" panose="020B0604020202020204" pitchFamily="34" charset="0"/>
              </a:rPr>
              <a:t>Patient comes in and the appropriate codes get captured</a:t>
            </a:r>
          </a:p>
        </p:txBody>
      </p:sp>
      <p:cxnSp>
        <p:nvCxnSpPr>
          <p:cNvPr id="42" name="Straight Arrow Connector 41">
            <a:extLst>
              <a:ext uri="{FF2B5EF4-FFF2-40B4-BE49-F238E27FC236}">
                <a16:creationId xmlns:a16="http://schemas.microsoft.com/office/drawing/2014/main" id="{864EE59C-9E32-4468-8F5E-0D3BC2F1F405}"/>
              </a:ext>
            </a:extLst>
          </p:cNvPr>
          <p:cNvCxnSpPr>
            <a:cxnSpLocks/>
          </p:cNvCxnSpPr>
          <p:nvPr/>
        </p:nvCxnSpPr>
        <p:spPr>
          <a:xfrm flipV="1">
            <a:off x="5637430" y="3677189"/>
            <a:ext cx="1519164" cy="11924"/>
          </a:xfrm>
          <a:prstGeom prst="straightConnector1">
            <a:avLst/>
          </a:prstGeom>
          <a:ln w="38100">
            <a:solidFill>
              <a:schemeClr val="bg1">
                <a:lumMod val="75000"/>
              </a:schemeClr>
            </a:solidFill>
            <a:headEnd type="triangl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3" name="Rounded Rectangle 3">
            <a:extLst>
              <a:ext uri="{FF2B5EF4-FFF2-40B4-BE49-F238E27FC236}">
                <a16:creationId xmlns:a16="http://schemas.microsoft.com/office/drawing/2014/main" id="{CF99DBC3-EA4C-4379-B165-91BB61B50DAF}"/>
              </a:ext>
            </a:extLst>
          </p:cNvPr>
          <p:cNvSpPr/>
          <p:nvPr/>
        </p:nvSpPr>
        <p:spPr>
          <a:xfrm>
            <a:off x="2247064" y="3739786"/>
            <a:ext cx="2255153" cy="919687"/>
          </a:xfrm>
          <a:prstGeom prst="roundRect">
            <a:avLst>
              <a:gd name="adj" fmla="val 0"/>
            </a:avLst>
          </a:prstGeom>
          <a:noFill/>
          <a:ln w="12700" cap="flat" cmpd="sng" algn="ctr">
            <a:noFill/>
            <a:prstDash val="solid"/>
            <a:miter lim="800000"/>
          </a:ln>
          <a:effectLst/>
        </p:spPr>
        <p:txBody>
          <a:bodyPr rtlCol="0" anchor="ctr" anchorCtr="0"/>
          <a:lstStyle/>
          <a:p>
            <a:pPr algn="ctr" defTabSz="609585" fontAlgn="base">
              <a:spcBef>
                <a:spcPct val="0"/>
              </a:spcBef>
              <a:spcAft>
                <a:spcPct val="0"/>
              </a:spcAft>
              <a:defRPr/>
            </a:pPr>
            <a:r>
              <a:rPr lang="en-US" sz="1200" b="1" dirty="0">
                <a:solidFill>
                  <a:prstClr val="black"/>
                </a:solidFill>
                <a:latin typeface="Arial" panose="020B0604020202020204" pitchFamily="34" charset="0"/>
                <a:ea typeface="ヒラギノ角ゴ Pro W3" pitchFamily="-126" charset="-128"/>
                <a:cs typeface="Arial" panose="020B0604020202020204" pitchFamily="34" charset="0"/>
              </a:rPr>
              <a:t>Payer sends codes to CMS for use in calculating appropriate monthly member premium</a:t>
            </a:r>
          </a:p>
        </p:txBody>
      </p:sp>
      <p:sp>
        <p:nvSpPr>
          <p:cNvPr id="52" name="Rounded Rectangle 15">
            <a:extLst>
              <a:ext uri="{FF2B5EF4-FFF2-40B4-BE49-F238E27FC236}">
                <a16:creationId xmlns:a16="http://schemas.microsoft.com/office/drawing/2014/main" id="{22C6AAF8-C3A5-4B46-B7CD-85F1D3E9DB03}"/>
              </a:ext>
            </a:extLst>
          </p:cNvPr>
          <p:cNvSpPr/>
          <p:nvPr/>
        </p:nvSpPr>
        <p:spPr>
          <a:xfrm>
            <a:off x="9759906" y="2364603"/>
            <a:ext cx="1363173" cy="681056"/>
          </a:xfrm>
          <a:prstGeom prst="roundRect">
            <a:avLst>
              <a:gd name="adj" fmla="val 0"/>
            </a:avLst>
          </a:prstGeom>
          <a:noFill/>
          <a:ln w="12700" cap="flat" cmpd="sng" algn="ctr">
            <a:noFill/>
            <a:prstDash val="solid"/>
            <a:miter lim="800000"/>
          </a:ln>
          <a:effectLst/>
        </p:spPr>
        <p:txBody>
          <a:bodyPr rtlCol="0" anchor="ctr" anchorCtr="0"/>
          <a:lstStyle/>
          <a:p>
            <a:pPr algn="ctr" defTabSz="1219170">
              <a:defRPr/>
            </a:pPr>
            <a:r>
              <a:rPr lang="en-US" sz="1333" b="1" dirty="0">
                <a:solidFill>
                  <a:srgbClr val="C00000"/>
                </a:solidFill>
                <a:latin typeface="Arial"/>
                <a:ea typeface="ヒラギノ角ゴ Pro W3" pitchFamily="-126" charset="-128"/>
              </a:rPr>
              <a:t>Patient</a:t>
            </a:r>
            <a:endParaRPr lang="en-US" sz="1333" b="1" kern="0" dirty="0">
              <a:solidFill>
                <a:srgbClr val="C00000"/>
              </a:solidFill>
              <a:latin typeface="Arial"/>
              <a:ea typeface="ヒラギノ角ゴ Pro W3" pitchFamily="-126" charset="-128"/>
            </a:endParaRPr>
          </a:p>
        </p:txBody>
      </p:sp>
      <p:sp>
        <p:nvSpPr>
          <p:cNvPr id="53" name="TextBox 52">
            <a:extLst>
              <a:ext uri="{FF2B5EF4-FFF2-40B4-BE49-F238E27FC236}">
                <a16:creationId xmlns:a16="http://schemas.microsoft.com/office/drawing/2014/main" id="{BA5094DE-7D34-4FC5-82BA-BAF7A1628703}"/>
              </a:ext>
            </a:extLst>
          </p:cNvPr>
          <p:cNvSpPr txBox="1"/>
          <p:nvPr/>
        </p:nvSpPr>
        <p:spPr>
          <a:xfrm>
            <a:off x="7212228" y="2395209"/>
            <a:ext cx="1259821" cy="50257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 defTabSz="609585" fontAlgn="base">
              <a:spcBef>
                <a:spcPct val="0"/>
              </a:spcBef>
              <a:spcAft>
                <a:spcPct val="0"/>
              </a:spcAft>
              <a:defRPr/>
            </a:pPr>
            <a:r>
              <a:rPr lang="en-US" sz="1333" b="1" dirty="0">
                <a:solidFill>
                  <a:srgbClr val="C00000"/>
                </a:solidFill>
                <a:latin typeface="Arial"/>
                <a:ea typeface="ヒラギノ角ゴ Pro W3" pitchFamily="-126" charset="-128"/>
              </a:rPr>
              <a:t>Provider Group</a:t>
            </a:r>
          </a:p>
        </p:txBody>
      </p:sp>
      <p:sp>
        <p:nvSpPr>
          <p:cNvPr id="54" name="TextBox 53">
            <a:extLst>
              <a:ext uri="{FF2B5EF4-FFF2-40B4-BE49-F238E27FC236}">
                <a16:creationId xmlns:a16="http://schemas.microsoft.com/office/drawing/2014/main" id="{1BF9B401-9E22-49A1-8DA8-76E6172C43D0}"/>
              </a:ext>
            </a:extLst>
          </p:cNvPr>
          <p:cNvSpPr txBox="1"/>
          <p:nvPr/>
        </p:nvSpPr>
        <p:spPr>
          <a:xfrm>
            <a:off x="3764497" y="2514002"/>
            <a:ext cx="2115679" cy="2974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 defTabSz="609585" fontAlgn="base">
              <a:spcBef>
                <a:spcPct val="0"/>
              </a:spcBef>
              <a:spcAft>
                <a:spcPct val="0"/>
              </a:spcAft>
              <a:defRPr/>
            </a:pPr>
            <a:r>
              <a:rPr lang="en-US" sz="1333" b="1" dirty="0">
                <a:solidFill>
                  <a:srgbClr val="F79646">
                    <a:lumMod val="50000"/>
                  </a:srgbClr>
                </a:solidFill>
                <a:latin typeface="Arial"/>
                <a:ea typeface="ヒラギノ角ゴ Pro W3" pitchFamily="-126" charset="-128"/>
              </a:rPr>
              <a:t>Payer</a:t>
            </a:r>
          </a:p>
        </p:txBody>
      </p:sp>
      <p:sp>
        <p:nvSpPr>
          <p:cNvPr id="2" name="Oval 1">
            <a:extLst>
              <a:ext uri="{FF2B5EF4-FFF2-40B4-BE49-F238E27FC236}">
                <a16:creationId xmlns:a16="http://schemas.microsoft.com/office/drawing/2014/main" id="{5D0169D5-6BC7-48EA-B0F1-149FA0F465C3}"/>
              </a:ext>
            </a:extLst>
          </p:cNvPr>
          <p:cNvSpPr/>
          <p:nvPr/>
        </p:nvSpPr>
        <p:spPr>
          <a:xfrm>
            <a:off x="4414964" y="1657510"/>
            <a:ext cx="3912321" cy="1917711"/>
          </a:xfrm>
          <a:prstGeom prst="ellipse">
            <a:avLst/>
          </a:prstGeom>
          <a:noFill/>
          <a:ln>
            <a:solidFill>
              <a:srgbClr val="00B05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defTabSz="609585" fontAlgn="base">
              <a:spcBef>
                <a:spcPct val="0"/>
              </a:spcBef>
              <a:spcAft>
                <a:spcPct val="0"/>
              </a:spcAft>
            </a:pPr>
            <a:endParaRPr lang="en-US" sz="2400" dirty="0">
              <a:solidFill>
                <a:prstClr val="white"/>
              </a:solidFill>
              <a:latin typeface="Arial"/>
            </a:endParaRP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C58EE0DD-6D0B-4581-BB37-C408CD8456B4}"/>
              </a:ext>
            </a:extLst>
          </p:cNvPr>
          <p:cNvSpPr txBox="1"/>
          <p:nvPr/>
        </p:nvSpPr>
        <p:spPr>
          <a:xfrm>
            <a:off x="5988647" y="1654283"/>
            <a:ext cx="764953" cy="33855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defTabSz="609585" fontAlgn="base">
              <a:spcBef>
                <a:spcPct val="0"/>
              </a:spcBef>
              <a:spcAft>
                <a:spcPct val="0"/>
              </a:spcAft>
            </a:pPr>
            <a:r>
              <a:rPr lang="en-US" sz="1600" dirty="0">
                <a:solidFill>
                  <a:srgbClr val="00B050"/>
                </a:solidFill>
                <a:latin typeface="Arial" panose="020B0604020202020204" pitchFamily="34" charset="0"/>
                <a:ea typeface="ヒラギノ角ゴ Pro W3" pitchFamily="-126" charset="-128"/>
              </a:rPr>
              <a:t>STU 1</a:t>
            </a:r>
          </a:p>
        </p:txBody>
      </p:sp>
    </p:spTree>
    <p:extLst>
      <p:ext uri="{BB962C8B-B14F-4D97-AF65-F5344CB8AC3E}">
        <p14:creationId xmlns:p14="http://schemas.microsoft.com/office/powerpoint/2010/main" val="2285653365"/>
      </p:ext>
    </p:extLst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839B762-5734-44CA-BA78-76FD98019C0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Example Risk Adjustment Report</a:t>
            </a:r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C18F18B0-D93F-44AA-9787-691A06C0D216}"/>
              </a:ext>
            </a:extLst>
          </p:cNvPr>
          <p:cNvSpPr>
            <a:spLocks noGrp="1"/>
          </p:cNvSpPr>
          <p:nvPr>
            <p:ph type="ftr" sz="quarter" idx="10"/>
          </p:nvPr>
        </p:nvSpPr>
        <p:spPr/>
        <p:txBody>
          <a:bodyPr/>
          <a:lstStyle/>
          <a:p>
            <a:pPr defTabSz="609585" fontAlgn="base">
              <a:spcBef>
                <a:spcPct val="0"/>
              </a:spcBef>
              <a:spcAft>
                <a:spcPct val="0"/>
              </a:spcAft>
            </a:pPr>
            <a:r>
              <a:rPr lang="en-US" b="1">
                <a:latin typeface="Arial" panose="020B0604020202020204" pitchFamily="34" charset="0"/>
                <a:ea typeface="ヒラギノ角ゴ Pro W3" pitchFamily="-126" charset="-128"/>
              </a:rPr>
              <a:t>© 2019 Health Level Seven ® International. Licensed under Creative Commons Attribution 4.0 International</a:t>
            </a:r>
          </a:p>
          <a:p>
            <a:pPr defTabSz="609585" fontAlgn="base">
              <a:spcBef>
                <a:spcPct val="0"/>
              </a:spcBef>
              <a:spcAft>
                <a:spcPct val="0"/>
              </a:spcAft>
            </a:pPr>
            <a:r>
              <a:rPr lang="en-US" b="1">
                <a:latin typeface="Arial" panose="020B0604020202020204" pitchFamily="34" charset="0"/>
                <a:ea typeface="ヒラギノ角ゴ Pro W3" pitchFamily="-126" charset="-128"/>
              </a:rPr>
              <a:t>HL7, Health Level Seven, FHIR and the FHIR flame logo are registered trademarks of Health Level Seven International. Reg. U.S. TM Office.</a:t>
            </a:r>
            <a:endParaRPr lang="en-US" b="1" dirty="0">
              <a:latin typeface="Arial" panose="020B0604020202020204" pitchFamily="34" charset="0"/>
              <a:ea typeface="ヒラギノ角ゴ Pro W3" pitchFamily="-126" charset="-128"/>
            </a:endParaRPr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8536C7B4-DF79-45E4-A016-77A29D38BF35}"/>
              </a:ext>
            </a:extLst>
          </p:cNvPr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pPr defTabSz="609585" fontAlgn="base">
              <a:spcBef>
                <a:spcPct val="0"/>
              </a:spcBef>
              <a:spcAft>
                <a:spcPct val="0"/>
              </a:spcAft>
            </a:pPr>
            <a:fld id="{6CACE926-AEF5-4BFE-8BD7-24414108CB7B}" type="slidenum">
              <a:rPr lang="en-US" altLang="en-US">
                <a:solidFill>
                  <a:prstClr val="black"/>
                </a:solidFill>
                <a:latin typeface="Arial" panose="020B0604020202020204" pitchFamily="34" charset="0"/>
                <a:ea typeface="ヒラギノ角ゴ Pro W3" pitchFamily="-126" charset="-128"/>
              </a:rPr>
              <a:pPr defTabSz="609585" fontAlgn="base">
                <a:spcBef>
                  <a:spcPct val="0"/>
                </a:spcBef>
                <a:spcAft>
                  <a:spcPct val="0"/>
                </a:spcAft>
              </a:pPr>
              <a:t>26</a:t>
            </a:fld>
            <a:endParaRPr lang="en-US" altLang="en-US" dirty="0">
              <a:solidFill>
                <a:prstClr val="black"/>
              </a:solidFill>
              <a:latin typeface="Arial" panose="020B0604020202020204" pitchFamily="34" charset="0"/>
              <a:ea typeface="ヒラギノ角ゴ Pro W3" pitchFamily="-126" charset="-128"/>
            </a:endParaRPr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id="{A550DA12-3A5E-41B1-AC70-AB0E4A5610EE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062977" y="1035815"/>
            <a:ext cx="6066046" cy="582218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285956358"/>
      </p:ext>
    </p:extLst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E4FC254-7E84-4C1E-B2B1-8F45C616E91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Updated during STU1 ballot reconciliations: Figure 1-4 (Home page)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4025DF32-5ADE-4348-8F51-B2255B4D83D2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/>
        <p:txBody>
          <a:bodyPr/>
          <a:lstStyle/>
          <a:p>
            <a:pPr marL="0" indent="0">
              <a:buNone/>
            </a:pPr>
            <a:r>
              <a:rPr lang="en-US" dirty="0"/>
              <a:t> </a:t>
            </a:r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6F1D9FDC-5EC9-421B-B816-669D4CBA8D03}"/>
              </a:ext>
            </a:extLst>
          </p:cNvPr>
          <p:cNvSpPr>
            <a:spLocks noGrp="1"/>
          </p:cNvSpPr>
          <p:nvPr>
            <p:ph type="ftr" sz="quarter" idx="10"/>
          </p:nvPr>
        </p:nvSpPr>
        <p:spPr/>
        <p:txBody>
          <a:bodyPr/>
          <a:lstStyle/>
          <a:p>
            <a:r>
              <a:rPr lang="en-US" b="1"/>
              <a:t>© 2019 Health Level Seven ® International. Licensed under Creative Commons Attribution 4.0 International</a:t>
            </a:r>
          </a:p>
          <a:p>
            <a:r>
              <a:rPr lang="en-US" b="1"/>
              <a:t>HL7, Health Level Seven, FHIR and the FHIR flame logo are registered trademarks of Health Level Seven International. Reg. U.S. TM Office.</a:t>
            </a:r>
            <a:endParaRPr lang="en-US" b="1" dirty="0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ABC91477-8158-43AE-8C67-AA1E9785A906}"/>
              </a:ext>
            </a:extLst>
          </p:cNvPr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fld id="{6CACE926-AEF5-4BFE-8BD7-24414108CB7B}" type="slidenum">
              <a:rPr lang="en-US" altLang="en-US" smtClean="0"/>
              <a:pPr/>
              <a:t>27</a:t>
            </a:fld>
            <a:endParaRPr lang="en-US" altLang="en-US" dirty="0"/>
          </a:p>
        </p:txBody>
      </p:sp>
      <p:pic>
        <p:nvPicPr>
          <p:cNvPr id="6" name="Graphic 5">
            <a:extLst>
              <a:ext uri="{FF2B5EF4-FFF2-40B4-BE49-F238E27FC236}">
                <a16:creationId xmlns:a16="http://schemas.microsoft.com/office/drawing/2014/main" id="{842186CE-C3CB-491F-B90D-334B74F93238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3428016" y="3173224"/>
            <a:ext cx="659817" cy="996459"/>
          </a:xfrm>
          <a:prstGeom prst="rect">
            <a:avLst/>
          </a:prstGeom>
        </p:spPr>
      </p:pic>
      <p:pic>
        <p:nvPicPr>
          <p:cNvPr id="7" name="Graphic 6">
            <a:extLst>
              <a:ext uri="{FF2B5EF4-FFF2-40B4-BE49-F238E27FC236}">
                <a16:creationId xmlns:a16="http://schemas.microsoft.com/office/drawing/2014/main" id="{3E4BF30F-2D52-4FA7-8B6E-989427E65C55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7464510" y="2979089"/>
            <a:ext cx="814124" cy="899821"/>
          </a:xfrm>
          <a:prstGeom prst="rect">
            <a:avLst/>
          </a:prstGeom>
        </p:spPr>
      </p:pic>
      <p:sp>
        <p:nvSpPr>
          <p:cNvPr id="9" name="TextBox 8">
            <a:extLst>
              <a:ext uri="{FF2B5EF4-FFF2-40B4-BE49-F238E27FC236}">
                <a16:creationId xmlns:a16="http://schemas.microsoft.com/office/drawing/2014/main" id="{F400E8FA-0292-4288-B1BB-DA58B38789C1}"/>
              </a:ext>
            </a:extLst>
          </p:cNvPr>
          <p:cNvSpPr txBox="1"/>
          <p:nvPr/>
        </p:nvSpPr>
        <p:spPr>
          <a:xfrm>
            <a:off x="1368638" y="3121037"/>
            <a:ext cx="2162408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 defTabSz="609585" fontAlgn="base">
              <a:spcBef>
                <a:spcPct val="0"/>
              </a:spcBef>
              <a:spcAft>
                <a:spcPct val="0"/>
              </a:spcAft>
              <a:defRPr/>
            </a:pPr>
            <a:r>
              <a:rPr lang="en-US" sz="1600" b="1" dirty="0">
                <a:solidFill>
                  <a:srgbClr val="C00000"/>
                </a:solidFill>
                <a:latin typeface="Arial"/>
                <a:ea typeface="ヒラギノ角ゴ Pro W3" pitchFamily="-126" charset="-128"/>
              </a:rPr>
              <a:t>Provider</a:t>
            </a: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984AE2E2-20A9-4B44-A58D-4BBB1DF61213}"/>
              </a:ext>
            </a:extLst>
          </p:cNvPr>
          <p:cNvSpPr txBox="1"/>
          <p:nvPr/>
        </p:nvSpPr>
        <p:spPr>
          <a:xfrm>
            <a:off x="8076248" y="3100638"/>
            <a:ext cx="2115679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 defTabSz="609585" fontAlgn="base">
              <a:spcBef>
                <a:spcPct val="0"/>
              </a:spcBef>
              <a:spcAft>
                <a:spcPct val="0"/>
              </a:spcAft>
              <a:defRPr/>
            </a:pPr>
            <a:r>
              <a:rPr lang="en-US" sz="1600" b="1" dirty="0">
                <a:solidFill>
                  <a:srgbClr val="F79646">
                    <a:lumMod val="50000"/>
                  </a:srgbClr>
                </a:solidFill>
                <a:latin typeface="Arial"/>
                <a:ea typeface="ヒラギノ角ゴ Pro W3" pitchFamily="-126" charset="-128"/>
              </a:rPr>
              <a:t>Payer</a:t>
            </a:r>
          </a:p>
        </p:txBody>
      </p:sp>
      <p:sp>
        <p:nvSpPr>
          <p:cNvPr id="8" name="Arrow: U-Turn 7">
            <a:extLst>
              <a:ext uri="{FF2B5EF4-FFF2-40B4-BE49-F238E27FC236}">
                <a16:creationId xmlns:a16="http://schemas.microsoft.com/office/drawing/2014/main" id="{BBA494F5-C840-4276-B567-19F510FB3BE8}"/>
              </a:ext>
            </a:extLst>
          </p:cNvPr>
          <p:cNvSpPr/>
          <p:nvPr/>
        </p:nvSpPr>
        <p:spPr>
          <a:xfrm rot="10800000" flipH="1" flipV="1">
            <a:off x="3604184" y="1851892"/>
            <a:ext cx="4572963" cy="1202435"/>
          </a:xfrm>
          <a:prstGeom prst="uturnArrow">
            <a:avLst/>
          </a:prstGeom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schemeClr val="tx1"/>
              </a:solidFill>
            </a:endParaRPr>
          </a:p>
        </p:txBody>
      </p:sp>
      <p:sp>
        <p:nvSpPr>
          <p:cNvPr id="13" name="Arrow: U-Turn 12">
            <a:extLst>
              <a:ext uri="{FF2B5EF4-FFF2-40B4-BE49-F238E27FC236}">
                <a16:creationId xmlns:a16="http://schemas.microsoft.com/office/drawing/2014/main" id="{174416F3-D18D-44B8-B799-1F518BBC5027}"/>
              </a:ext>
            </a:extLst>
          </p:cNvPr>
          <p:cNvSpPr/>
          <p:nvPr/>
        </p:nvSpPr>
        <p:spPr>
          <a:xfrm rot="10800000">
            <a:off x="3531047" y="3933241"/>
            <a:ext cx="4472642" cy="1202435"/>
          </a:xfrm>
          <a:prstGeom prst="uturnArrow">
            <a:avLst/>
          </a:prstGeom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schemeClr val="tx1"/>
              </a:solidFill>
            </a:endParaRPr>
          </a:p>
        </p:txBody>
      </p:sp>
      <p:sp>
        <p:nvSpPr>
          <p:cNvPr id="14" name="Rectangle 13">
            <a:extLst>
              <a:ext uri="{FF2B5EF4-FFF2-40B4-BE49-F238E27FC236}">
                <a16:creationId xmlns:a16="http://schemas.microsoft.com/office/drawing/2014/main" id="{330FFA72-BBBD-4DBC-800E-90E49E5C0B79}"/>
              </a:ext>
            </a:extLst>
          </p:cNvPr>
          <p:cNvSpPr/>
          <p:nvPr/>
        </p:nvSpPr>
        <p:spPr>
          <a:xfrm>
            <a:off x="4878367" y="1693366"/>
            <a:ext cx="1778000" cy="598013"/>
          </a:xfrm>
          <a:prstGeom prst="rect">
            <a:avLst/>
          </a:prstGeom>
          <a:solidFill>
            <a:schemeClr val="bg1"/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600" b="1" dirty="0">
                <a:solidFill>
                  <a:schemeClr val="tx1"/>
                </a:solidFill>
              </a:rPr>
              <a:t>$cc-gaps</a:t>
            </a:r>
          </a:p>
        </p:txBody>
      </p:sp>
      <p:sp>
        <p:nvSpPr>
          <p:cNvPr id="16" name="Rectangle 15">
            <a:extLst>
              <a:ext uri="{FF2B5EF4-FFF2-40B4-BE49-F238E27FC236}">
                <a16:creationId xmlns:a16="http://schemas.microsoft.com/office/drawing/2014/main" id="{6908AAC3-35FE-4372-8B8E-78FD5F752EEB}"/>
              </a:ext>
            </a:extLst>
          </p:cNvPr>
          <p:cNvSpPr/>
          <p:nvPr/>
        </p:nvSpPr>
        <p:spPr>
          <a:xfrm>
            <a:off x="4880094" y="4665336"/>
            <a:ext cx="2021142" cy="658153"/>
          </a:xfrm>
          <a:prstGeom prst="rect">
            <a:avLst/>
          </a:prstGeom>
          <a:solidFill>
            <a:schemeClr val="bg1"/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400" b="1" dirty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Risk Adjustment Coding Gap Reports</a:t>
            </a:r>
          </a:p>
        </p:txBody>
      </p:sp>
    </p:spTree>
    <p:extLst>
      <p:ext uri="{BB962C8B-B14F-4D97-AF65-F5344CB8AC3E}">
        <p14:creationId xmlns:p14="http://schemas.microsoft.com/office/powerpoint/2010/main" val="1821753144"/>
      </p:ext>
    </p:extLst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6992073-D200-42E0-9FB9-A038AA6450B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New Figure 1-3 created during ballot reconciliations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9A34AC66-A8B9-4352-A5F1-CFA56745734D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/>
        <p:txBody>
          <a:bodyPr/>
          <a:lstStyle/>
          <a:p>
            <a:pPr marL="0" indent="0">
              <a:buNone/>
            </a:pPr>
            <a:r>
              <a:rPr lang="en-US"/>
              <a:t> </a:t>
            </a:r>
            <a:endParaRPr lang="en-US" dirty="0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C5B4F8C2-7293-47C8-B3AA-03648885EC3E}"/>
              </a:ext>
            </a:extLst>
          </p:cNvPr>
          <p:cNvSpPr>
            <a:spLocks noGrp="1"/>
          </p:cNvSpPr>
          <p:nvPr>
            <p:ph type="ftr" sz="quarter" idx="10"/>
          </p:nvPr>
        </p:nvSpPr>
        <p:spPr/>
        <p:txBody>
          <a:bodyPr/>
          <a:lstStyle/>
          <a:p>
            <a:r>
              <a:rPr lang="en-US" b="1" dirty="0"/>
              <a:t>© 2019 Health Level Seven ® International. Licensed under Creative Commons Attribution 4.0 International</a:t>
            </a:r>
          </a:p>
          <a:p>
            <a:r>
              <a:rPr lang="en-US" b="1" dirty="0"/>
              <a:t>HL7, Health Level Seven, FHIR and the FHIR flame logo are registered trademarks of Health Level Seven International. Reg. U.S. TM Office.</a:t>
            </a:r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9B90074F-DE65-45EB-9571-9D3C185F2116}"/>
              </a:ext>
            </a:extLst>
          </p:cNvPr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fld id="{6CACE926-AEF5-4BFE-8BD7-24414108CB7B}" type="slidenum">
              <a:rPr lang="en-US" altLang="en-US" smtClean="0"/>
              <a:pPr/>
              <a:t>28</a:t>
            </a:fld>
            <a:endParaRPr lang="en-US" altLang="en-US" dirty="0"/>
          </a:p>
        </p:txBody>
      </p:sp>
      <p:pic>
        <p:nvPicPr>
          <p:cNvPr id="6" name="Graphic 5">
            <a:extLst>
              <a:ext uri="{FF2B5EF4-FFF2-40B4-BE49-F238E27FC236}">
                <a16:creationId xmlns:a16="http://schemas.microsoft.com/office/drawing/2014/main" id="{2FC42DAA-9420-4457-A39A-66D03B33B85C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8001659" y="3907606"/>
            <a:ext cx="659817" cy="996459"/>
          </a:xfrm>
          <a:prstGeom prst="rect">
            <a:avLst/>
          </a:prstGeom>
        </p:spPr>
      </p:pic>
      <p:pic>
        <p:nvPicPr>
          <p:cNvPr id="7" name="Graphic 6">
            <a:extLst>
              <a:ext uri="{FF2B5EF4-FFF2-40B4-BE49-F238E27FC236}">
                <a16:creationId xmlns:a16="http://schemas.microsoft.com/office/drawing/2014/main" id="{F1E0878E-B15A-4705-B9BD-922A7EC97066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3881659" y="4027147"/>
            <a:ext cx="814124" cy="899821"/>
          </a:xfrm>
          <a:prstGeom prst="rect">
            <a:avLst/>
          </a:prstGeom>
        </p:spPr>
      </p:pic>
      <p:sp>
        <p:nvSpPr>
          <p:cNvPr id="8" name="TextBox 7">
            <a:extLst>
              <a:ext uri="{FF2B5EF4-FFF2-40B4-BE49-F238E27FC236}">
                <a16:creationId xmlns:a16="http://schemas.microsoft.com/office/drawing/2014/main" id="{F0FE43D4-24B0-4D09-9F99-A614069FFCAA}"/>
              </a:ext>
            </a:extLst>
          </p:cNvPr>
          <p:cNvSpPr txBox="1"/>
          <p:nvPr/>
        </p:nvSpPr>
        <p:spPr>
          <a:xfrm>
            <a:off x="2420000" y="4210866"/>
            <a:ext cx="1415320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 defTabSz="609585" fontAlgn="base">
              <a:spcBef>
                <a:spcPct val="0"/>
              </a:spcBef>
              <a:spcAft>
                <a:spcPct val="0"/>
              </a:spcAft>
              <a:defRPr/>
            </a:pPr>
            <a:r>
              <a:rPr lang="en-US" sz="1600" b="1" dirty="0">
                <a:solidFill>
                  <a:srgbClr val="C00000"/>
                </a:solidFill>
                <a:latin typeface="Arial"/>
                <a:ea typeface="ヒラギノ角ゴ Pro W3" pitchFamily="-126" charset="-128"/>
              </a:rPr>
              <a:t>Payer</a:t>
            </a:r>
          </a:p>
        </p:txBody>
      </p:sp>
      <p:sp>
        <p:nvSpPr>
          <p:cNvPr id="9" name="Arrow: U-Turn 8">
            <a:extLst>
              <a:ext uri="{FF2B5EF4-FFF2-40B4-BE49-F238E27FC236}">
                <a16:creationId xmlns:a16="http://schemas.microsoft.com/office/drawing/2014/main" id="{09BF3D1E-B047-45D0-A4AE-6BACE7A28B3F}"/>
              </a:ext>
            </a:extLst>
          </p:cNvPr>
          <p:cNvSpPr/>
          <p:nvPr/>
        </p:nvSpPr>
        <p:spPr>
          <a:xfrm rot="10800000" flipH="1" flipV="1">
            <a:off x="4088513" y="2705171"/>
            <a:ext cx="4572963" cy="1202435"/>
          </a:xfrm>
          <a:prstGeom prst="uturnArrow">
            <a:avLst>
              <a:gd name="adj1" fmla="val 25000"/>
              <a:gd name="adj2" fmla="val 25000"/>
              <a:gd name="adj3" fmla="val 28042"/>
              <a:gd name="adj4" fmla="val 43750"/>
              <a:gd name="adj5" fmla="val 75000"/>
            </a:avLst>
          </a:prstGeom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schemeClr val="tx1"/>
              </a:solidFill>
            </a:endParaRPr>
          </a:p>
        </p:txBody>
      </p:sp>
      <p:sp>
        <p:nvSpPr>
          <p:cNvPr id="11" name="Rectangle 10">
            <a:extLst>
              <a:ext uri="{FF2B5EF4-FFF2-40B4-BE49-F238E27FC236}">
                <a16:creationId xmlns:a16="http://schemas.microsoft.com/office/drawing/2014/main" id="{9207507E-29D8-4D70-850B-8907BCFB4B71}"/>
              </a:ext>
            </a:extLst>
          </p:cNvPr>
          <p:cNvSpPr/>
          <p:nvPr/>
        </p:nvSpPr>
        <p:spPr>
          <a:xfrm>
            <a:off x="5299671" y="2376094"/>
            <a:ext cx="2021142" cy="658153"/>
          </a:xfrm>
          <a:prstGeom prst="rect">
            <a:avLst/>
          </a:prstGeom>
          <a:solidFill>
            <a:schemeClr val="bg1"/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400" b="1" dirty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POST</a:t>
            </a:r>
          </a:p>
          <a:p>
            <a:pPr algn="ctr"/>
            <a:r>
              <a:rPr lang="en-US" sz="1400" b="1" dirty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Risk Adjustment Coding Gap Reports</a:t>
            </a:r>
          </a:p>
        </p:txBody>
      </p:sp>
      <p:cxnSp>
        <p:nvCxnSpPr>
          <p:cNvPr id="12" name="Connector: Elbow 11">
            <a:extLst>
              <a:ext uri="{FF2B5EF4-FFF2-40B4-BE49-F238E27FC236}">
                <a16:creationId xmlns:a16="http://schemas.microsoft.com/office/drawing/2014/main" id="{C5FA8C8A-D977-43D9-B0D0-73A6E6DE717A}"/>
              </a:ext>
            </a:extLst>
          </p:cNvPr>
          <p:cNvCxnSpPr>
            <a:cxnSpLocks/>
            <a:stCxn id="7" idx="3"/>
            <a:endCxn id="7" idx="2"/>
          </p:cNvCxnSpPr>
          <p:nvPr/>
        </p:nvCxnSpPr>
        <p:spPr>
          <a:xfrm flipH="1">
            <a:off x="4288721" y="4477058"/>
            <a:ext cx="407062" cy="449910"/>
          </a:xfrm>
          <a:prstGeom prst="bentConnector4">
            <a:avLst>
              <a:gd name="adj1" fmla="val -464993"/>
              <a:gd name="adj2" fmla="val 150810"/>
            </a:avLst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3" name="TextBox 12">
            <a:extLst>
              <a:ext uri="{FF2B5EF4-FFF2-40B4-BE49-F238E27FC236}">
                <a16:creationId xmlns:a16="http://schemas.microsoft.com/office/drawing/2014/main" id="{E0AE934C-A70B-4BB7-A14B-50CF63C83613}"/>
              </a:ext>
            </a:extLst>
          </p:cNvPr>
          <p:cNvSpPr txBox="1"/>
          <p:nvPr/>
        </p:nvSpPr>
        <p:spPr>
          <a:xfrm>
            <a:off x="8661476" y="4236682"/>
            <a:ext cx="1160049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 defTabSz="609585" fontAlgn="base">
              <a:spcBef>
                <a:spcPct val="0"/>
              </a:spcBef>
              <a:spcAft>
                <a:spcPct val="0"/>
              </a:spcAft>
              <a:defRPr/>
            </a:pPr>
            <a:r>
              <a:rPr lang="en-US" sz="1600" b="1" dirty="0">
                <a:solidFill>
                  <a:srgbClr val="F79646">
                    <a:lumMod val="50000"/>
                  </a:srgbClr>
                </a:solidFill>
                <a:latin typeface="Arial"/>
                <a:ea typeface="ヒラギノ角ゴ Pro W3" pitchFamily="-126" charset="-128"/>
              </a:rPr>
              <a:t>Providers</a:t>
            </a:r>
          </a:p>
        </p:txBody>
      </p:sp>
      <p:sp>
        <p:nvSpPr>
          <p:cNvPr id="20" name="Rectangle 19">
            <a:extLst>
              <a:ext uri="{FF2B5EF4-FFF2-40B4-BE49-F238E27FC236}">
                <a16:creationId xmlns:a16="http://schemas.microsoft.com/office/drawing/2014/main" id="{4706AF83-B445-422F-9E0C-6983926A1C70}"/>
              </a:ext>
            </a:extLst>
          </p:cNvPr>
          <p:cNvSpPr/>
          <p:nvPr/>
        </p:nvSpPr>
        <p:spPr>
          <a:xfrm>
            <a:off x="5024416" y="4220102"/>
            <a:ext cx="1216325" cy="440049"/>
          </a:xfrm>
          <a:prstGeom prst="rect">
            <a:avLst/>
          </a:prstGeom>
          <a:solidFill>
            <a:schemeClr val="bg1"/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600" b="1" dirty="0">
                <a:solidFill>
                  <a:schemeClr val="tx1"/>
                </a:solidFill>
              </a:rPr>
              <a:t>$cc-gaps</a:t>
            </a:r>
          </a:p>
        </p:txBody>
      </p:sp>
    </p:spTree>
    <p:extLst>
      <p:ext uri="{BB962C8B-B14F-4D97-AF65-F5344CB8AC3E}">
        <p14:creationId xmlns:p14="http://schemas.microsoft.com/office/powerpoint/2010/main" val="2549133857"/>
      </p:ext>
    </p:extLst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ooter Placeholder 1">
            <a:extLst>
              <a:ext uri="{FF2B5EF4-FFF2-40B4-BE49-F238E27FC236}">
                <a16:creationId xmlns:a16="http://schemas.microsoft.com/office/drawing/2014/main" id="{67613D0C-21FF-445C-8A61-522FC6EF2821}"/>
              </a:ext>
            </a:extLst>
          </p:cNvPr>
          <p:cNvSpPr>
            <a:spLocks noGrp="1"/>
          </p:cNvSpPr>
          <p:nvPr>
            <p:ph type="ftr" sz="quarter" idx="10"/>
          </p:nvPr>
        </p:nvSpPr>
        <p:spPr/>
        <p:txBody>
          <a:bodyPr/>
          <a:lstStyle/>
          <a:p>
            <a:r>
              <a:rPr lang="en-US" b="1"/>
              <a:t>© 2019 Health Level Seven ® International. Licensed under Creative Commons Attribution 4.0 International</a:t>
            </a:r>
          </a:p>
          <a:p>
            <a:r>
              <a:rPr lang="en-US" b="1"/>
              <a:t>HL7, Health Level Seven, FHIR and the FHIR flame logo are registered trademarks of Health Level Seven International. Reg. U.S. TM Office.</a:t>
            </a:r>
            <a:endParaRPr lang="en-US" b="1" dirty="0"/>
          </a:p>
        </p:txBody>
      </p:sp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885B4913-2A0A-4D07-9844-3EA1D67CFB4E}"/>
              </a:ext>
            </a:extLst>
          </p:cNvPr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fld id="{6CACE926-AEF5-4BFE-8BD7-24414108CB7B}" type="slidenum">
              <a:rPr lang="en-US" altLang="en-US" smtClean="0"/>
              <a:pPr/>
              <a:t>29</a:t>
            </a:fld>
            <a:endParaRPr lang="en-US" altLang="en-US" dirty="0"/>
          </a:p>
        </p:txBody>
      </p:sp>
      <p:sp>
        <p:nvSpPr>
          <p:cNvPr id="4" name="Flowchart: Process 3">
            <a:extLst>
              <a:ext uri="{FF2B5EF4-FFF2-40B4-BE49-F238E27FC236}">
                <a16:creationId xmlns:a16="http://schemas.microsoft.com/office/drawing/2014/main" id="{5C516E0B-A1CD-4A5B-9084-C21C57F69DB1}"/>
              </a:ext>
            </a:extLst>
          </p:cNvPr>
          <p:cNvSpPr/>
          <p:nvPr/>
        </p:nvSpPr>
        <p:spPr>
          <a:xfrm>
            <a:off x="3887508" y="459890"/>
            <a:ext cx="1934738" cy="755570"/>
          </a:xfrm>
          <a:prstGeom prst="flowChartProcess">
            <a:avLst/>
          </a:prstGeom>
          <a:ln>
            <a:solidFill>
              <a:schemeClr val="accent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6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Risk Adjustment Model Measure</a:t>
            </a:r>
          </a:p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6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CMS-HCC </a:t>
            </a:r>
            <a:r>
              <a:rPr lang="en-US" sz="1600" dirty="0">
                <a:solidFill>
                  <a:prstClr val="white"/>
                </a:solidFill>
                <a:latin typeface="Calibri" panose="020F0502020204030204"/>
              </a:rPr>
              <a:t>V</a:t>
            </a:r>
            <a:r>
              <a:rPr kumimoji="0" lang="en-US" sz="16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24</a:t>
            </a:r>
          </a:p>
        </p:txBody>
      </p:sp>
      <p:sp>
        <p:nvSpPr>
          <p:cNvPr id="5" name="Flowchart: Process 4">
            <a:extLst>
              <a:ext uri="{FF2B5EF4-FFF2-40B4-BE49-F238E27FC236}">
                <a16:creationId xmlns:a16="http://schemas.microsoft.com/office/drawing/2014/main" id="{2888FE2A-B8B8-4B30-85ED-07CE10E8BEAC}"/>
              </a:ext>
            </a:extLst>
          </p:cNvPr>
          <p:cNvSpPr/>
          <p:nvPr/>
        </p:nvSpPr>
        <p:spPr>
          <a:xfrm>
            <a:off x="792540" y="459890"/>
            <a:ext cx="1934738" cy="755570"/>
          </a:xfrm>
          <a:prstGeom prst="flowChartProcess">
            <a:avLst/>
          </a:prstGeom>
          <a:ln>
            <a:solidFill>
              <a:srgbClr val="0070C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6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Bundle</a:t>
            </a:r>
          </a:p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 sz="1600" dirty="0">
                <a:solidFill>
                  <a:prstClr val="white"/>
                </a:solidFill>
                <a:latin typeface="Calibri" panose="020F0502020204030204"/>
              </a:rPr>
              <a:t>(searchSet)</a:t>
            </a:r>
            <a:endParaRPr kumimoji="0" lang="en-US" sz="160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6" name="Flowchart: Process 5">
            <a:extLst>
              <a:ext uri="{FF2B5EF4-FFF2-40B4-BE49-F238E27FC236}">
                <a16:creationId xmlns:a16="http://schemas.microsoft.com/office/drawing/2014/main" id="{6538187D-1CBA-4D3E-B9CF-FB1141184837}"/>
              </a:ext>
            </a:extLst>
          </p:cNvPr>
          <p:cNvSpPr/>
          <p:nvPr/>
        </p:nvSpPr>
        <p:spPr>
          <a:xfrm>
            <a:off x="3887508" y="1722136"/>
            <a:ext cx="1934738" cy="3459464"/>
          </a:xfrm>
          <a:prstGeom prst="flowChartProcess">
            <a:avLst/>
          </a:prstGeom>
          <a:ln>
            <a:solidFill>
              <a:srgbClr val="0070C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60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6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Risk Adjustment </a:t>
            </a:r>
            <a:endParaRPr lang="en-US" sz="1600" dirty="0">
              <a:solidFill>
                <a:prstClr val="white"/>
              </a:solidFill>
              <a:latin typeface="Calibri" panose="020F0502020204030204"/>
            </a:endParaRPr>
          </a:p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6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Coding Gap Report</a:t>
            </a:r>
          </a:p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lang="en-US" sz="1600" dirty="0">
              <a:solidFill>
                <a:prstClr val="white"/>
              </a:solidFill>
              <a:latin typeface="Calibri" panose="020F0502020204030204"/>
            </a:endParaRPr>
          </a:p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60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lang="en-US" sz="1600" dirty="0">
              <a:solidFill>
                <a:prstClr val="white"/>
              </a:solidFill>
              <a:latin typeface="Calibri" panose="020F0502020204030204"/>
            </a:endParaRPr>
          </a:p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60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lang="en-US" sz="1600" dirty="0">
              <a:solidFill>
                <a:prstClr val="white"/>
              </a:solidFill>
              <a:latin typeface="Calibri" panose="020F0502020204030204"/>
            </a:endParaRPr>
          </a:p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60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lang="en-US" sz="1600" dirty="0">
              <a:solidFill>
                <a:prstClr val="white"/>
              </a:solidFill>
              <a:latin typeface="Calibri" panose="020F0502020204030204"/>
            </a:endParaRPr>
          </a:p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60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lang="en-US" sz="1600" dirty="0">
              <a:solidFill>
                <a:prstClr val="white"/>
              </a:solidFill>
              <a:latin typeface="Calibri" panose="020F0502020204030204"/>
            </a:endParaRPr>
          </a:p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60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lang="en-US" sz="1600" dirty="0">
              <a:solidFill>
                <a:prstClr val="white"/>
              </a:solidFill>
              <a:latin typeface="Calibri" panose="020F0502020204030204"/>
            </a:endParaRPr>
          </a:p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60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60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cxnSp>
        <p:nvCxnSpPr>
          <p:cNvPr id="7" name="Straight Arrow Connector 6">
            <a:extLst>
              <a:ext uri="{FF2B5EF4-FFF2-40B4-BE49-F238E27FC236}">
                <a16:creationId xmlns:a16="http://schemas.microsoft.com/office/drawing/2014/main" id="{049F4E04-B597-4594-8DDB-B9B1793B9466}"/>
              </a:ext>
            </a:extLst>
          </p:cNvPr>
          <p:cNvCxnSpPr>
            <a:cxnSpLocks/>
            <a:stCxn id="5" idx="3"/>
            <a:endCxn id="6" idx="0"/>
          </p:cNvCxnSpPr>
          <p:nvPr/>
        </p:nvCxnSpPr>
        <p:spPr>
          <a:xfrm>
            <a:off x="2727278" y="837675"/>
            <a:ext cx="2127599" cy="884461"/>
          </a:xfrm>
          <a:prstGeom prst="straightConnector1">
            <a:avLst/>
          </a:prstGeom>
          <a:ln w="12700"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0" name="Straight Arrow Connector 9">
            <a:extLst>
              <a:ext uri="{FF2B5EF4-FFF2-40B4-BE49-F238E27FC236}">
                <a16:creationId xmlns:a16="http://schemas.microsoft.com/office/drawing/2014/main" id="{43B4802E-C369-4600-9790-CE55B28A9C51}"/>
              </a:ext>
            </a:extLst>
          </p:cNvPr>
          <p:cNvCxnSpPr>
            <a:cxnSpLocks/>
            <a:stCxn id="6" idx="0"/>
            <a:endCxn id="4" idx="2"/>
          </p:cNvCxnSpPr>
          <p:nvPr/>
        </p:nvCxnSpPr>
        <p:spPr>
          <a:xfrm flipV="1">
            <a:off x="4854877" y="1215460"/>
            <a:ext cx="0" cy="506676"/>
          </a:xfrm>
          <a:prstGeom prst="straightConnector1">
            <a:avLst/>
          </a:prstGeom>
          <a:ln w="12700"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4" name="TextBox 13">
            <a:extLst>
              <a:ext uri="{FF2B5EF4-FFF2-40B4-BE49-F238E27FC236}">
                <a16:creationId xmlns:a16="http://schemas.microsoft.com/office/drawing/2014/main" id="{959336AF-67D3-43CA-B96A-647BEFDE54B0}"/>
              </a:ext>
            </a:extLst>
          </p:cNvPr>
          <p:cNvSpPr txBox="1"/>
          <p:nvPr/>
        </p:nvSpPr>
        <p:spPr>
          <a:xfrm>
            <a:off x="4574102" y="1347024"/>
            <a:ext cx="696646" cy="246221"/>
          </a:xfrm>
          <a:prstGeom prst="rect">
            <a:avLst/>
          </a:prstGeom>
          <a:solidFill>
            <a:schemeClr val="bg1"/>
          </a:solidFill>
        </p:spPr>
        <p:txBody>
          <a:bodyPr wrap="square" rtlCol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0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measure</a:t>
            </a:r>
            <a:endParaRPr kumimoji="0" lang="en-US" sz="900" b="1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11" name="Flowchart: Process 10">
            <a:extLst>
              <a:ext uri="{FF2B5EF4-FFF2-40B4-BE49-F238E27FC236}">
                <a16:creationId xmlns:a16="http://schemas.microsoft.com/office/drawing/2014/main" id="{B33ED533-7AF9-403A-9F59-25CBA5A9CE93}"/>
              </a:ext>
            </a:extLst>
          </p:cNvPr>
          <p:cNvSpPr/>
          <p:nvPr/>
        </p:nvSpPr>
        <p:spPr>
          <a:xfrm>
            <a:off x="792540" y="3074083"/>
            <a:ext cx="1934738" cy="755570"/>
          </a:xfrm>
          <a:prstGeom prst="flowChartProcess">
            <a:avLst/>
          </a:prstGeom>
          <a:ln>
            <a:solidFill>
              <a:srgbClr val="0070C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6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US Core Patient</a:t>
            </a:r>
          </a:p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 sz="1200" dirty="0">
                <a:solidFill>
                  <a:prstClr val="white"/>
                </a:solidFill>
                <a:latin typeface="Calibri" panose="020F0502020204030204"/>
              </a:rPr>
              <a:t>Eve Everywoman</a:t>
            </a:r>
          </a:p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1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DOB: 01/16/1975</a:t>
            </a:r>
          </a:p>
        </p:txBody>
      </p:sp>
      <p:cxnSp>
        <p:nvCxnSpPr>
          <p:cNvPr id="12" name="Straight Arrow Connector 11">
            <a:extLst>
              <a:ext uri="{FF2B5EF4-FFF2-40B4-BE49-F238E27FC236}">
                <a16:creationId xmlns:a16="http://schemas.microsoft.com/office/drawing/2014/main" id="{73B34E6C-DFD9-49DE-86F3-25C6C9784F38}"/>
              </a:ext>
            </a:extLst>
          </p:cNvPr>
          <p:cNvCxnSpPr>
            <a:cxnSpLocks/>
            <a:stCxn id="6" idx="1"/>
            <a:endCxn id="11" idx="3"/>
          </p:cNvCxnSpPr>
          <p:nvPr/>
        </p:nvCxnSpPr>
        <p:spPr>
          <a:xfrm flipH="1">
            <a:off x="2727278" y="3451868"/>
            <a:ext cx="1160230" cy="0"/>
          </a:xfrm>
          <a:prstGeom prst="straightConnector1">
            <a:avLst/>
          </a:prstGeom>
          <a:ln w="12700">
            <a:headEnd type="none" w="med" len="med"/>
            <a:tailEnd type="triangl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5" name="TextBox 14">
            <a:extLst>
              <a:ext uri="{FF2B5EF4-FFF2-40B4-BE49-F238E27FC236}">
                <a16:creationId xmlns:a16="http://schemas.microsoft.com/office/drawing/2014/main" id="{E58AF1D7-3B7B-47E7-BCED-3017253BDA1C}"/>
              </a:ext>
            </a:extLst>
          </p:cNvPr>
          <p:cNvSpPr txBox="1"/>
          <p:nvPr/>
        </p:nvSpPr>
        <p:spPr>
          <a:xfrm>
            <a:off x="2976661" y="3292189"/>
            <a:ext cx="580599" cy="246221"/>
          </a:xfrm>
          <a:prstGeom prst="rect">
            <a:avLst/>
          </a:prstGeom>
          <a:solidFill>
            <a:schemeClr val="bg1"/>
          </a:solidFill>
        </p:spPr>
        <p:txBody>
          <a:bodyPr wrap="square" rtlCol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0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subject</a:t>
            </a:r>
            <a:endParaRPr kumimoji="0" lang="en-US" sz="900" b="1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16" name="Flowchart: Process 15">
            <a:extLst>
              <a:ext uri="{FF2B5EF4-FFF2-40B4-BE49-F238E27FC236}">
                <a16:creationId xmlns:a16="http://schemas.microsoft.com/office/drawing/2014/main" id="{5DE82B70-5B74-4336-B855-7942DFA7CFBB}"/>
              </a:ext>
            </a:extLst>
          </p:cNvPr>
          <p:cNvSpPr/>
          <p:nvPr/>
        </p:nvSpPr>
        <p:spPr>
          <a:xfrm>
            <a:off x="792540" y="4340444"/>
            <a:ext cx="1872861" cy="776860"/>
          </a:xfrm>
          <a:prstGeom prst="flowChartProcess">
            <a:avLst/>
          </a:prstGeom>
          <a:solidFill>
            <a:schemeClr val="bg1">
              <a:lumMod val="6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6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US Core Organization</a:t>
            </a:r>
          </a:p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2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ABC Payer</a:t>
            </a:r>
          </a:p>
        </p:txBody>
      </p:sp>
      <p:sp>
        <p:nvSpPr>
          <p:cNvPr id="28" name="Rectangle 27">
            <a:extLst>
              <a:ext uri="{FF2B5EF4-FFF2-40B4-BE49-F238E27FC236}">
                <a16:creationId xmlns:a16="http://schemas.microsoft.com/office/drawing/2014/main" id="{C76BA75C-9C8C-4C6D-A479-80DF40E9BB48}"/>
              </a:ext>
            </a:extLst>
          </p:cNvPr>
          <p:cNvSpPr/>
          <p:nvPr/>
        </p:nvSpPr>
        <p:spPr>
          <a:xfrm>
            <a:off x="3909997" y="2255444"/>
            <a:ext cx="1889760" cy="931670"/>
          </a:xfrm>
          <a:prstGeom prst="rect">
            <a:avLst/>
          </a:prstGeom>
          <a:solidFill>
            <a:schemeClr val="accent1">
              <a:lumMod val="75000"/>
            </a:schemeClr>
          </a:solidFill>
          <a:ln>
            <a:solidFill>
              <a:srgbClr val="00B050"/>
            </a:solidFill>
          </a:ln>
        </p:spPr>
        <p:style>
          <a:lnRef idx="2">
            <a:schemeClr val="accent4">
              <a:shade val="50000"/>
            </a:schemeClr>
          </a:lnRef>
          <a:fillRef idx="1">
            <a:schemeClr val="accent4"/>
          </a:fillRef>
          <a:effectRef idx="0">
            <a:schemeClr val="accent4"/>
          </a:effectRef>
          <a:fontRef idx="minor">
            <a:schemeClr val="lt1"/>
          </a:fontRef>
        </p:style>
        <p:txBody>
          <a:bodyPr rtlCol="0" anchor="t" anchorCtr="0"/>
          <a:lstStyle/>
          <a:p>
            <a:pPr lvl="0">
              <a:defRPr/>
            </a:pPr>
            <a:r>
              <a:rPr lang="en-US" sz="900" dirty="0">
                <a:solidFill>
                  <a:prstClr val="white"/>
                </a:solidFill>
              </a:rPr>
              <a:t>.</a:t>
            </a:r>
            <a:r>
              <a:rPr lang="en-US" sz="900" b="1" dirty="0">
                <a:solidFill>
                  <a:prstClr val="white"/>
                </a:solidFill>
              </a:rPr>
              <a:t>group[1]</a:t>
            </a:r>
          </a:p>
          <a:p>
            <a:pPr lvl="0">
              <a:defRPr/>
            </a:pPr>
            <a:r>
              <a:rPr lang="en-US" sz="900" b="1" dirty="0">
                <a:solidFill>
                  <a:prstClr val="white"/>
                </a:solidFill>
              </a:rPr>
              <a:t>    .code: 18 Diabetes with Chronic Complications</a:t>
            </a:r>
          </a:p>
          <a:p>
            <a:pPr lvl="0">
              <a:defRPr/>
            </a:pPr>
            <a:r>
              <a:rPr lang="en-US" sz="900" b="1" dirty="0">
                <a:solidFill>
                  <a:prstClr val="white"/>
                </a:solidFill>
              </a:rPr>
              <a:t>    historic</a:t>
            </a:r>
          </a:p>
          <a:p>
            <a:pPr lvl="0">
              <a:defRPr/>
            </a:pPr>
            <a:r>
              <a:rPr lang="en-US" sz="900" b="1" dirty="0">
                <a:solidFill>
                  <a:prstClr val="white"/>
                </a:solidFill>
              </a:rPr>
              <a:t>    closed-gap</a:t>
            </a:r>
          </a:p>
          <a:p>
            <a:pPr lvl="0">
              <a:defRPr/>
            </a:pPr>
            <a:r>
              <a:rPr lang="en-US" sz="900" b="1" dirty="0">
                <a:solidFill>
                  <a:prstClr val="white"/>
                </a:solidFill>
              </a:rPr>
              <a:t>    applied-not-superseded</a:t>
            </a:r>
          </a:p>
          <a:p>
            <a:pPr lvl="0">
              <a:defRPr/>
            </a:pPr>
            <a:r>
              <a:rPr lang="en-US" sz="900" b="1" dirty="0">
                <a:solidFill>
                  <a:prstClr val="white"/>
                </a:solidFill>
              </a:rPr>
              <a:t>    </a:t>
            </a:r>
            <a:r>
              <a:rPr lang="en-US" dirty="0">
                <a:solidFill>
                  <a:prstClr val="white"/>
                </a:solidFill>
              </a:rPr>
              <a:t> </a:t>
            </a:r>
          </a:p>
        </p:txBody>
      </p:sp>
      <p:sp>
        <p:nvSpPr>
          <p:cNvPr id="32" name="Rectangle 31">
            <a:extLst>
              <a:ext uri="{FF2B5EF4-FFF2-40B4-BE49-F238E27FC236}">
                <a16:creationId xmlns:a16="http://schemas.microsoft.com/office/drawing/2014/main" id="{EEA15C61-E722-47F4-8036-17245CCEB335}"/>
              </a:ext>
            </a:extLst>
          </p:cNvPr>
          <p:cNvSpPr/>
          <p:nvPr/>
        </p:nvSpPr>
        <p:spPr>
          <a:xfrm>
            <a:off x="3914517" y="4078654"/>
            <a:ext cx="1889760" cy="1056439"/>
          </a:xfrm>
          <a:prstGeom prst="rect">
            <a:avLst/>
          </a:prstGeom>
          <a:solidFill>
            <a:schemeClr val="accent1">
              <a:lumMod val="75000"/>
            </a:schemeClr>
          </a:solidFill>
          <a:ln>
            <a:solidFill>
              <a:srgbClr val="00B050"/>
            </a:solidFill>
          </a:ln>
        </p:spPr>
        <p:style>
          <a:lnRef idx="2">
            <a:schemeClr val="accent4">
              <a:shade val="50000"/>
            </a:schemeClr>
          </a:lnRef>
          <a:fillRef idx="1">
            <a:schemeClr val="accent4"/>
          </a:fillRef>
          <a:effectRef idx="0">
            <a:schemeClr val="accent4"/>
          </a:effectRef>
          <a:fontRef idx="minor">
            <a:schemeClr val="lt1"/>
          </a:fontRef>
        </p:style>
        <p:txBody>
          <a:bodyPr rtlCol="0" anchor="t" anchorCtr="0"/>
          <a:lstStyle/>
          <a:p>
            <a:pPr lvl="0">
              <a:defRPr/>
            </a:pPr>
            <a:r>
              <a:rPr lang="en-US" sz="900" dirty="0">
                <a:solidFill>
                  <a:prstClr val="white"/>
                </a:solidFill>
              </a:rPr>
              <a:t>.</a:t>
            </a:r>
            <a:r>
              <a:rPr lang="en-US" sz="900" b="1" dirty="0">
                <a:solidFill>
                  <a:prstClr val="white"/>
                </a:solidFill>
              </a:rPr>
              <a:t>group[2]</a:t>
            </a:r>
          </a:p>
          <a:p>
            <a:pPr lvl="0">
              <a:defRPr/>
            </a:pPr>
            <a:r>
              <a:rPr lang="en-US" sz="900" b="1" dirty="0">
                <a:solidFill>
                  <a:prstClr val="white"/>
                </a:solidFill>
              </a:rPr>
              <a:t>    .code: 111 Chronic Obstructive Pulmonary Disease</a:t>
            </a:r>
          </a:p>
          <a:p>
            <a:pPr lvl="0">
              <a:defRPr/>
            </a:pPr>
            <a:r>
              <a:rPr lang="en-US" sz="900" b="1" dirty="0">
                <a:solidFill>
                  <a:prstClr val="white"/>
                </a:solidFill>
              </a:rPr>
              <a:t>    historic</a:t>
            </a:r>
          </a:p>
          <a:p>
            <a:pPr lvl="0">
              <a:defRPr/>
            </a:pPr>
            <a:r>
              <a:rPr lang="en-US" sz="900" b="1" dirty="0">
                <a:solidFill>
                  <a:prstClr val="white"/>
                </a:solidFill>
              </a:rPr>
              <a:t>    closed-gap</a:t>
            </a:r>
          </a:p>
          <a:p>
            <a:pPr lvl="0">
              <a:defRPr/>
            </a:pPr>
            <a:r>
              <a:rPr lang="en-US" sz="900" b="1" dirty="0">
                <a:solidFill>
                  <a:prstClr val="white"/>
                </a:solidFill>
              </a:rPr>
              <a:t>    applied-not-superseded</a:t>
            </a:r>
          </a:p>
          <a:p>
            <a:pPr lvl="0" algn="ctr">
              <a:defRPr/>
            </a:pPr>
            <a:r>
              <a:rPr lang="en-US" dirty="0">
                <a:solidFill>
                  <a:prstClr val="white"/>
                </a:solidFill>
              </a:rPr>
              <a:t> </a:t>
            </a:r>
          </a:p>
        </p:txBody>
      </p:sp>
      <p:sp>
        <p:nvSpPr>
          <p:cNvPr id="35" name="Rectangle 34">
            <a:extLst>
              <a:ext uri="{FF2B5EF4-FFF2-40B4-BE49-F238E27FC236}">
                <a16:creationId xmlns:a16="http://schemas.microsoft.com/office/drawing/2014/main" id="{4808AB26-B7CC-405A-A29B-9510E10A1866}"/>
              </a:ext>
            </a:extLst>
          </p:cNvPr>
          <p:cNvSpPr/>
          <p:nvPr/>
        </p:nvSpPr>
        <p:spPr>
          <a:xfrm>
            <a:off x="3906929" y="3247031"/>
            <a:ext cx="1889760" cy="755381"/>
          </a:xfrm>
          <a:prstGeom prst="rect">
            <a:avLst/>
          </a:prstGeom>
          <a:solidFill>
            <a:schemeClr val="accent1">
              <a:lumMod val="75000"/>
            </a:schemeClr>
          </a:solidFill>
          <a:ln>
            <a:solidFill>
              <a:srgbClr val="00B050"/>
            </a:solidFill>
          </a:ln>
        </p:spPr>
        <p:style>
          <a:lnRef idx="2">
            <a:schemeClr val="accent4">
              <a:shade val="50000"/>
            </a:schemeClr>
          </a:lnRef>
          <a:fillRef idx="1">
            <a:schemeClr val="accent4"/>
          </a:fillRef>
          <a:effectRef idx="0">
            <a:schemeClr val="accent4"/>
          </a:effectRef>
          <a:fontRef idx="minor">
            <a:schemeClr val="lt1"/>
          </a:fontRef>
        </p:style>
        <p:txBody>
          <a:bodyPr rtlCol="0" anchor="t" anchorCtr="0"/>
          <a:lstStyle/>
          <a:p>
            <a:pPr lvl="0">
              <a:defRPr/>
            </a:pPr>
            <a:r>
              <a:rPr lang="en-US" sz="900" dirty="0">
                <a:solidFill>
                  <a:prstClr val="white"/>
                </a:solidFill>
              </a:rPr>
              <a:t>.</a:t>
            </a:r>
            <a:r>
              <a:rPr lang="en-US" sz="900" b="1" dirty="0">
                <a:solidFill>
                  <a:prstClr val="white"/>
                </a:solidFill>
              </a:rPr>
              <a:t>group[4]</a:t>
            </a:r>
          </a:p>
          <a:p>
            <a:pPr lvl="0">
              <a:defRPr/>
            </a:pPr>
            <a:r>
              <a:rPr lang="en-US" sz="900" b="1" dirty="0">
                <a:solidFill>
                  <a:prstClr val="white"/>
                </a:solidFill>
              </a:rPr>
              <a:t>    .code: 22 Morbid Obesity</a:t>
            </a:r>
          </a:p>
          <a:p>
            <a:pPr lvl="0">
              <a:defRPr/>
            </a:pPr>
            <a:r>
              <a:rPr lang="en-US" sz="900" b="1" dirty="0">
                <a:solidFill>
                  <a:prstClr val="white"/>
                </a:solidFill>
              </a:rPr>
              <a:t>    suspected</a:t>
            </a:r>
          </a:p>
          <a:p>
            <a:pPr lvl="0">
              <a:defRPr/>
            </a:pPr>
            <a:r>
              <a:rPr lang="en-US" sz="900" b="1" dirty="0">
                <a:solidFill>
                  <a:prstClr val="white"/>
                </a:solidFill>
              </a:rPr>
              <a:t>    closed-gap</a:t>
            </a:r>
          </a:p>
          <a:p>
            <a:pPr lvl="0">
              <a:defRPr/>
            </a:pPr>
            <a:r>
              <a:rPr lang="en-US" sz="900" b="1" dirty="0">
                <a:solidFill>
                  <a:prstClr val="white"/>
                </a:solidFill>
              </a:rPr>
              <a:t>    applied-not-superseded</a:t>
            </a:r>
          </a:p>
          <a:p>
            <a:pPr lvl="0" algn="ctr">
              <a:defRPr/>
            </a:pPr>
            <a:endParaRPr lang="en-US" dirty="0">
              <a:solidFill>
                <a:prstClr val="white"/>
              </a:solidFill>
            </a:endParaRPr>
          </a:p>
        </p:txBody>
      </p:sp>
      <p:sp>
        <p:nvSpPr>
          <p:cNvPr id="50" name="Flowchart: Process 49">
            <a:extLst>
              <a:ext uri="{FF2B5EF4-FFF2-40B4-BE49-F238E27FC236}">
                <a16:creationId xmlns:a16="http://schemas.microsoft.com/office/drawing/2014/main" id="{43898F04-C4F3-44B2-9DA3-DD349768ADB5}"/>
              </a:ext>
            </a:extLst>
          </p:cNvPr>
          <p:cNvSpPr/>
          <p:nvPr/>
        </p:nvSpPr>
        <p:spPr>
          <a:xfrm>
            <a:off x="7489786" y="2367440"/>
            <a:ext cx="1872860" cy="755570"/>
          </a:xfrm>
          <a:prstGeom prst="flowChartProcess">
            <a:avLst/>
          </a:prstGeom>
          <a:ln>
            <a:solidFill>
              <a:srgbClr val="0070C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6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US Core Condition</a:t>
            </a:r>
          </a:p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 sz="1000" dirty="0">
                <a:solidFill>
                  <a:prstClr val="white"/>
                </a:solidFill>
                <a:latin typeface="Calibri" panose="020F0502020204030204"/>
              </a:rPr>
              <a:t>E08.29 Diabetes mellitus due to underlying condition with other diabetic kidney complication</a:t>
            </a:r>
            <a:endParaRPr kumimoji="0" lang="en-US" sz="90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51" name="Flowchart: Process 50">
            <a:extLst>
              <a:ext uri="{FF2B5EF4-FFF2-40B4-BE49-F238E27FC236}">
                <a16:creationId xmlns:a16="http://schemas.microsoft.com/office/drawing/2014/main" id="{2397CBB5-489F-4C61-B0CC-8BB8BD1B2D3C}"/>
              </a:ext>
            </a:extLst>
          </p:cNvPr>
          <p:cNvSpPr/>
          <p:nvPr/>
        </p:nvSpPr>
        <p:spPr>
          <a:xfrm>
            <a:off x="7514436" y="4224960"/>
            <a:ext cx="1872860" cy="755570"/>
          </a:xfrm>
          <a:prstGeom prst="flowChartProcess">
            <a:avLst/>
          </a:prstGeom>
          <a:ln>
            <a:solidFill>
              <a:srgbClr val="0070C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6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US Core Condition</a:t>
            </a:r>
          </a:p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 sz="1000" dirty="0">
                <a:solidFill>
                  <a:prstClr val="white"/>
                </a:solidFill>
                <a:latin typeface="Calibri" panose="020F0502020204030204"/>
              </a:rPr>
              <a:t>J45.31 Mild persistent asthma with (acute) exacerbation</a:t>
            </a:r>
            <a:endParaRPr kumimoji="0" lang="en-US" sz="90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55" name="Flowchart: Process 54">
            <a:extLst>
              <a:ext uri="{FF2B5EF4-FFF2-40B4-BE49-F238E27FC236}">
                <a16:creationId xmlns:a16="http://schemas.microsoft.com/office/drawing/2014/main" id="{29AC9E13-A3B2-44B1-855E-6477F1B82D73}"/>
              </a:ext>
            </a:extLst>
          </p:cNvPr>
          <p:cNvSpPr/>
          <p:nvPr/>
        </p:nvSpPr>
        <p:spPr>
          <a:xfrm>
            <a:off x="7504288" y="3266178"/>
            <a:ext cx="1872860" cy="755570"/>
          </a:xfrm>
          <a:prstGeom prst="flowChartProcess">
            <a:avLst/>
          </a:prstGeom>
          <a:ln>
            <a:solidFill>
              <a:srgbClr val="0070C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6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US Core Condition</a:t>
            </a:r>
          </a:p>
          <a:p>
            <a:pPr lvl="0" algn="ctr">
              <a:defRPr/>
            </a:pPr>
            <a:r>
              <a:rPr lang="en-US" sz="1000" dirty="0">
                <a:solidFill>
                  <a:prstClr val="white"/>
                </a:solidFill>
                <a:latin typeface="Calibri" panose="020F0502020204030204"/>
              </a:rPr>
              <a:t>Z68.42 Body mass index (BMI) 45.0-49.9, adult</a:t>
            </a:r>
            <a:endParaRPr kumimoji="0" lang="en-US" sz="90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56" name="Flowchart: Process 55">
            <a:extLst>
              <a:ext uri="{FF2B5EF4-FFF2-40B4-BE49-F238E27FC236}">
                <a16:creationId xmlns:a16="http://schemas.microsoft.com/office/drawing/2014/main" id="{511CF435-6659-4E5A-8316-25057B7C12B6}"/>
              </a:ext>
            </a:extLst>
          </p:cNvPr>
          <p:cNvSpPr/>
          <p:nvPr/>
        </p:nvSpPr>
        <p:spPr>
          <a:xfrm>
            <a:off x="7482167" y="1420886"/>
            <a:ext cx="1872860" cy="755570"/>
          </a:xfrm>
          <a:prstGeom prst="flowChartProcess">
            <a:avLst/>
          </a:prstGeom>
          <a:ln>
            <a:solidFill>
              <a:srgbClr val="0070C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6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US Core Encounter</a:t>
            </a:r>
          </a:p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 sz="1000" dirty="0">
                <a:solidFill>
                  <a:prstClr val="white"/>
                </a:solidFill>
                <a:latin typeface="Calibri" panose="020F0502020204030204"/>
              </a:rPr>
              <a:t>DOS: 01/31/2021</a:t>
            </a:r>
            <a:endParaRPr kumimoji="0" lang="en-US" sz="90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58" name="Flowchart: Process 57">
            <a:extLst>
              <a:ext uri="{FF2B5EF4-FFF2-40B4-BE49-F238E27FC236}">
                <a16:creationId xmlns:a16="http://schemas.microsoft.com/office/drawing/2014/main" id="{2D712595-0112-40A5-8927-588F1C4E89BC}"/>
              </a:ext>
            </a:extLst>
          </p:cNvPr>
          <p:cNvSpPr/>
          <p:nvPr/>
        </p:nvSpPr>
        <p:spPr>
          <a:xfrm>
            <a:off x="7514436" y="5181600"/>
            <a:ext cx="1872860" cy="755570"/>
          </a:xfrm>
          <a:prstGeom prst="flowChartProcess">
            <a:avLst/>
          </a:prstGeom>
          <a:ln>
            <a:solidFill>
              <a:srgbClr val="0070C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6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US Core Encounter</a:t>
            </a:r>
          </a:p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 sz="1000" dirty="0">
                <a:solidFill>
                  <a:prstClr val="white"/>
                </a:solidFill>
                <a:latin typeface="Calibri" panose="020F0502020204030204"/>
              </a:rPr>
              <a:t>DOS: 09/26/2021</a:t>
            </a:r>
            <a:endParaRPr kumimoji="0" lang="en-US" sz="90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cxnSp>
        <p:nvCxnSpPr>
          <p:cNvPr id="59" name="Straight Arrow Connector 58">
            <a:extLst>
              <a:ext uri="{FF2B5EF4-FFF2-40B4-BE49-F238E27FC236}">
                <a16:creationId xmlns:a16="http://schemas.microsoft.com/office/drawing/2014/main" id="{19C70E6E-2F47-4D51-8678-B99216131D78}"/>
              </a:ext>
            </a:extLst>
          </p:cNvPr>
          <p:cNvCxnSpPr>
            <a:cxnSpLocks/>
            <a:stCxn id="28" idx="3"/>
            <a:endCxn id="50" idx="1"/>
          </p:cNvCxnSpPr>
          <p:nvPr/>
        </p:nvCxnSpPr>
        <p:spPr>
          <a:xfrm>
            <a:off x="5799757" y="2721279"/>
            <a:ext cx="1690029" cy="23946"/>
          </a:xfrm>
          <a:prstGeom prst="straightConnector1">
            <a:avLst/>
          </a:prstGeom>
          <a:ln w="12700"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63" name="Straight Arrow Connector 62">
            <a:extLst>
              <a:ext uri="{FF2B5EF4-FFF2-40B4-BE49-F238E27FC236}">
                <a16:creationId xmlns:a16="http://schemas.microsoft.com/office/drawing/2014/main" id="{4876D8A6-4F0A-447B-AC4E-61933C93FEE4}"/>
              </a:ext>
            </a:extLst>
          </p:cNvPr>
          <p:cNvCxnSpPr>
            <a:cxnSpLocks/>
            <a:stCxn id="32" idx="3"/>
            <a:endCxn id="51" idx="1"/>
          </p:cNvCxnSpPr>
          <p:nvPr/>
        </p:nvCxnSpPr>
        <p:spPr>
          <a:xfrm flipV="1">
            <a:off x="5804277" y="4602745"/>
            <a:ext cx="1710159" cy="4129"/>
          </a:xfrm>
          <a:prstGeom prst="straightConnector1">
            <a:avLst/>
          </a:prstGeom>
          <a:ln w="12700"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64" name="Straight Arrow Connector 63">
            <a:extLst>
              <a:ext uri="{FF2B5EF4-FFF2-40B4-BE49-F238E27FC236}">
                <a16:creationId xmlns:a16="http://schemas.microsoft.com/office/drawing/2014/main" id="{A7D2EBC4-9411-4817-A86A-3F78AB2B534E}"/>
              </a:ext>
            </a:extLst>
          </p:cNvPr>
          <p:cNvCxnSpPr>
            <a:cxnSpLocks/>
            <a:stCxn id="35" idx="3"/>
            <a:endCxn id="55" idx="1"/>
          </p:cNvCxnSpPr>
          <p:nvPr/>
        </p:nvCxnSpPr>
        <p:spPr>
          <a:xfrm>
            <a:off x="5796689" y="3624722"/>
            <a:ext cx="1707599" cy="19241"/>
          </a:xfrm>
          <a:prstGeom prst="straightConnector1">
            <a:avLst/>
          </a:prstGeom>
          <a:ln w="12700"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76" name="TextBox 75">
            <a:extLst>
              <a:ext uri="{FF2B5EF4-FFF2-40B4-BE49-F238E27FC236}">
                <a16:creationId xmlns:a16="http://schemas.microsoft.com/office/drawing/2014/main" id="{0712497F-FF6A-458E-92DD-01F72C350E7B}"/>
              </a:ext>
            </a:extLst>
          </p:cNvPr>
          <p:cNvSpPr txBox="1"/>
          <p:nvPr/>
        </p:nvSpPr>
        <p:spPr>
          <a:xfrm>
            <a:off x="6054497" y="3510691"/>
            <a:ext cx="1217539" cy="246221"/>
          </a:xfrm>
          <a:prstGeom prst="rect">
            <a:avLst/>
          </a:prstGeom>
          <a:solidFill>
            <a:schemeClr val="bg1"/>
          </a:solidFill>
        </p:spPr>
        <p:txBody>
          <a:bodyPr wrap="square" rtlCol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0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evaluatedResource</a:t>
            </a:r>
            <a:endParaRPr kumimoji="0" lang="en-US" sz="900" b="1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77" name="TextBox 76">
            <a:extLst>
              <a:ext uri="{FF2B5EF4-FFF2-40B4-BE49-F238E27FC236}">
                <a16:creationId xmlns:a16="http://schemas.microsoft.com/office/drawing/2014/main" id="{1DC807B2-EF1A-43C9-8B03-FDA2A3A65E64}"/>
              </a:ext>
            </a:extLst>
          </p:cNvPr>
          <p:cNvSpPr txBox="1"/>
          <p:nvPr/>
        </p:nvSpPr>
        <p:spPr>
          <a:xfrm>
            <a:off x="6084397" y="4479634"/>
            <a:ext cx="1217539" cy="246221"/>
          </a:xfrm>
          <a:prstGeom prst="rect">
            <a:avLst/>
          </a:prstGeom>
          <a:solidFill>
            <a:schemeClr val="bg1"/>
          </a:solidFill>
        </p:spPr>
        <p:txBody>
          <a:bodyPr wrap="square" rtlCol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0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evaluatedResource</a:t>
            </a:r>
            <a:endParaRPr kumimoji="0" lang="en-US" sz="900" b="1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cxnSp>
        <p:nvCxnSpPr>
          <p:cNvPr id="91" name="Straight Arrow Connector 90">
            <a:extLst>
              <a:ext uri="{FF2B5EF4-FFF2-40B4-BE49-F238E27FC236}">
                <a16:creationId xmlns:a16="http://schemas.microsoft.com/office/drawing/2014/main" id="{254DEF4E-9D1A-48E0-B245-D8C08901FA27}"/>
              </a:ext>
            </a:extLst>
          </p:cNvPr>
          <p:cNvCxnSpPr>
            <a:cxnSpLocks/>
            <a:endCxn id="56" idx="1"/>
          </p:cNvCxnSpPr>
          <p:nvPr/>
        </p:nvCxnSpPr>
        <p:spPr>
          <a:xfrm flipV="1">
            <a:off x="5827187" y="1798671"/>
            <a:ext cx="1654980" cy="922608"/>
          </a:xfrm>
          <a:prstGeom prst="straightConnector1">
            <a:avLst/>
          </a:prstGeom>
          <a:ln w="12700"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93" name="TextBox 92">
            <a:extLst>
              <a:ext uri="{FF2B5EF4-FFF2-40B4-BE49-F238E27FC236}">
                <a16:creationId xmlns:a16="http://schemas.microsoft.com/office/drawing/2014/main" id="{9420730E-079C-4158-8650-264C4A2C42DC}"/>
              </a:ext>
            </a:extLst>
          </p:cNvPr>
          <p:cNvSpPr txBox="1"/>
          <p:nvPr/>
        </p:nvSpPr>
        <p:spPr>
          <a:xfrm rot="19834726">
            <a:off x="6072534" y="2069610"/>
            <a:ext cx="1217539" cy="246221"/>
          </a:xfrm>
          <a:prstGeom prst="rect">
            <a:avLst/>
          </a:prstGeom>
          <a:solidFill>
            <a:schemeClr val="bg1"/>
          </a:solidFill>
        </p:spPr>
        <p:txBody>
          <a:bodyPr wrap="square" rtlCol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0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evaluatedResource</a:t>
            </a:r>
            <a:endParaRPr kumimoji="0" lang="en-US" sz="900" b="1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cxnSp>
        <p:nvCxnSpPr>
          <p:cNvPr id="95" name="Straight Arrow Connector 94">
            <a:extLst>
              <a:ext uri="{FF2B5EF4-FFF2-40B4-BE49-F238E27FC236}">
                <a16:creationId xmlns:a16="http://schemas.microsoft.com/office/drawing/2014/main" id="{106EB4D3-C864-4696-9DE9-5D27123A6680}"/>
              </a:ext>
            </a:extLst>
          </p:cNvPr>
          <p:cNvCxnSpPr>
            <a:cxnSpLocks/>
            <a:stCxn id="35" idx="3"/>
            <a:endCxn id="56" idx="1"/>
          </p:cNvCxnSpPr>
          <p:nvPr/>
        </p:nvCxnSpPr>
        <p:spPr>
          <a:xfrm flipV="1">
            <a:off x="5796689" y="1798671"/>
            <a:ext cx="1685478" cy="1826051"/>
          </a:xfrm>
          <a:prstGeom prst="straightConnector1">
            <a:avLst/>
          </a:prstGeom>
          <a:ln w="12700"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98" name="TextBox 97">
            <a:extLst>
              <a:ext uri="{FF2B5EF4-FFF2-40B4-BE49-F238E27FC236}">
                <a16:creationId xmlns:a16="http://schemas.microsoft.com/office/drawing/2014/main" id="{B7081640-A001-43D9-BD01-BBCA9A8AADF1}"/>
              </a:ext>
            </a:extLst>
          </p:cNvPr>
          <p:cNvSpPr txBox="1"/>
          <p:nvPr/>
        </p:nvSpPr>
        <p:spPr>
          <a:xfrm>
            <a:off x="6054497" y="2622114"/>
            <a:ext cx="1217539" cy="246221"/>
          </a:xfrm>
          <a:prstGeom prst="rect">
            <a:avLst/>
          </a:prstGeom>
          <a:solidFill>
            <a:schemeClr val="bg1"/>
          </a:solidFill>
        </p:spPr>
        <p:txBody>
          <a:bodyPr wrap="square" rtlCol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0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evaluatedResource</a:t>
            </a:r>
            <a:endParaRPr kumimoji="0" lang="en-US" sz="900" b="1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cxnSp>
        <p:nvCxnSpPr>
          <p:cNvPr id="99" name="Straight Arrow Connector 98">
            <a:extLst>
              <a:ext uri="{FF2B5EF4-FFF2-40B4-BE49-F238E27FC236}">
                <a16:creationId xmlns:a16="http://schemas.microsoft.com/office/drawing/2014/main" id="{6521FE98-80AD-48C7-A1CE-B36238BE7C76}"/>
              </a:ext>
            </a:extLst>
          </p:cNvPr>
          <p:cNvCxnSpPr>
            <a:cxnSpLocks/>
            <a:stCxn id="32" idx="3"/>
            <a:endCxn id="58" idx="1"/>
          </p:cNvCxnSpPr>
          <p:nvPr/>
        </p:nvCxnSpPr>
        <p:spPr>
          <a:xfrm>
            <a:off x="5804277" y="4606874"/>
            <a:ext cx="1710159" cy="952511"/>
          </a:xfrm>
          <a:prstGeom prst="straightConnector1">
            <a:avLst/>
          </a:prstGeom>
          <a:ln w="12700"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02" name="TextBox 101">
            <a:extLst>
              <a:ext uri="{FF2B5EF4-FFF2-40B4-BE49-F238E27FC236}">
                <a16:creationId xmlns:a16="http://schemas.microsoft.com/office/drawing/2014/main" id="{ABE0BA0A-6327-43E5-AF27-F008F2D92186}"/>
              </a:ext>
            </a:extLst>
          </p:cNvPr>
          <p:cNvSpPr txBox="1"/>
          <p:nvPr/>
        </p:nvSpPr>
        <p:spPr>
          <a:xfrm rot="1725328">
            <a:off x="6089278" y="4994194"/>
            <a:ext cx="1217539" cy="246221"/>
          </a:xfrm>
          <a:prstGeom prst="rect">
            <a:avLst/>
          </a:prstGeom>
          <a:solidFill>
            <a:schemeClr val="bg1"/>
          </a:solidFill>
        </p:spPr>
        <p:txBody>
          <a:bodyPr wrap="square" rtlCol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0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evaluatedResource</a:t>
            </a:r>
            <a:endParaRPr kumimoji="0" lang="en-US" sz="900" b="1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cxnSp>
        <p:nvCxnSpPr>
          <p:cNvPr id="103" name="Straight Arrow Connector 102">
            <a:extLst>
              <a:ext uri="{FF2B5EF4-FFF2-40B4-BE49-F238E27FC236}">
                <a16:creationId xmlns:a16="http://schemas.microsoft.com/office/drawing/2014/main" id="{B13031F9-623E-4B92-AB8D-504A75028369}"/>
              </a:ext>
            </a:extLst>
          </p:cNvPr>
          <p:cNvCxnSpPr>
            <a:cxnSpLocks/>
            <a:stCxn id="6" idx="1"/>
            <a:endCxn id="16" idx="3"/>
          </p:cNvCxnSpPr>
          <p:nvPr/>
        </p:nvCxnSpPr>
        <p:spPr>
          <a:xfrm flipH="1">
            <a:off x="2665401" y="3451868"/>
            <a:ext cx="1222107" cy="1277006"/>
          </a:xfrm>
          <a:prstGeom prst="straightConnector1">
            <a:avLst/>
          </a:prstGeom>
          <a:ln w="12700"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11" name="TextBox 110">
            <a:extLst>
              <a:ext uri="{FF2B5EF4-FFF2-40B4-BE49-F238E27FC236}">
                <a16:creationId xmlns:a16="http://schemas.microsoft.com/office/drawing/2014/main" id="{5D6EBA97-FE36-4527-A824-39C4F2447318}"/>
              </a:ext>
            </a:extLst>
          </p:cNvPr>
          <p:cNvSpPr txBox="1"/>
          <p:nvPr/>
        </p:nvSpPr>
        <p:spPr>
          <a:xfrm>
            <a:off x="3058140" y="952576"/>
            <a:ext cx="580599" cy="246221"/>
          </a:xfrm>
          <a:prstGeom prst="rect">
            <a:avLst/>
          </a:prstGeom>
          <a:solidFill>
            <a:schemeClr val="bg1"/>
          </a:solidFill>
        </p:spPr>
        <p:txBody>
          <a:bodyPr wrap="square" rtlCol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0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entry</a:t>
            </a:r>
            <a:endParaRPr kumimoji="0" lang="en-US" sz="900" b="1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113" name="TextBox 112">
            <a:extLst>
              <a:ext uri="{FF2B5EF4-FFF2-40B4-BE49-F238E27FC236}">
                <a16:creationId xmlns:a16="http://schemas.microsoft.com/office/drawing/2014/main" id="{05AAD563-13F4-4BA3-B6D6-B95685BE5C19}"/>
              </a:ext>
            </a:extLst>
          </p:cNvPr>
          <p:cNvSpPr txBox="1"/>
          <p:nvPr/>
        </p:nvSpPr>
        <p:spPr>
          <a:xfrm>
            <a:off x="2986155" y="3999070"/>
            <a:ext cx="652584" cy="246221"/>
          </a:xfrm>
          <a:prstGeom prst="rect">
            <a:avLst/>
          </a:prstGeom>
          <a:solidFill>
            <a:schemeClr val="bg1"/>
          </a:solidFill>
        </p:spPr>
        <p:txBody>
          <a:bodyPr wrap="square" rtlCol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0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reporter</a:t>
            </a:r>
            <a:endParaRPr kumimoji="0" lang="en-US" sz="900" b="1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cxnSp>
        <p:nvCxnSpPr>
          <p:cNvPr id="114" name="Straight Arrow Connector 113">
            <a:extLst>
              <a:ext uri="{FF2B5EF4-FFF2-40B4-BE49-F238E27FC236}">
                <a16:creationId xmlns:a16="http://schemas.microsoft.com/office/drawing/2014/main" id="{27DB4D4F-0EAE-406D-8D42-7F23F83D1907}"/>
              </a:ext>
            </a:extLst>
          </p:cNvPr>
          <p:cNvCxnSpPr>
            <a:cxnSpLocks/>
            <a:stCxn id="5" idx="2"/>
            <a:endCxn id="11" idx="0"/>
          </p:cNvCxnSpPr>
          <p:nvPr/>
        </p:nvCxnSpPr>
        <p:spPr>
          <a:xfrm>
            <a:off x="1759909" y="1215460"/>
            <a:ext cx="0" cy="1858623"/>
          </a:xfrm>
          <a:prstGeom prst="straightConnector1">
            <a:avLst/>
          </a:prstGeom>
          <a:ln w="12700"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17" name="TextBox 116">
            <a:extLst>
              <a:ext uri="{FF2B5EF4-FFF2-40B4-BE49-F238E27FC236}">
                <a16:creationId xmlns:a16="http://schemas.microsoft.com/office/drawing/2014/main" id="{DD388C81-A24F-42E4-86C7-975B661F035A}"/>
              </a:ext>
            </a:extLst>
          </p:cNvPr>
          <p:cNvSpPr txBox="1"/>
          <p:nvPr/>
        </p:nvSpPr>
        <p:spPr>
          <a:xfrm>
            <a:off x="1537076" y="1898550"/>
            <a:ext cx="580599" cy="246221"/>
          </a:xfrm>
          <a:prstGeom prst="rect">
            <a:avLst/>
          </a:prstGeom>
          <a:solidFill>
            <a:schemeClr val="bg1"/>
          </a:solidFill>
        </p:spPr>
        <p:txBody>
          <a:bodyPr wrap="square" rtlCol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0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entry</a:t>
            </a:r>
            <a:endParaRPr kumimoji="0" lang="en-US" sz="900" b="1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1489137117"/>
      </p:ext>
    </p:extLst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AFD3DE7-0219-45E4-80C3-649D2F20F1C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sz="3600" dirty="0"/>
              <a:t>Risk Adjustment Coding Gap Report (Single Patient)</a:t>
            </a:r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7BD6F338-751B-41B7-A1C7-5059E3FC5D07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477880" y="1497162"/>
            <a:ext cx="9236240" cy="386367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554652219"/>
      </p:ext>
    </p:extLst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02D8534-F43C-4173-82B0-DED6C9DFE0A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z="4400" dirty="0"/>
              <a:t>Risk Adjustment Coding Gap Report (Single Patient</a:t>
            </a:r>
            <a:r>
              <a:rPr lang="en-US" sz="4400"/>
              <a:t>) Report Query </a:t>
            </a:r>
            <a:r>
              <a:rPr lang="en-US" sz="4400" dirty="0"/>
              <a:t>Figure 3-1 </a:t>
            </a:r>
            <a:endParaRPr lang="en-US" dirty="0"/>
          </a:p>
        </p:txBody>
      </p:sp>
      <p:pic>
        <p:nvPicPr>
          <p:cNvPr id="5" name="Content Placeholder 4">
            <a:extLst>
              <a:ext uri="{FF2B5EF4-FFF2-40B4-BE49-F238E27FC236}">
                <a16:creationId xmlns:a16="http://schemas.microsoft.com/office/drawing/2014/main" id="{3ACF650A-4EAF-44AE-A57D-DF70F5BFAABC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3"/>
          <a:stretch>
            <a:fillRect/>
          </a:stretch>
        </p:blipFill>
        <p:spPr>
          <a:xfrm>
            <a:off x="1218777" y="1974198"/>
            <a:ext cx="9754445" cy="4054191"/>
          </a:xfrm>
        </p:spPr>
      </p:pic>
    </p:spTree>
    <p:extLst>
      <p:ext uri="{BB962C8B-B14F-4D97-AF65-F5344CB8AC3E}">
        <p14:creationId xmlns:p14="http://schemas.microsoft.com/office/powerpoint/2010/main" val="2289266917"/>
      </p:ext>
    </p:extLst>
  </p:cSld>
  <p:clrMapOvr>
    <a:masterClrMapping/>
  </p:clrMapOvr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3418D1A-52BF-46AF-A383-E397DB5CB82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Multiple Measure Reports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9D8DD8C6-DD1F-4ADE-A56D-92DA7F694DD6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71221613"/>
      </p:ext>
    </p:extLst>
  </p:cSld>
  <p:clrMapOvr>
    <a:masterClrMapping/>
  </p:clrMapOvr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35" name="Straight Arrow Connector 34">
            <a:extLst>
              <a:ext uri="{FF2B5EF4-FFF2-40B4-BE49-F238E27FC236}">
                <a16:creationId xmlns:a16="http://schemas.microsoft.com/office/drawing/2014/main" id="{AAA7B3DF-9DB0-4B96-BD97-21C858567EE1}"/>
              </a:ext>
            </a:extLst>
          </p:cNvPr>
          <p:cNvCxnSpPr>
            <a:cxnSpLocks/>
            <a:stCxn id="4" idx="3"/>
            <a:endCxn id="19" idx="1"/>
          </p:cNvCxnSpPr>
          <p:nvPr/>
        </p:nvCxnSpPr>
        <p:spPr>
          <a:xfrm flipV="1">
            <a:off x="5116354" y="1905132"/>
            <a:ext cx="1179425" cy="2004250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73" name="TextBox 172">
            <a:extLst>
              <a:ext uri="{FF2B5EF4-FFF2-40B4-BE49-F238E27FC236}">
                <a16:creationId xmlns:a16="http://schemas.microsoft.com/office/drawing/2014/main" id="{B9C1C471-DB5F-48E8-887C-88A5C9B7C936}"/>
              </a:ext>
            </a:extLst>
          </p:cNvPr>
          <p:cNvSpPr txBox="1"/>
          <p:nvPr/>
        </p:nvSpPr>
        <p:spPr>
          <a:xfrm>
            <a:off x="8341694" y="5126472"/>
            <a:ext cx="1200459" cy="230832"/>
          </a:xfrm>
          <a:prstGeom prst="rect">
            <a:avLst/>
          </a:prstGeom>
          <a:solidFill>
            <a:schemeClr val="bg1"/>
          </a:solidFill>
        </p:spPr>
        <p:txBody>
          <a:bodyPr wrap="square" rtlCol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9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evaluateResources</a:t>
            </a:r>
          </a:p>
        </p:txBody>
      </p:sp>
      <p:sp>
        <p:nvSpPr>
          <p:cNvPr id="177" name="TextBox 176">
            <a:extLst>
              <a:ext uri="{FF2B5EF4-FFF2-40B4-BE49-F238E27FC236}">
                <a16:creationId xmlns:a16="http://schemas.microsoft.com/office/drawing/2014/main" id="{ECBEBC19-2399-4EB5-8810-02FF1ACE01D9}"/>
              </a:ext>
            </a:extLst>
          </p:cNvPr>
          <p:cNvSpPr txBox="1"/>
          <p:nvPr/>
        </p:nvSpPr>
        <p:spPr>
          <a:xfrm>
            <a:off x="5241293" y="3696262"/>
            <a:ext cx="573375" cy="369332"/>
          </a:xfrm>
          <a:prstGeom prst="rect">
            <a:avLst/>
          </a:prstGeom>
          <a:solidFill>
            <a:schemeClr val="bg1"/>
          </a:solidFill>
        </p:spPr>
        <p:txBody>
          <a:bodyPr wrap="square" rtlCol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9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section.focus</a:t>
            </a:r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66FC9293-5253-4045-B6FF-0BF8D01B1EC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Risk Adjustment </a:t>
            </a:r>
            <a:br>
              <a:rPr lang="en-US" dirty="0"/>
            </a:br>
            <a:r>
              <a:rPr lang="en-US" dirty="0"/>
              <a:t>Resources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059F4AA5-BD88-4606-ACB3-39118129AFB3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68676" y="1258338"/>
            <a:ext cx="11185124" cy="5142461"/>
          </a:xfrm>
        </p:spPr>
        <p:txBody>
          <a:bodyPr/>
          <a:lstStyle/>
          <a:p>
            <a:pPr marL="0" indent="0">
              <a:buNone/>
            </a:pPr>
            <a:r>
              <a:rPr lang="en-US" dirty="0"/>
              <a:t> </a:t>
            </a:r>
          </a:p>
        </p:txBody>
      </p:sp>
      <p:sp>
        <p:nvSpPr>
          <p:cNvPr id="4" name="Flowchart: Process 3">
            <a:extLst>
              <a:ext uri="{FF2B5EF4-FFF2-40B4-BE49-F238E27FC236}">
                <a16:creationId xmlns:a16="http://schemas.microsoft.com/office/drawing/2014/main" id="{3DEA0A30-6A6C-4FA4-B9FC-7A051391A0D6}"/>
              </a:ext>
            </a:extLst>
          </p:cNvPr>
          <p:cNvSpPr/>
          <p:nvPr/>
        </p:nvSpPr>
        <p:spPr>
          <a:xfrm>
            <a:off x="3252043" y="3520952"/>
            <a:ext cx="1864311" cy="776860"/>
          </a:xfrm>
          <a:prstGeom prst="flowChartProcess">
            <a:avLst/>
          </a:prstGeom>
          <a:solidFill>
            <a:schemeClr val="accent3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6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RA Composition</a:t>
            </a:r>
          </a:p>
        </p:txBody>
      </p:sp>
      <p:sp>
        <p:nvSpPr>
          <p:cNvPr id="5" name="Flowchart: Process 4">
            <a:extLst>
              <a:ext uri="{FF2B5EF4-FFF2-40B4-BE49-F238E27FC236}">
                <a16:creationId xmlns:a16="http://schemas.microsoft.com/office/drawing/2014/main" id="{B7A7E221-C938-4426-AA48-B09EFF0C8A7E}"/>
              </a:ext>
            </a:extLst>
          </p:cNvPr>
          <p:cNvSpPr/>
          <p:nvPr/>
        </p:nvSpPr>
        <p:spPr>
          <a:xfrm>
            <a:off x="3248552" y="1646804"/>
            <a:ext cx="1864311" cy="795922"/>
          </a:xfrm>
          <a:prstGeom prst="flowChartProcess">
            <a:avLst/>
          </a:prstGeom>
          <a:solidFill>
            <a:schemeClr val="accent3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6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RA Bundle</a:t>
            </a:r>
          </a:p>
        </p:txBody>
      </p:sp>
      <p:sp>
        <p:nvSpPr>
          <p:cNvPr id="7" name="Flowchart: Process 6">
            <a:extLst>
              <a:ext uri="{FF2B5EF4-FFF2-40B4-BE49-F238E27FC236}">
                <a16:creationId xmlns:a16="http://schemas.microsoft.com/office/drawing/2014/main" id="{C91FCB4F-F2B6-436E-9248-D1FB7A9503A1}"/>
              </a:ext>
            </a:extLst>
          </p:cNvPr>
          <p:cNvSpPr/>
          <p:nvPr/>
        </p:nvSpPr>
        <p:spPr>
          <a:xfrm>
            <a:off x="6261837" y="4865351"/>
            <a:ext cx="1864311" cy="776860"/>
          </a:xfrm>
          <a:prstGeom prst="flowChartProcess">
            <a:avLst/>
          </a:prstGeom>
          <a:solidFill>
            <a:schemeClr val="accent1">
              <a:lumMod val="60000"/>
              <a:lumOff val="40000"/>
            </a:schemeClr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6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RA Measure Report #2 </a:t>
            </a:r>
          </a:p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6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RX HCC</a:t>
            </a:r>
          </a:p>
        </p:txBody>
      </p:sp>
      <p:sp>
        <p:nvSpPr>
          <p:cNvPr id="13" name="Flowchart: Process 12">
            <a:extLst>
              <a:ext uri="{FF2B5EF4-FFF2-40B4-BE49-F238E27FC236}">
                <a16:creationId xmlns:a16="http://schemas.microsoft.com/office/drawing/2014/main" id="{7C494011-9B4B-4108-B2F1-32F5A7D22803}"/>
              </a:ext>
            </a:extLst>
          </p:cNvPr>
          <p:cNvSpPr/>
          <p:nvPr/>
        </p:nvSpPr>
        <p:spPr>
          <a:xfrm>
            <a:off x="596938" y="3518748"/>
            <a:ext cx="1864311" cy="795922"/>
          </a:xfrm>
          <a:prstGeom prst="flowChartProcess">
            <a:avLst/>
          </a:prstGeom>
          <a:solidFill>
            <a:schemeClr val="accent3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6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US Core Patient*</a:t>
            </a:r>
          </a:p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9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Age 63</a:t>
            </a:r>
          </a:p>
        </p:txBody>
      </p:sp>
      <p:sp>
        <p:nvSpPr>
          <p:cNvPr id="15" name="Flowchart: Process 14">
            <a:extLst>
              <a:ext uri="{FF2B5EF4-FFF2-40B4-BE49-F238E27FC236}">
                <a16:creationId xmlns:a16="http://schemas.microsoft.com/office/drawing/2014/main" id="{AAB520D8-1327-4035-B17F-8E435832F332}"/>
              </a:ext>
            </a:extLst>
          </p:cNvPr>
          <p:cNvSpPr/>
          <p:nvPr/>
        </p:nvSpPr>
        <p:spPr>
          <a:xfrm>
            <a:off x="6261838" y="3643732"/>
            <a:ext cx="1864310" cy="779355"/>
          </a:xfrm>
          <a:prstGeom prst="flowChartProcess">
            <a:avLst/>
          </a:prstGeom>
          <a:solidFill>
            <a:schemeClr val="accent1">
              <a:lumMod val="60000"/>
              <a:lumOff val="40000"/>
            </a:schemeClr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6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US Core Condition</a:t>
            </a:r>
          </a:p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0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M06252 Rheumatoid bursitis, left hip 12/042021</a:t>
            </a:r>
          </a:p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00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16" name="Flowchart: Process 15">
            <a:extLst>
              <a:ext uri="{FF2B5EF4-FFF2-40B4-BE49-F238E27FC236}">
                <a16:creationId xmlns:a16="http://schemas.microsoft.com/office/drawing/2014/main" id="{820EB801-38A6-47AA-A42B-B341458DA83D}"/>
              </a:ext>
            </a:extLst>
          </p:cNvPr>
          <p:cNvSpPr/>
          <p:nvPr/>
        </p:nvSpPr>
        <p:spPr>
          <a:xfrm>
            <a:off x="3242456" y="5282939"/>
            <a:ext cx="1864311" cy="747552"/>
          </a:xfrm>
          <a:prstGeom prst="flowChartProcess">
            <a:avLst/>
          </a:prstGeom>
          <a:solidFill>
            <a:schemeClr val="accent3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6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US Core Organization</a:t>
            </a:r>
          </a:p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0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(example Payer)</a:t>
            </a:r>
          </a:p>
        </p:txBody>
      </p:sp>
      <p:sp>
        <p:nvSpPr>
          <p:cNvPr id="19" name="Flowchart: Process 18">
            <a:extLst>
              <a:ext uri="{FF2B5EF4-FFF2-40B4-BE49-F238E27FC236}">
                <a16:creationId xmlns:a16="http://schemas.microsoft.com/office/drawing/2014/main" id="{F4DCC147-F1CD-4EAF-9C73-16087FFCF623}"/>
              </a:ext>
            </a:extLst>
          </p:cNvPr>
          <p:cNvSpPr/>
          <p:nvPr/>
        </p:nvSpPr>
        <p:spPr>
          <a:xfrm>
            <a:off x="6295779" y="1531356"/>
            <a:ext cx="1864311" cy="747552"/>
          </a:xfrm>
          <a:prstGeom prst="flowChartProcess">
            <a:avLst/>
          </a:prstGeom>
          <a:solidFill>
            <a:schemeClr val="accent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6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RA Measure Report #1</a:t>
            </a:r>
          </a:p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6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2 HCC, 189 &amp; 19</a:t>
            </a:r>
          </a:p>
        </p:txBody>
      </p:sp>
      <p:cxnSp>
        <p:nvCxnSpPr>
          <p:cNvPr id="22" name="Straight Arrow Connector 21">
            <a:extLst>
              <a:ext uri="{FF2B5EF4-FFF2-40B4-BE49-F238E27FC236}">
                <a16:creationId xmlns:a16="http://schemas.microsoft.com/office/drawing/2014/main" id="{4B41447D-68B5-4C39-B3CC-B31F7134DC48}"/>
              </a:ext>
            </a:extLst>
          </p:cNvPr>
          <p:cNvCxnSpPr>
            <a:cxnSpLocks/>
            <a:stCxn id="5" idx="2"/>
            <a:endCxn id="4" idx="0"/>
          </p:cNvCxnSpPr>
          <p:nvPr/>
        </p:nvCxnSpPr>
        <p:spPr>
          <a:xfrm>
            <a:off x="4180708" y="2442726"/>
            <a:ext cx="3491" cy="1078226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4" name="Straight Arrow Connector 23">
            <a:extLst>
              <a:ext uri="{FF2B5EF4-FFF2-40B4-BE49-F238E27FC236}">
                <a16:creationId xmlns:a16="http://schemas.microsoft.com/office/drawing/2014/main" id="{8464D613-60CE-4D58-A3FC-5904161E60D2}"/>
              </a:ext>
            </a:extLst>
          </p:cNvPr>
          <p:cNvCxnSpPr>
            <a:cxnSpLocks/>
            <a:stCxn id="4" idx="3"/>
            <a:endCxn id="7" idx="1"/>
          </p:cNvCxnSpPr>
          <p:nvPr/>
        </p:nvCxnSpPr>
        <p:spPr>
          <a:xfrm>
            <a:off x="5116354" y="3909382"/>
            <a:ext cx="1145483" cy="1344399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8" name="Flowchart: Process 27">
            <a:extLst>
              <a:ext uri="{FF2B5EF4-FFF2-40B4-BE49-F238E27FC236}">
                <a16:creationId xmlns:a16="http://schemas.microsoft.com/office/drawing/2014/main" id="{2555D1CD-2F4B-4CC0-B94D-2ED0919C3F39}"/>
              </a:ext>
            </a:extLst>
          </p:cNvPr>
          <p:cNvSpPr/>
          <p:nvPr/>
        </p:nvSpPr>
        <p:spPr>
          <a:xfrm>
            <a:off x="6295779" y="2717726"/>
            <a:ext cx="1864311" cy="776860"/>
          </a:xfrm>
          <a:prstGeom prst="flowChartProcess">
            <a:avLst/>
          </a:prstGeom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6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US Core Condition</a:t>
            </a:r>
          </a:p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6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ICD</a:t>
            </a:r>
          </a:p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6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Z89.511/20210401</a:t>
            </a:r>
          </a:p>
        </p:txBody>
      </p:sp>
      <p:cxnSp>
        <p:nvCxnSpPr>
          <p:cNvPr id="44" name="Straight Arrow Connector 43">
            <a:extLst>
              <a:ext uri="{FF2B5EF4-FFF2-40B4-BE49-F238E27FC236}">
                <a16:creationId xmlns:a16="http://schemas.microsoft.com/office/drawing/2014/main" id="{5CF496CA-7DA1-4920-B8A9-499D311987BA}"/>
              </a:ext>
            </a:extLst>
          </p:cNvPr>
          <p:cNvCxnSpPr>
            <a:cxnSpLocks/>
            <a:stCxn id="7" idx="0"/>
            <a:endCxn id="15" idx="2"/>
          </p:cNvCxnSpPr>
          <p:nvPr/>
        </p:nvCxnSpPr>
        <p:spPr>
          <a:xfrm flipV="1">
            <a:off x="7193993" y="4423087"/>
            <a:ext cx="0" cy="442264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7" name="Straight Arrow Connector 46">
            <a:extLst>
              <a:ext uri="{FF2B5EF4-FFF2-40B4-BE49-F238E27FC236}">
                <a16:creationId xmlns:a16="http://schemas.microsoft.com/office/drawing/2014/main" id="{0F9137BA-4C1E-470D-9CE5-C3A73B892B8B}"/>
              </a:ext>
            </a:extLst>
          </p:cNvPr>
          <p:cNvCxnSpPr>
            <a:cxnSpLocks/>
            <a:stCxn id="19" idx="2"/>
            <a:endCxn id="28" idx="0"/>
          </p:cNvCxnSpPr>
          <p:nvPr/>
        </p:nvCxnSpPr>
        <p:spPr>
          <a:xfrm>
            <a:off x="7227935" y="2278908"/>
            <a:ext cx="0" cy="438818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41" name="Straight Arrow Connector 140">
            <a:extLst>
              <a:ext uri="{FF2B5EF4-FFF2-40B4-BE49-F238E27FC236}">
                <a16:creationId xmlns:a16="http://schemas.microsoft.com/office/drawing/2014/main" id="{879550D5-89BE-4FBE-82D9-CB3521CF2D58}"/>
              </a:ext>
            </a:extLst>
          </p:cNvPr>
          <p:cNvCxnSpPr>
            <a:cxnSpLocks/>
            <a:stCxn id="4" idx="2"/>
            <a:endCxn id="16" idx="0"/>
          </p:cNvCxnSpPr>
          <p:nvPr/>
        </p:nvCxnSpPr>
        <p:spPr>
          <a:xfrm flipH="1">
            <a:off x="4174612" y="4297812"/>
            <a:ext cx="9587" cy="985127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47" name="Straight Arrow Connector 146">
            <a:extLst>
              <a:ext uri="{FF2B5EF4-FFF2-40B4-BE49-F238E27FC236}">
                <a16:creationId xmlns:a16="http://schemas.microsoft.com/office/drawing/2014/main" id="{CAE3AF3E-4461-4BF9-AD1A-870ECDBF5C9D}"/>
              </a:ext>
            </a:extLst>
          </p:cNvPr>
          <p:cNvCxnSpPr>
            <a:cxnSpLocks/>
            <a:stCxn id="5" idx="3"/>
            <a:endCxn id="7" idx="1"/>
          </p:cNvCxnSpPr>
          <p:nvPr/>
        </p:nvCxnSpPr>
        <p:spPr>
          <a:xfrm>
            <a:off x="5112863" y="2044765"/>
            <a:ext cx="1148974" cy="3209016"/>
          </a:xfrm>
          <a:prstGeom prst="straightConnector1">
            <a:avLst/>
          </a:prstGeom>
          <a:ln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50" name="Straight Arrow Connector 149">
            <a:extLst>
              <a:ext uri="{FF2B5EF4-FFF2-40B4-BE49-F238E27FC236}">
                <a16:creationId xmlns:a16="http://schemas.microsoft.com/office/drawing/2014/main" id="{B0A502EB-4FA3-419A-B0EE-C00113470861}"/>
              </a:ext>
            </a:extLst>
          </p:cNvPr>
          <p:cNvCxnSpPr>
            <a:cxnSpLocks/>
            <a:stCxn id="5" idx="3"/>
            <a:endCxn id="19" idx="1"/>
          </p:cNvCxnSpPr>
          <p:nvPr/>
        </p:nvCxnSpPr>
        <p:spPr>
          <a:xfrm flipV="1">
            <a:off x="5112863" y="1905132"/>
            <a:ext cx="1182916" cy="139633"/>
          </a:xfrm>
          <a:prstGeom prst="straightConnector1">
            <a:avLst/>
          </a:prstGeom>
          <a:ln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54" name="Straight Arrow Connector 153">
            <a:extLst>
              <a:ext uri="{FF2B5EF4-FFF2-40B4-BE49-F238E27FC236}">
                <a16:creationId xmlns:a16="http://schemas.microsoft.com/office/drawing/2014/main" id="{ACE8CF9B-7ACD-48E8-BB5C-C165C6517CEC}"/>
              </a:ext>
            </a:extLst>
          </p:cNvPr>
          <p:cNvCxnSpPr>
            <a:cxnSpLocks/>
            <a:stCxn id="4" idx="1"/>
            <a:endCxn id="13" idx="3"/>
          </p:cNvCxnSpPr>
          <p:nvPr/>
        </p:nvCxnSpPr>
        <p:spPr>
          <a:xfrm flipH="1">
            <a:off x="2461249" y="3909382"/>
            <a:ext cx="790794" cy="7327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61" name="TextBox 160">
            <a:extLst>
              <a:ext uri="{FF2B5EF4-FFF2-40B4-BE49-F238E27FC236}">
                <a16:creationId xmlns:a16="http://schemas.microsoft.com/office/drawing/2014/main" id="{3EFFA89C-5A0F-43E9-8E5E-E7EFE761E46D}"/>
              </a:ext>
            </a:extLst>
          </p:cNvPr>
          <p:cNvSpPr txBox="1"/>
          <p:nvPr/>
        </p:nvSpPr>
        <p:spPr>
          <a:xfrm>
            <a:off x="718799" y="5034569"/>
            <a:ext cx="2075630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9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*US Core Patient is also pointed to by all  RA Measure Reports, US Core Procedure,  US Core  Lab Observations, US Core Condition, etc</a:t>
            </a:r>
          </a:p>
        </p:txBody>
      </p:sp>
      <p:sp>
        <p:nvSpPr>
          <p:cNvPr id="165" name="TextBox 164">
            <a:extLst>
              <a:ext uri="{FF2B5EF4-FFF2-40B4-BE49-F238E27FC236}">
                <a16:creationId xmlns:a16="http://schemas.microsoft.com/office/drawing/2014/main" id="{8F126E68-CFBC-4650-89F4-8608C59D3052}"/>
              </a:ext>
            </a:extLst>
          </p:cNvPr>
          <p:cNvSpPr txBox="1"/>
          <p:nvPr/>
        </p:nvSpPr>
        <p:spPr>
          <a:xfrm>
            <a:off x="2716620" y="2684407"/>
            <a:ext cx="851536" cy="230832"/>
          </a:xfrm>
          <a:prstGeom prst="rect">
            <a:avLst/>
          </a:prstGeom>
          <a:solidFill>
            <a:schemeClr val="bg1"/>
          </a:solidFill>
        </p:spPr>
        <p:txBody>
          <a:bodyPr wrap="square" rtlCol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9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section.entry</a:t>
            </a:r>
          </a:p>
        </p:txBody>
      </p:sp>
      <p:sp>
        <p:nvSpPr>
          <p:cNvPr id="174" name="TextBox 173">
            <a:extLst>
              <a:ext uri="{FF2B5EF4-FFF2-40B4-BE49-F238E27FC236}">
                <a16:creationId xmlns:a16="http://schemas.microsoft.com/office/drawing/2014/main" id="{89984EC5-4D27-490C-94D4-8134C6A2E37D}"/>
              </a:ext>
            </a:extLst>
          </p:cNvPr>
          <p:cNvSpPr txBox="1"/>
          <p:nvPr/>
        </p:nvSpPr>
        <p:spPr>
          <a:xfrm>
            <a:off x="1250351" y="2956726"/>
            <a:ext cx="573375" cy="230832"/>
          </a:xfrm>
          <a:prstGeom prst="rect">
            <a:avLst/>
          </a:prstGeom>
          <a:solidFill>
            <a:schemeClr val="bg1"/>
          </a:solidFill>
        </p:spPr>
        <p:txBody>
          <a:bodyPr wrap="square" rtlCol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9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patient</a:t>
            </a:r>
          </a:p>
        </p:txBody>
      </p:sp>
      <p:sp>
        <p:nvSpPr>
          <p:cNvPr id="175" name="TextBox 174">
            <a:extLst>
              <a:ext uri="{FF2B5EF4-FFF2-40B4-BE49-F238E27FC236}">
                <a16:creationId xmlns:a16="http://schemas.microsoft.com/office/drawing/2014/main" id="{D0295861-70D2-48F2-A70D-BD6830F6561F}"/>
              </a:ext>
            </a:extLst>
          </p:cNvPr>
          <p:cNvSpPr txBox="1"/>
          <p:nvPr/>
        </p:nvSpPr>
        <p:spPr>
          <a:xfrm>
            <a:off x="2602823" y="3782240"/>
            <a:ext cx="573375" cy="230832"/>
          </a:xfrm>
          <a:prstGeom prst="rect">
            <a:avLst/>
          </a:prstGeom>
          <a:solidFill>
            <a:schemeClr val="bg1"/>
          </a:solidFill>
        </p:spPr>
        <p:txBody>
          <a:bodyPr wrap="square" rtlCol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9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subject</a:t>
            </a:r>
          </a:p>
        </p:txBody>
      </p:sp>
      <p:sp>
        <p:nvSpPr>
          <p:cNvPr id="176" name="TextBox 175">
            <a:extLst>
              <a:ext uri="{FF2B5EF4-FFF2-40B4-BE49-F238E27FC236}">
                <a16:creationId xmlns:a16="http://schemas.microsoft.com/office/drawing/2014/main" id="{F4254C16-5AD4-454F-B8DE-A78DB7317DD0}"/>
              </a:ext>
            </a:extLst>
          </p:cNvPr>
          <p:cNvSpPr txBox="1"/>
          <p:nvPr/>
        </p:nvSpPr>
        <p:spPr>
          <a:xfrm>
            <a:off x="3850155" y="4568002"/>
            <a:ext cx="798376" cy="230832"/>
          </a:xfrm>
          <a:prstGeom prst="rect">
            <a:avLst/>
          </a:prstGeom>
          <a:solidFill>
            <a:schemeClr val="bg1"/>
          </a:solidFill>
        </p:spPr>
        <p:txBody>
          <a:bodyPr wrap="square" rtlCol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9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custodian</a:t>
            </a:r>
          </a:p>
        </p:txBody>
      </p:sp>
      <p:sp>
        <p:nvSpPr>
          <p:cNvPr id="178" name="TextBox 177">
            <a:extLst>
              <a:ext uri="{FF2B5EF4-FFF2-40B4-BE49-F238E27FC236}">
                <a16:creationId xmlns:a16="http://schemas.microsoft.com/office/drawing/2014/main" id="{6DC5E373-7EFD-4CA0-9108-834DD55A204E}"/>
              </a:ext>
            </a:extLst>
          </p:cNvPr>
          <p:cNvSpPr txBox="1"/>
          <p:nvPr/>
        </p:nvSpPr>
        <p:spPr>
          <a:xfrm>
            <a:off x="3912843" y="2797557"/>
            <a:ext cx="573375" cy="230832"/>
          </a:xfrm>
          <a:prstGeom prst="rect">
            <a:avLst/>
          </a:prstGeom>
          <a:solidFill>
            <a:schemeClr val="bg1"/>
          </a:solidFill>
        </p:spPr>
        <p:txBody>
          <a:bodyPr wrap="square" rtlCol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9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entry</a:t>
            </a:r>
          </a:p>
        </p:txBody>
      </p:sp>
      <p:sp>
        <p:nvSpPr>
          <p:cNvPr id="51" name="Flowchart: Process 50">
            <a:extLst>
              <a:ext uri="{FF2B5EF4-FFF2-40B4-BE49-F238E27FC236}">
                <a16:creationId xmlns:a16="http://schemas.microsoft.com/office/drawing/2014/main" id="{26D4DD73-45E1-43F9-ADDC-8A6DA302101C}"/>
              </a:ext>
            </a:extLst>
          </p:cNvPr>
          <p:cNvSpPr/>
          <p:nvPr/>
        </p:nvSpPr>
        <p:spPr>
          <a:xfrm>
            <a:off x="6256762" y="342663"/>
            <a:ext cx="1934738" cy="747552"/>
          </a:xfrm>
          <a:prstGeom prst="flowChartProcess">
            <a:avLst/>
          </a:prstGeom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6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RA Measure</a:t>
            </a:r>
          </a:p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6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CMS HCC v24</a:t>
            </a:r>
          </a:p>
        </p:txBody>
      </p:sp>
      <p:cxnSp>
        <p:nvCxnSpPr>
          <p:cNvPr id="29" name="Straight Arrow Connector 28">
            <a:extLst>
              <a:ext uri="{FF2B5EF4-FFF2-40B4-BE49-F238E27FC236}">
                <a16:creationId xmlns:a16="http://schemas.microsoft.com/office/drawing/2014/main" id="{1D879AAF-6430-4FAA-9C17-0821D2F4F1D5}"/>
              </a:ext>
            </a:extLst>
          </p:cNvPr>
          <p:cNvCxnSpPr>
            <a:cxnSpLocks/>
            <a:stCxn id="19" idx="0"/>
            <a:endCxn id="51" idx="2"/>
          </p:cNvCxnSpPr>
          <p:nvPr/>
        </p:nvCxnSpPr>
        <p:spPr>
          <a:xfrm flipH="1" flipV="1">
            <a:off x="7224131" y="1090215"/>
            <a:ext cx="3804" cy="441141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52" name="TextBox 51">
            <a:extLst>
              <a:ext uri="{FF2B5EF4-FFF2-40B4-BE49-F238E27FC236}">
                <a16:creationId xmlns:a16="http://schemas.microsoft.com/office/drawing/2014/main" id="{8C27D146-23E1-4682-8A4A-54C5926B687F}"/>
              </a:ext>
            </a:extLst>
          </p:cNvPr>
          <p:cNvSpPr txBox="1"/>
          <p:nvPr/>
        </p:nvSpPr>
        <p:spPr>
          <a:xfrm>
            <a:off x="6958015" y="1210109"/>
            <a:ext cx="1092114" cy="230832"/>
          </a:xfrm>
          <a:prstGeom prst="rect">
            <a:avLst/>
          </a:prstGeom>
          <a:solidFill>
            <a:schemeClr val="bg1"/>
          </a:solidFill>
        </p:spPr>
        <p:txBody>
          <a:bodyPr wrap="square" rtlCol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9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measure</a:t>
            </a:r>
          </a:p>
        </p:txBody>
      </p:sp>
      <p:sp>
        <p:nvSpPr>
          <p:cNvPr id="55" name="TextBox 54">
            <a:extLst>
              <a:ext uri="{FF2B5EF4-FFF2-40B4-BE49-F238E27FC236}">
                <a16:creationId xmlns:a16="http://schemas.microsoft.com/office/drawing/2014/main" id="{E3F7F9A1-8F24-4136-BF9D-69A2F98F5CB6}"/>
              </a:ext>
            </a:extLst>
          </p:cNvPr>
          <p:cNvSpPr txBox="1"/>
          <p:nvPr/>
        </p:nvSpPr>
        <p:spPr>
          <a:xfrm>
            <a:off x="8520003" y="1913261"/>
            <a:ext cx="1092114" cy="230832"/>
          </a:xfrm>
          <a:prstGeom prst="rect">
            <a:avLst/>
          </a:prstGeom>
          <a:solidFill>
            <a:schemeClr val="bg1"/>
          </a:solidFill>
        </p:spPr>
        <p:txBody>
          <a:bodyPr wrap="square" rtlCol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9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evaluateResources</a:t>
            </a:r>
          </a:p>
        </p:txBody>
      </p:sp>
      <p:sp>
        <p:nvSpPr>
          <p:cNvPr id="53" name="Flowchart: Process 52">
            <a:extLst>
              <a:ext uri="{FF2B5EF4-FFF2-40B4-BE49-F238E27FC236}">
                <a16:creationId xmlns:a16="http://schemas.microsoft.com/office/drawing/2014/main" id="{4134BEED-462A-4D21-92CE-2B5D05EAFFE6}"/>
              </a:ext>
            </a:extLst>
          </p:cNvPr>
          <p:cNvSpPr/>
          <p:nvPr/>
        </p:nvSpPr>
        <p:spPr>
          <a:xfrm>
            <a:off x="6261101" y="6110448"/>
            <a:ext cx="1879599" cy="747552"/>
          </a:xfrm>
          <a:prstGeom prst="flowChartProcess">
            <a:avLst/>
          </a:prstGeom>
          <a:solidFill>
            <a:schemeClr val="accent1">
              <a:lumMod val="60000"/>
              <a:lumOff val="40000"/>
            </a:schemeClr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6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RA Measure</a:t>
            </a:r>
          </a:p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6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Rx HCC v05</a:t>
            </a:r>
          </a:p>
        </p:txBody>
      </p:sp>
      <p:sp>
        <p:nvSpPr>
          <p:cNvPr id="54" name="Flowchart: Process 53">
            <a:extLst>
              <a:ext uri="{FF2B5EF4-FFF2-40B4-BE49-F238E27FC236}">
                <a16:creationId xmlns:a16="http://schemas.microsoft.com/office/drawing/2014/main" id="{53785A16-DD10-419D-9D42-DB4D56208B37}"/>
              </a:ext>
            </a:extLst>
          </p:cNvPr>
          <p:cNvSpPr/>
          <p:nvPr/>
        </p:nvSpPr>
        <p:spPr>
          <a:xfrm>
            <a:off x="9943200" y="1104142"/>
            <a:ext cx="1864310" cy="940558"/>
          </a:xfrm>
          <a:prstGeom prst="flowChartProcess">
            <a:avLst/>
          </a:prstGeom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6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US Core Encounter</a:t>
            </a:r>
          </a:p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6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20210401</a:t>
            </a:r>
            <a:endParaRPr kumimoji="0" lang="en-US" sz="100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56" name="Flowchart: Process 55">
            <a:extLst>
              <a:ext uri="{FF2B5EF4-FFF2-40B4-BE49-F238E27FC236}">
                <a16:creationId xmlns:a16="http://schemas.microsoft.com/office/drawing/2014/main" id="{C9F96D85-F524-4D73-94B2-0434F1DF9812}"/>
              </a:ext>
            </a:extLst>
          </p:cNvPr>
          <p:cNvSpPr/>
          <p:nvPr/>
        </p:nvSpPr>
        <p:spPr>
          <a:xfrm>
            <a:off x="9930500" y="2338910"/>
            <a:ext cx="1864310" cy="917206"/>
          </a:xfrm>
          <a:prstGeom prst="flowChartProcess">
            <a:avLst/>
          </a:prstGeom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6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US Core Observation</a:t>
            </a:r>
          </a:p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6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A1C of 9.4/20210401</a:t>
            </a:r>
            <a:endParaRPr kumimoji="0" lang="en-US" sz="100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cxnSp>
        <p:nvCxnSpPr>
          <p:cNvPr id="40" name="Straight Arrow Connector 39">
            <a:extLst>
              <a:ext uri="{FF2B5EF4-FFF2-40B4-BE49-F238E27FC236}">
                <a16:creationId xmlns:a16="http://schemas.microsoft.com/office/drawing/2014/main" id="{98C70785-72DF-4B04-B087-9C4D80B1FCF5}"/>
              </a:ext>
            </a:extLst>
          </p:cNvPr>
          <p:cNvCxnSpPr>
            <a:cxnSpLocks/>
            <a:stCxn id="19" idx="3"/>
            <a:endCxn id="56" idx="1"/>
          </p:cNvCxnSpPr>
          <p:nvPr/>
        </p:nvCxnSpPr>
        <p:spPr>
          <a:xfrm>
            <a:off x="8160090" y="1905132"/>
            <a:ext cx="1770410" cy="892381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64" name="Straight Arrow Connector 63">
            <a:extLst>
              <a:ext uri="{FF2B5EF4-FFF2-40B4-BE49-F238E27FC236}">
                <a16:creationId xmlns:a16="http://schemas.microsoft.com/office/drawing/2014/main" id="{DD3DA6C3-C316-4DD9-92F3-8C0C8B4E40FD}"/>
              </a:ext>
            </a:extLst>
          </p:cNvPr>
          <p:cNvCxnSpPr>
            <a:cxnSpLocks/>
            <a:stCxn id="19" idx="3"/>
            <a:endCxn id="54" idx="1"/>
          </p:cNvCxnSpPr>
          <p:nvPr/>
        </p:nvCxnSpPr>
        <p:spPr>
          <a:xfrm flipV="1">
            <a:off x="8160090" y="1574421"/>
            <a:ext cx="1783110" cy="330711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85" name="TextBox 84">
            <a:extLst>
              <a:ext uri="{FF2B5EF4-FFF2-40B4-BE49-F238E27FC236}">
                <a16:creationId xmlns:a16="http://schemas.microsoft.com/office/drawing/2014/main" id="{94D89C9C-B25B-4E82-8DC1-C7DB743DDEC7}"/>
              </a:ext>
            </a:extLst>
          </p:cNvPr>
          <p:cNvSpPr txBox="1"/>
          <p:nvPr/>
        </p:nvSpPr>
        <p:spPr>
          <a:xfrm>
            <a:off x="5270934" y="2227647"/>
            <a:ext cx="503893" cy="246221"/>
          </a:xfrm>
          <a:prstGeom prst="rect">
            <a:avLst/>
          </a:prstGeom>
          <a:solidFill>
            <a:schemeClr val="bg1"/>
          </a:solidFill>
        </p:spPr>
        <p:txBody>
          <a:bodyPr wrap="square" rtlCol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0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entry</a:t>
            </a:r>
          </a:p>
        </p:txBody>
      </p:sp>
      <p:sp>
        <p:nvSpPr>
          <p:cNvPr id="115" name="TextBox 114">
            <a:extLst>
              <a:ext uri="{FF2B5EF4-FFF2-40B4-BE49-F238E27FC236}">
                <a16:creationId xmlns:a16="http://schemas.microsoft.com/office/drawing/2014/main" id="{0EBEC07C-D02C-4F92-A128-D6F909ECB4F8}"/>
              </a:ext>
            </a:extLst>
          </p:cNvPr>
          <p:cNvSpPr txBox="1"/>
          <p:nvPr/>
        </p:nvSpPr>
        <p:spPr>
          <a:xfrm>
            <a:off x="6472848" y="4551810"/>
            <a:ext cx="1972652" cy="230832"/>
          </a:xfrm>
          <a:prstGeom prst="rect">
            <a:avLst/>
          </a:prstGeom>
          <a:solidFill>
            <a:schemeClr val="bg1"/>
          </a:solidFill>
        </p:spPr>
        <p:txBody>
          <a:bodyPr wrap="square" rtlCol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9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group[1].extension-historicDiagnosis</a:t>
            </a:r>
          </a:p>
        </p:txBody>
      </p:sp>
      <p:sp>
        <p:nvSpPr>
          <p:cNvPr id="116" name="TextBox 115">
            <a:extLst>
              <a:ext uri="{FF2B5EF4-FFF2-40B4-BE49-F238E27FC236}">
                <a16:creationId xmlns:a16="http://schemas.microsoft.com/office/drawing/2014/main" id="{4660E1F6-0794-42D9-B4A6-C18B5F782A67}"/>
              </a:ext>
            </a:extLst>
          </p:cNvPr>
          <p:cNvSpPr txBox="1"/>
          <p:nvPr/>
        </p:nvSpPr>
        <p:spPr>
          <a:xfrm>
            <a:off x="6282348" y="2367410"/>
            <a:ext cx="1972652" cy="230832"/>
          </a:xfrm>
          <a:prstGeom prst="rect">
            <a:avLst/>
          </a:prstGeom>
          <a:solidFill>
            <a:schemeClr val="bg1"/>
          </a:solidFill>
        </p:spPr>
        <p:txBody>
          <a:bodyPr wrap="square" rtlCol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9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group[1].extension-historicDiagnosis</a:t>
            </a:r>
          </a:p>
        </p:txBody>
      </p:sp>
      <p:cxnSp>
        <p:nvCxnSpPr>
          <p:cNvPr id="138" name="Straight Arrow Connector 137">
            <a:extLst>
              <a:ext uri="{FF2B5EF4-FFF2-40B4-BE49-F238E27FC236}">
                <a16:creationId xmlns:a16="http://schemas.microsoft.com/office/drawing/2014/main" id="{635E9CDB-CC75-4613-9E5B-258CAEEAD026}"/>
              </a:ext>
            </a:extLst>
          </p:cNvPr>
          <p:cNvCxnSpPr>
            <a:cxnSpLocks/>
            <a:stCxn id="7" idx="2"/>
            <a:endCxn id="53" idx="0"/>
          </p:cNvCxnSpPr>
          <p:nvPr/>
        </p:nvCxnSpPr>
        <p:spPr>
          <a:xfrm>
            <a:off x="7193993" y="5642211"/>
            <a:ext cx="6908" cy="468237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23" name="TextBox 122">
            <a:extLst>
              <a:ext uri="{FF2B5EF4-FFF2-40B4-BE49-F238E27FC236}">
                <a16:creationId xmlns:a16="http://schemas.microsoft.com/office/drawing/2014/main" id="{1AF808F2-DDD4-42B9-B8B0-C93A2CC765F2}"/>
              </a:ext>
            </a:extLst>
          </p:cNvPr>
          <p:cNvSpPr txBox="1"/>
          <p:nvPr/>
        </p:nvSpPr>
        <p:spPr>
          <a:xfrm>
            <a:off x="6869115" y="5731309"/>
            <a:ext cx="1092114" cy="230832"/>
          </a:xfrm>
          <a:prstGeom prst="rect">
            <a:avLst/>
          </a:prstGeom>
          <a:solidFill>
            <a:schemeClr val="bg1"/>
          </a:solidFill>
        </p:spPr>
        <p:txBody>
          <a:bodyPr wrap="square" rtlCol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9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measure</a:t>
            </a:r>
          </a:p>
        </p:txBody>
      </p:sp>
      <p:cxnSp>
        <p:nvCxnSpPr>
          <p:cNvPr id="149" name="Straight Arrow Connector 148">
            <a:extLst>
              <a:ext uri="{FF2B5EF4-FFF2-40B4-BE49-F238E27FC236}">
                <a16:creationId xmlns:a16="http://schemas.microsoft.com/office/drawing/2014/main" id="{DEA2ECFD-A9C5-4080-91B9-1EF1FAD5B146}"/>
              </a:ext>
            </a:extLst>
          </p:cNvPr>
          <p:cNvCxnSpPr>
            <a:cxnSpLocks/>
            <a:stCxn id="7" idx="3"/>
            <a:endCxn id="151" idx="1"/>
          </p:cNvCxnSpPr>
          <p:nvPr/>
        </p:nvCxnSpPr>
        <p:spPr>
          <a:xfrm flipV="1">
            <a:off x="8126148" y="4609721"/>
            <a:ext cx="1462352" cy="644060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51" name="Flowchart: Process 150">
            <a:extLst>
              <a:ext uri="{FF2B5EF4-FFF2-40B4-BE49-F238E27FC236}">
                <a16:creationId xmlns:a16="http://schemas.microsoft.com/office/drawing/2014/main" id="{51868D15-457B-41D4-9DBD-9854C4DE3812}"/>
              </a:ext>
            </a:extLst>
          </p:cNvPr>
          <p:cNvSpPr/>
          <p:nvPr/>
        </p:nvSpPr>
        <p:spPr>
          <a:xfrm>
            <a:off x="9588500" y="4139442"/>
            <a:ext cx="1876110" cy="940558"/>
          </a:xfrm>
          <a:prstGeom prst="flowChartProcess">
            <a:avLst/>
          </a:prstGeom>
          <a:solidFill>
            <a:schemeClr val="accent1">
              <a:lumMod val="60000"/>
              <a:lumOff val="40000"/>
            </a:schemeClr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6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MedicationDispense</a:t>
            </a:r>
          </a:p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6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20210323</a:t>
            </a:r>
          </a:p>
        </p:txBody>
      </p:sp>
      <p:sp>
        <p:nvSpPr>
          <p:cNvPr id="159" name="Flowchart: Process 158">
            <a:extLst>
              <a:ext uri="{FF2B5EF4-FFF2-40B4-BE49-F238E27FC236}">
                <a16:creationId xmlns:a16="http://schemas.microsoft.com/office/drawing/2014/main" id="{5CD24286-BCDA-4D99-B85D-D32151805C89}"/>
              </a:ext>
            </a:extLst>
          </p:cNvPr>
          <p:cNvSpPr/>
          <p:nvPr/>
        </p:nvSpPr>
        <p:spPr>
          <a:xfrm>
            <a:off x="9639300" y="5612642"/>
            <a:ext cx="1876110" cy="940558"/>
          </a:xfrm>
          <a:prstGeom prst="flowChartProcess">
            <a:avLst/>
          </a:prstGeom>
          <a:solidFill>
            <a:schemeClr val="accent1">
              <a:lumMod val="60000"/>
              <a:lumOff val="40000"/>
            </a:schemeClr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6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Medication</a:t>
            </a:r>
          </a:p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8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Rinvoq (Upadacitinib)</a:t>
            </a:r>
            <a:endParaRPr kumimoji="0" lang="en-US" sz="100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cxnSp>
        <p:nvCxnSpPr>
          <p:cNvPr id="160" name="Straight Arrow Connector 159">
            <a:extLst>
              <a:ext uri="{FF2B5EF4-FFF2-40B4-BE49-F238E27FC236}">
                <a16:creationId xmlns:a16="http://schemas.microsoft.com/office/drawing/2014/main" id="{14EF0705-2A19-4FAE-AB3B-F0BACBDF5674}"/>
              </a:ext>
            </a:extLst>
          </p:cNvPr>
          <p:cNvCxnSpPr>
            <a:cxnSpLocks/>
            <a:stCxn id="7" idx="3"/>
            <a:endCxn id="159" idx="1"/>
          </p:cNvCxnSpPr>
          <p:nvPr/>
        </p:nvCxnSpPr>
        <p:spPr>
          <a:xfrm>
            <a:off x="8126148" y="5253781"/>
            <a:ext cx="1513152" cy="829140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99" name="Straight Arrow Connector 98">
            <a:extLst>
              <a:ext uri="{FF2B5EF4-FFF2-40B4-BE49-F238E27FC236}">
                <a16:creationId xmlns:a16="http://schemas.microsoft.com/office/drawing/2014/main" id="{609035BD-15F0-49F8-B1A3-80D3E178A3A5}"/>
              </a:ext>
            </a:extLst>
          </p:cNvPr>
          <p:cNvCxnSpPr>
            <a:stCxn id="151" idx="2"/>
            <a:endCxn id="159" idx="0"/>
          </p:cNvCxnSpPr>
          <p:nvPr/>
        </p:nvCxnSpPr>
        <p:spPr>
          <a:xfrm>
            <a:off x="10526555" y="5080000"/>
            <a:ext cx="50800" cy="532642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62" name="TextBox 161">
            <a:extLst>
              <a:ext uri="{FF2B5EF4-FFF2-40B4-BE49-F238E27FC236}">
                <a16:creationId xmlns:a16="http://schemas.microsoft.com/office/drawing/2014/main" id="{4550AB65-DED2-4D35-B618-30357DC0A91D}"/>
              </a:ext>
            </a:extLst>
          </p:cNvPr>
          <p:cNvSpPr txBox="1"/>
          <p:nvPr/>
        </p:nvSpPr>
        <p:spPr>
          <a:xfrm>
            <a:off x="10233994" y="5202672"/>
            <a:ext cx="1200459" cy="230832"/>
          </a:xfrm>
          <a:prstGeom prst="rect">
            <a:avLst/>
          </a:prstGeom>
          <a:solidFill>
            <a:schemeClr val="bg1"/>
          </a:solidFill>
        </p:spPr>
        <p:txBody>
          <a:bodyPr wrap="square" rtlCol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9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Medication	</a:t>
            </a:r>
          </a:p>
        </p:txBody>
      </p:sp>
    </p:spTree>
    <p:extLst>
      <p:ext uri="{BB962C8B-B14F-4D97-AF65-F5344CB8AC3E}">
        <p14:creationId xmlns:p14="http://schemas.microsoft.com/office/powerpoint/2010/main" val="759523600"/>
      </p:ext>
    </p:extLst>
  </p:cSld>
  <p:clrMapOvr>
    <a:masterClrMapping/>
  </p:clrMapOvr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6" name="Group 15">
            <a:extLst>
              <a:ext uri="{FF2B5EF4-FFF2-40B4-BE49-F238E27FC236}">
                <a16:creationId xmlns:a16="http://schemas.microsoft.com/office/drawing/2014/main" id="{A1011D70-2573-BAE4-00C3-8BC56F708B2B}"/>
              </a:ext>
            </a:extLst>
          </p:cNvPr>
          <p:cNvGrpSpPr/>
          <p:nvPr/>
        </p:nvGrpSpPr>
        <p:grpSpPr>
          <a:xfrm>
            <a:off x="846798" y="536793"/>
            <a:ext cx="10540447" cy="5683033"/>
            <a:chOff x="537099" y="359939"/>
            <a:chExt cx="6347012" cy="3872192"/>
          </a:xfrm>
        </p:grpSpPr>
        <p:sp>
          <p:nvSpPr>
            <p:cNvPr id="6" name="Oval 5">
              <a:extLst>
                <a:ext uri="{FF2B5EF4-FFF2-40B4-BE49-F238E27FC236}">
                  <a16:creationId xmlns:a16="http://schemas.microsoft.com/office/drawing/2014/main" id="{509B8A9C-22A8-4DD4-5ADA-F6F8D196290F}"/>
                </a:ext>
              </a:extLst>
            </p:cNvPr>
            <p:cNvSpPr/>
            <p:nvPr/>
          </p:nvSpPr>
          <p:spPr>
            <a:xfrm>
              <a:off x="537099" y="359939"/>
              <a:ext cx="6347012" cy="3872192"/>
            </a:xfrm>
            <a:prstGeom prst="ellipse">
              <a:avLst/>
            </a:prstGeom>
            <a:solidFill>
              <a:schemeClr val="accent3">
                <a:lumMod val="20000"/>
                <a:lumOff val="80000"/>
              </a:schemeClr>
            </a:solidFill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wrap="none" rtlCol="0" anchor="t"/>
            <a:lstStyle/>
            <a:p>
              <a:pPr algn="ctr"/>
              <a:endParaRPr lang="en-US" sz="2400" dirty="0"/>
            </a:p>
          </p:txBody>
        </p:sp>
        <p:sp>
          <p:nvSpPr>
            <p:cNvPr id="9" name="TextBox 8">
              <a:extLst>
                <a:ext uri="{FF2B5EF4-FFF2-40B4-BE49-F238E27FC236}">
                  <a16:creationId xmlns:a16="http://schemas.microsoft.com/office/drawing/2014/main" id="{1747B4E7-3FA0-D19B-7DCA-B70A17CAD51B}"/>
                </a:ext>
              </a:extLst>
            </p:cNvPr>
            <p:cNvSpPr txBox="1"/>
            <p:nvPr/>
          </p:nvSpPr>
          <p:spPr>
            <a:xfrm>
              <a:off x="2226472" y="479351"/>
              <a:ext cx="2968266" cy="356501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pPr algn="ctr"/>
              <a:r>
                <a:rPr lang="en-US" sz="2800" dirty="0">
                  <a:latin typeface="Arial" panose="020B0604020202020204" pitchFamily="34" charset="0"/>
                  <a:cs typeface="Arial" panose="020B0604020202020204" pitchFamily="34" charset="0"/>
                </a:rPr>
                <a:t>Initial Population</a:t>
              </a:r>
            </a:p>
          </p:txBody>
        </p:sp>
      </p:grpSp>
      <p:sp>
        <p:nvSpPr>
          <p:cNvPr id="23" name="Freeform: Shape 22">
            <a:extLst>
              <a:ext uri="{FF2B5EF4-FFF2-40B4-BE49-F238E27FC236}">
                <a16:creationId xmlns:a16="http://schemas.microsoft.com/office/drawing/2014/main" id="{727C4559-2EF9-B96E-2440-6236C74D58A6}"/>
              </a:ext>
            </a:extLst>
          </p:cNvPr>
          <p:cNvSpPr/>
          <p:nvPr/>
        </p:nvSpPr>
        <p:spPr>
          <a:xfrm>
            <a:off x="1187671" y="1539854"/>
            <a:ext cx="9858701" cy="4359613"/>
          </a:xfrm>
          <a:custGeom>
            <a:avLst/>
            <a:gdLst>
              <a:gd name="connsiteX0" fmla="*/ 5464350 w 7394026"/>
              <a:gd name="connsiteY0" fmla="*/ 1136885 h 3269710"/>
              <a:gd name="connsiteX1" fmla="*/ 3888175 w 7394026"/>
              <a:gd name="connsiteY1" fmla="*/ 1852642 h 3269710"/>
              <a:gd name="connsiteX2" fmla="*/ 5464350 w 7394026"/>
              <a:gd name="connsiteY2" fmla="*/ 2568399 h 3269710"/>
              <a:gd name="connsiteX3" fmla="*/ 7040525 w 7394026"/>
              <a:gd name="connsiteY3" fmla="*/ 1852642 h 3269710"/>
              <a:gd name="connsiteX4" fmla="*/ 5464350 w 7394026"/>
              <a:gd name="connsiteY4" fmla="*/ 1136885 h 3269710"/>
              <a:gd name="connsiteX5" fmla="*/ 3697013 w 7394026"/>
              <a:gd name="connsiteY5" fmla="*/ 0 h 3269710"/>
              <a:gd name="connsiteX6" fmla="*/ 7394026 w 7394026"/>
              <a:gd name="connsiteY6" fmla="*/ 1634855 h 3269710"/>
              <a:gd name="connsiteX7" fmla="*/ 3697013 w 7394026"/>
              <a:gd name="connsiteY7" fmla="*/ 3269710 h 3269710"/>
              <a:gd name="connsiteX8" fmla="*/ 0 w 7394026"/>
              <a:gd name="connsiteY8" fmla="*/ 1634855 h 3269710"/>
              <a:gd name="connsiteX9" fmla="*/ 3697013 w 7394026"/>
              <a:gd name="connsiteY9" fmla="*/ 0 h 326971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</a:cxnLst>
            <a:rect l="l" t="t" r="r" b="b"/>
            <a:pathLst>
              <a:path w="7394026" h="3269710">
                <a:moveTo>
                  <a:pt x="5464350" y="1136885"/>
                </a:moveTo>
                <a:cubicBezTo>
                  <a:pt x="4593853" y="1136885"/>
                  <a:pt x="3888175" y="1457340"/>
                  <a:pt x="3888175" y="1852642"/>
                </a:cubicBezTo>
                <a:cubicBezTo>
                  <a:pt x="3888175" y="2247944"/>
                  <a:pt x="4593853" y="2568399"/>
                  <a:pt x="5464350" y="2568399"/>
                </a:cubicBezTo>
                <a:cubicBezTo>
                  <a:pt x="6334847" y="2568399"/>
                  <a:pt x="7040525" y="2247944"/>
                  <a:pt x="7040525" y="1852642"/>
                </a:cubicBezTo>
                <a:cubicBezTo>
                  <a:pt x="7040525" y="1457340"/>
                  <a:pt x="6334847" y="1136885"/>
                  <a:pt x="5464350" y="1136885"/>
                </a:cubicBezTo>
                <a:close/>
                <a:moveTo>
                  <a:pt x="3697013" y="0"/>
                </a:moveTo>
                <a:cubicBezTo>
                  <a:pt x="5738817" y="0"/>
                  <a:pt x="7394026" y="731950"/>
                  <a:pt x="7394026" y="1634855"/>
                </a:cubicBezTo>
                <a:cubicBezTo>
                  <a:pt x="7394026" y="2537760"/>
                  <a:pt x="5738817" y="3269710"/>
                  <a:pt x="3697013" y="3269710"/>
                </a:cubicBezTo>
                <a:cubicBezTo>
                  <a:pt x="1655209" y="3269710"/>
                  <a:pt x="0" y="2537760"/>
                  <a:pt x="0" y="1634855"/>
                </a:cubicBezTo>
                <a:cubicBezTo>
                  <a:pt x="0" y="731950"/>
                  <a:pt x="1655209" y="0"/>
                  <a:pt x="3697013" y="0"/>
                </a:cubicBezTo>
                <a:close/>
              </a:path>
            </a:pathLst>
          </a:custGeom>
          <a:solidFill>
            <a:schemeClr val="accent1">
              <a:lumMod val="60000"/>
              <a:lumOff val="40000"/>
            </a:schemeClr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2400"/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D5E30804-09B0-DBBC-B09D-CE2778BAE393}"/>
              </a:ext>
            </a:extLst>
          </p:cNvPr>
          <p:cNvSpPr txBox="1"/>
          <p:nvPr/>
        </p:nvSpPr>
        <p:spPr>
          <a:xfrm>
            <a:off x="3651859" y="1886564"/>
            <a:ext cx="4930325" cy="5232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n-US" sz="2800" dirty="0">
                <a:latin typeface="Arial" panose="020B0604020202020204" pitchFamily="34" charset="0"/>
                <a:cs typeface="Arial" panose="020B0604020202020204" pitchFamily="34" charset="0"/>
              </a:rPr>
              <a:t>Denominator</a:t>
            </a:r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841BDC70-383A-EE34-A980-475DF01E8577}"/>
              </a:ext>
            </a:extLst>
          </p:cNvPr>
          <p:cNvSpPr txBox="1"/>
          <p:nvPr/>
        </p:nvSpPr>
        <p:spPr>
          <a:xfrm>
            <a:off x="1826449" y="2442350"/>
            <a:ext cx="8581148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n-US" dirty="0">
                <a:latin typeface="Arial" panose="020B0604020202020204" pitchFamily="34" charset="0"/>
                <a:cs typeface="Arial" panose="020B0604020202020204" pitchFamily="34" charset="0"/>
              </a:rPr>
              <a:t>Open/Closed historic and suspected gaps, and closed net-new gaps</a:t>
            </a:r>
          </a:p>
        </p:txBody>
      </p:sp>
      <p:sp>
        <p:nvSpPr>
          <p:cNvPr id="13" name="Oval 12">
            <a:extLst>
              <a:ext uri="{FF2B5EF4-FFF2-40B4-BE49-F238E27FC236}">
                <a16:creationId xmlns:a16="http://schemas.microsoft.com/office/drawing/2014/main" id="{F441CD94-6D1C-D53A-9E15-4D555FB349EA}"/>
              </a:ext>
            </a:extLst>
          </p:cNvPr>
          <p:cNvSpPr/>
          <p:nvPr/>
        </p:nvSpPr>
        <p:spPr>
          <a:xfrm>
            <a:off x="1623864" y="3063503"/>
            <a:ext cx="4203133" cy="1908684"/>
          </a:xfrm>
          <a:prstGeom prst="ellipse">
            <a:avLst/>
          </a:prstGeom>
          <a:solidFill>
            <a:schemeClr val="accent1">
              <a:lumMod val="50000"/>
            </a:schemeClr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240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7C24BB70-85D1-2C8E-EC63-108C86CE44CF}"/>
              </a:ext>
            </a:extLst>
          </p:cNvPr>
          <p:cNvSpPr txBox="1"/>
          <p:nvPr/>
        </p:nvSpPr>
        <p:spPr>
          <a:xfrm>
            <a:off x="2125964" y="3375597"/>
            <a:ext cx="3198933" cy="5232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n-US" sz="2800" dirty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Numerator</a:t>
            </a:r>
            <a:endParaRPr lang="en-US" sz="2400" dirty="0">
              <a:solidFill>
                <a:schemeClr val="bg1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21" name="TextBox 20">
            <a:extLst>
              <a:ext uri="{FF2B5EF4-FFF2-40B4-BE49-F238E27FC236}">
                <a16:creationId xmlns:a16="http://schemas.microsoft.com/office/drawing/2014/main" id="{3205C947-DBBB-B8DA-5D87-06B818C8670D}"/>
              </a:ext>
            </a:extLst>
          </p:cNvPr>
          <p:cNvSpPr txBox="1"/>
          <p:nvPr/>
        </p:nvSpPr>
        <p:spPr>
          <a:xfrm>
            <a:off x="6461096" y="3593193"/>
            <a:ext cx="4024749" cy="5232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n-US" sz="2800" dirty="0">
                <a:latin typeface="Arial" panose="020B0604020202020204" pitchFamily="34" charset="0"/>
                <a:cs typeface="Arial" panose="020B0604020202020204" pitchFamily="34" charset="0"/>
              </a:rPr>
              <a:t>Denominator Exclusions</a:t>
            </a:r>
          </a:p>
        </p:txBody>
      </p:sp>
      <p:sp>
        <p:nvSpPr>
          <p:cNvPr id="24" name="TextBox 23">
            <a:extLst>
              <a:ext uri="{FF2B5EF4-FFF2-40B4-BE49-F238E27FC236}">
                <a16:creationId xmlns:a16="http://schemas.microsoft.com/office/drawing/2014/main" id="{F952F606-A542-B5C3-1A33-2B8B4ACD87C9}"/>
              </a:ext>
            </a:extLst>
          </p:cNvPr>
          <p:cNvSpPr txBox="1"/>
          <p:nvPr/>
        </p:nvSpPr>
        <p:spPr>
          <a:xfrm>
            <a:off x="1639955" y="3824630"/>
            <a:ext cx="4024749" cy="64633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n-US" dirty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Closed historic, suspected, and </a:t>
            </a:r>
          </a:p>
          <a:p>
            <a:pPr algn="ctr"/>
            <a:r>
              <a:rPr lang="en-US" dirty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net-new gaps</a:t>
            </a:r>
          </a:p>
        </p:txBody>
      </p:sp>
      <p:sp>
        <p:nvSpPr>
          <p:cNvPr id="17" name="TextBox 16">
            <a:extLst>
              <a:ext uri="{FF2B5EF4-FFF2-40B4-BE49-F238E27FC236}">
                <a16:creationId xmlns:a16="http://schemas.microsoft.com/office/drawing/2014/main" id="{61C49829-36C0-91AD-5D7C-B60CED391628}"/>
              </a:ext>
            </a:extLst>
          </p:cNvPr>
          <p:cNvSpPr txBox="1"/>
          <p:nvPr/>
        </p:nvSpPr>
        <p:spPr>
          <a:xfrm>
            <a:off x="100119" y="69790"/>
            <a:ext cx="6510231" cy="33855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lvl="1"/>
            <a:r>
              <a:rPr lang="en-US" altLang="en-US" sz="1600" dirty="0">
                <a:latin typeface="Arial" panose="020B0604020202020204" pitchFamily="34" charset="0"/>
                <a:cs typeface="Arial" panose="020B0604020202020204" pitchFamily="34" charset="0"/>
              </a:rPr>
              <a:t>HCC189: </a:t>
            </a:r>
            <a:r>
              <a:rPr lang="en-US" sz="1600" dirty="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Amputation Status, Lower Limb/Amputation Complications</a:t>
            </a:r>
            <a:endParaRPr lang="en-US" altLang="en-US" sz="1600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927574247"/>
      </p:ext>
    </p:extLst>
  </p:cSld>
  <p:clrMapOvr>
    <a:masterClrMapping/>
  </p:clrMapOvr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6" name="Group 15">
            <a:extLst>
              <a:ext uri="{FF2B5EF4-FFF2-40B4-BE49-F238E27FC236}">
                <a16:creationId xmlns:a16="http://schemas.microsoft.com/office/drawing/2014/main" id="{A1011D70-2573-BAE4-00C3-8BC56F708B2B}"/>
              </a:ext>
            </a:extLst>
          </p:cNvPr>
          <p:cNvGrpSpPr/>
          <p:nvPr/>
        </p:nvGrpSpPr>
        <p:grpSpPr>
          <a:xfrm>
            <a:off x="846798" y="536793"/>
            <a:ext cx="10540447" cy="5683033"/>
            <a:chOff x="537099" y="359939"/>
            <a:chExt cx="6347012" cy="3872192"/>
          </a:xfrm>
        </p:grpSpPr>
        <p:sp>
          <p:nvSpPr>
            <p:cNvPr id="6" name="Oval 5">
              <a:extLst>
                <a:ext uri="{FF2B5EF4-FFF2-40B4-BE49-F238E27FC236}">
                  <a16:creationId xmlns:a16="http://schemas.microsoft.com/office/drawing/2014/main" id="{509B8A9C-22A8-4DD4-5ADA-F6F8D196290F}"/>
                </a:ext>
              </a:extLst>
            </p:cNvPr>
            <p:cNvSpPr/>
            <p:nvPr/>
          </p:nvSpPr>
          <p:spPr>
            <a:xfrm>
              <a:off x="537099" y="359939"/>
              <a:ext cx="6347012" cy="3872192"/>
            </a:xfrm>
            <a:prstGeom prst="ellipse">
              <a:avLst/>
            </a:prstGeom>
            <a:solidFill>
              <a:schemeClr val="accent3">
                <a:lumMod val="20000"/>
                <a:lumOff val="80000"/>
              </a:schemeClr>
            </a:solidFill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wrap="none" rtlCol="0" anchor="t"/>
            <a:lstStyle/>
            <a:p>
              <a:pPr algn="ctr"/>
              <a:endParaRPr lang="en-US" sz="2400" dirty="0"/>
            </a:p>
          </p:txBody>
        </p:sp>
        <p:sp>
          <p:nvSpPr>
            <p:cNvPr id="9" name="TextBox 8">
              <a:extLst>
                <a:ext uri="{FF2B5EF4-FFF2-40B4-BE49-F238E27FC236}">
                  <a16:creationId xmlns:a16="http://schemas.microsoft.com/office/drawing/2014/main" id="{1747B4E7-3FA0-D19B-7DCA-B70A17CAD51B}"/>
                </a:ext>
              </a:extLst>
            </p:cNvPr>
            <p:cNvSpPr txBox="1"/>
            <p:nvPr/>
          </p:nvSpPr>
          <p:spPr>
            <a:xfrm>
              <a:off x="2226472" y="479351"/>
              <a:ext cx="2968266" cy="314560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pPr algn="ctr"/>
              <a:r>
                <a:rPr lang="en-US" sz="2400" dirty="0">
                  <a:latin typeface="Arial" panose="020B0604020202020204" pitchFamily="34" charset="0"/>
                  <a:cs typeface="Arial" panose="020B0604020202020204" pitchFamily="34" charset="0"/>
                </a:rPr>
                <a:t>HCC 189 Initial Population</a:t>
              </a:r>
            </a:p>
          </p:txBody>
        </p:sp>
      </p:grpSp>
      <p:sp>
        <p:nvSpPr>
          <p:cNvPr id="23" name="Freeform: Shape 22">
            <a:extLst>
              <a:ext uri="{FF2B5EF4-FFF2-40B4-BE49-F238E27FC236}">
                <a16:creationId xmlns:a16="http://schemas.microsoft.com/office/drawing/2014/main" id="{727C4559-2EF9-B96E-2440-6236C74D58A6}"/>
              </a:ext>
            </a:extLst>
          </p:cNvPr>
          <p:cNvSpPr/>
          <p:nvPr/>
        </p:nvSpPr>
        <p:spPr>
          <a:xfrm>
            <a:off x="1187671" y="1539854"/>
            <a:ext cx="9858701" cy="4359613"/>
          </a:xfrm>
          <a:custGeom>
            <a:avLst/>
            <a:gdLst>
              <a:gd name="connsiteX0" fmla="*/ 5464350 w 7394026"/>
              <a:gd name="connsiteY0" fmla="*/ 1136885 h 3269710"/>
              <a:gd name="connsiteX1" fmla="*/ 3888175 w 7394026"/>
              <a:gd name="connsiteY1" fmla="*/ 1852642 h 3269710"/>
              <a:gd name="connsiteX2" fmla="*/ 5464350 w 7394026"/>
              <a:gd name="connsiteY2" fmla="*/ 2568399 h 3269710"/>
              <a:gd name="connsiteX3" fmla="*/ 7040525 w 7394026"/>
              <a:gd name="connsiteY3" fmla="*/ 1852642 h 3269710"/>
              <a:gd name="connsiteX4" fmla="*/ 5464350 w 7394026"/>
              <a:gd name="connsiteY4" fmla="*/ 1136885 h 3269710"/>
              <a:gd name="connsiteX5" fmla="*/ 3697013 w 7394026"/>
              <a:gd name="connsiteY5" fmla="*/ 0 h 3269710"/>
              <a:gd name="connsiteX6" fmla="*/ 7394026 w 7394026"/>
              <a:gd name="connsiteY6" fmla="*/ 1634855 h 3269710"/>
              <a:gd name="connsiteX7" fmla="*/ 3697013 w 7394026"/>
              <a:gd name="connsiteY7" fmla="*/ 3269710 h 3269710"/>
              <a:gd name="connsiteX8" fmla="*/ 0 w 7394026"/>
              <a:gd name="connsiteY8" fmla="*/ 1634855 h 3269710"/>
              <a:gd name="connsiteX9" fmla="*/ 3697013 w 7394026"/>
              <a:gd name="connsiteY9" fmla="*/ 0 h 326971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</a:cxnLst>
            <a:rect l="l" t="t" r="r" b="b"/>
            <a:pathLst>
              <a:path w="7394026" h="3269710">
                <a:moveTo>
                  <a:pt x="5464350" y="1136885"/>
                </a:moveTo>
                <a:cubicBezTo>
                  <a:pt x="4593853" y="1136885"/>
                  <a:pt x="3888175" y="1457340"/>
                  <a:pt x="3888175" y="1852642"/>
                </a:cubicBezTo>
                <a:cubicBezTo>
                  <a:pt x="3888175" y="2247944"/>
                  <a:pt x="4593853" y="2568399"/>
                  <a:pt x="5464350" y="2568399"/>
                </a:cubicBezTo>
                <a:cubicBezTo>
                  <a:pt x="6334847" y="2568399"/>
                  <a:pt x="7040525" y="2247944"/>
                  <a:pt x="7040525" y="1852642"/>
                </a:cubicBezTo>
                <a:cubicBezTo>
                  <a:pt x="7040525" y="1457340"/>
                  <a:pt x="6334847" y="1136885"/>
                  <a:pt x="5464350" y="1136885"/>
                </a:cubicBezTo>
                <a:close/>
                <a:moveTo>
                  <a:pt x="3697013" y="0"/>
                </a:moveTo>
                <a:cubicBezTo>
                  <a:pt x="5738817" y="0"/>
                  <a:pt x="7394026" y="731950"/>
                  <a:pt x="7394026" y="1634855"/>
                </a:cubicBezTo>
                <a:cubicBezTo>
                  <a:pt x="7394026" y="2537760"/>
                  <a:pt x="5738817" y="3269710"/>
                  <a:pt x="3697013" y="3269710"/>
                </a:cubicBezTo>
                <a:cubicBezTo>
                  <a:pt x="1655209" y="3269710"/>
                  <a:pt x="0" y="2537760"/>
                  <a:pt x="0" y="1634855"/>
                </a:cubicBezTo>
                <a:cubicBezTo>
                  <a:pt x="0" y="731950"/>
                  <a:pt x="1655209" y="0"/>
                  <a:pt x="3697013" y="0"/>
                </a:cubicBezTo>
                <a:close/>
              </a:path>
            </a:pathLst>
          </a:custGeom>
          <a:solidFill>
            <a:schemeClr val="accent1">
              <a:lumMod val="60000"/>
              <a:lumOff val="40000"/>
            </a:schemeClr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2400"/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D5E30804-09B0-DBBC-B09D-CE2778BAE393}"/>
              </a:ext>
            </a:extLst>
          </p:cNvPr>
          <p:cNvSpPr txBox="1"/>
          <p:nvPr/>
        </p:nvSpPr>
        <p:spPr>
          <a:xfrm>
            <a:off x="3651859" y="1886564"/>
            <a:ext cx="4930325" cy="4616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n-US" sz="2400" dirty="0">
                <a:latin typeface="Arial" panose="020B0604020202020204" pitchFamily="34" charset="0"/>
                <a:cs typeface="Arial" panose="020B0604020202020204" pitchFamily="34" charset="0"/>
              </a:rPr>
              <a:t>HCC 189 Denominator</a:t>
            </a:r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841BDC70-383A-EE34-A980-475DF01E8577}"/>
              </a:ext>
            </a:extLst>
          </p:cNvPr>
          <p:cNvSpPr txBox="1"/>
          <p:nvPr/>
        </p:nvSpPr>
        <p:spPr>
          <a:xfrm>
            <a:off x="1826449" y="2442350"/>
            <a:ext cx="8581148" cy="33855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n-US" sz="1600" dirty="0">
                <a:latin typeface="Arial" panose="020B0604020202020204" pitchFamily="34" charset="0"/>
                <a:cs typeface="Arial" panose="020B0604020202020204" pitchFamily="34" charset="0"/>
              </a:rPr>
              <a:t>Open/Closed historic and suspected gaps, and Closed net-new gaps</a:t>
            </a:r>
          </a:p>
        </p:txBody>
      </p:sp>
      <p:sp>
        <p:nvSpPr>
          <p:cNvPr id="13" name="Oval 12">
            <a:extLst>
              <a:ext uri="{FF2B5EF4-FFF2-40B4-BE49-F238E27FC236}">
                <a16:creationId xmlns:a16="http://schemas.microsoft.com/office/drawing/2014/main" id="{F441CD94-6D1C-D53A-9E15-4D555FB349EA}"/>
              </a:ext>
            </a:extLst>
          </p:cNvPr>
          <p:cNvSpPr/>
          <p:nvPr/>
        </p:nvSpPr>
        <p:spPr>
          <a:xfrm>
            <a:off x="1623864" y="3063503"/>
            <a:ext cx="4203133" cy="1908684"/>
          </a:xfrm>
          <a:prstGeom prst="ellipse">
            <a:avLst/>
          </a:prstGeom>
          <a:solidFill>
            <a:schemeClr val="accent1">
              <a:lumMod val="50000"/>
            </a:schemeClr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240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7C24BB70-85D1-2C8E-EC63-108C86CE44CF}"/>
              </a:ext>
            </a:extLst>
          </p:cNvPr>
          <p:cNvSpPr txBox="1"/>
          <p:nvPr/>
        </p:nvSpPr>
        <p:spPr>
          <a:xfrm>
            <a:off x="2125964" y="3375597"/>
            <a:ext cx="3198933" cy="4616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n-US" sz="2400" dirty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HCC 189 Numerator</a:t>
            </a:r>
          </a:p>
        </p:txBody>
      </p:sp>
      <p:sp>
        <p:nvSpPr>
          <p:cNvPr id="15" name="TextBox 14">
            <a:extLst>
              <a:ext uri="{FF2B5EF4-FFF2-40B4-BE49-F238E27FC236}">
                <a16:creationId xmlns:a16="http://schemas.microsoft.com/office/drawing/2014/main" id="{2731A21E-4701-95E6-ED63-09F3D012BEE7}"/>
              </a:ext>
            </a:extLst>
          </p:cNvPr>
          <p:cNvSpPr txBox="1"/>
          <p:nvPr/>
        </p:nvSpPr>
        <p:spPr>
          <a:xfrm>
            <a:off x="6543387" y="4050027"/>
            <a:ext cx="4024749" cy="33855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n-US" sz="1600" dirty="0">
                <a:latin typeface="Arial" panose="020B0604020202020204" pitchFamily="34" charset="0"/>
                <a:cs typeface="Arial" panose="020B0604020202020204" pitchFamily="34" charset="0"/>
              </a:rPr>
              <a:t>Congenital absences of fingers and toes</a:t>
            </a:r>
          </a:p>
        </p:txBody>
      </p:sp>
      <p:sp>
        <p:nvSpPr>
          <p:cNvPr id="21" name="TextBox 20">
            <a:extLst>
              <a:ext uri="{FF2B5EF4-FFF2-40B4-BE49-F238E27FC236}">
                <a16:creationId xmlns:a16="http://schemas.microsoft.com/office/drawing/2014/main" id="{3205C947-DBBB-B8DA-5D87-06B818C8670D}"/>
              </a:ext>
            </a:extLst>
          </p:cNvPr>
          <p:cNvSpPr txBox="1"/>
          <p:nvPr/>
        </p:nvSpPr>
        <p:spPr>
          <a:xfrm>
            <a:off x="6461096" y="3593193"/>
            <a:ext cx="4024749" cy="4616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n-US" sz="2400" dirty="0">
                <a:latin typeface="Arial" panose="020B0604020202020204" pitchFamily="34" charset="0"/>
                <a:cs typeface="Arial" panose="020B0604020202020204" pitchFamily="34" charset="0"/>
              </a:rPr>
              <a:t>Denominator Exclusions</a:t>
            </a:r>
          </a:p>
        </p:txBody>
      </p:sp>
      <p:sp>
        <p:nvSpPr>
          <p:cNvPr id="24" name="TextBox 23">
            <a:extLst>
              <a:ext uri="{FF2B5EF4-FFF2-40B4-BE49-F238E27FC236}">
                <a16:creationId xmlns:a16="http://schemas.microsoft.com/office/drawing/2014/main" id="{F952F606-A542-B5C3-1A33-2B8B4ACD87C9}"/>
              </a:ext>
            </a:extLst>
          </p:cNvPr>
          <p:cNvSpPr txBox="1"/>
          <p:nvPr/>
        </p:nvSpPr>
        <p:spPr>
          <a:xfrm>
            <a:off x="1639955" y="3824630"/>
            <a:ext cx="4024749" cy="83099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n-US" sz="1600" dirty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Acquired absences of fingers and toes:</a:t>
            </a:r>
          </a:p>
          <a:p>
            <a:pPr algn="ctr"/>
            <a:r>
              <a:rPr lang="en-US" sz="1600" dirty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Closed historic, suspected, and net-new gaps</a:t>
            </a:r>
          </a:p>
        </p:txBody>
      </p:sp>
      <p:sp>
        <p:nvSpPr>
          <p:cNvPr id="17" name="TextBox 16">
            <a:extLst>
              <a:ext uri="{FF2B5EF4-FFF2-40B4-BE49-F238E27FC236}">
                <a16:creationId xmlns:a16="http://schemas.microsoft.com/office/drawing/2014/main" id="{61C49829-36C0-91AD-5D7C-B60CED391628}"/>
              </a:ext>
            </a:extLst>
          </p:cNvPr>
          <p:cNvSpPr txBox="1"/>
          <p:nvPr/>
        </p:nvSpPr>
        <p:spPr>
          <a:xfrm>
            <a:off x="100119" y="69790"/>
            <a:ext cx="6510231" cy="33855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lvl="1"/>
            <a:r>
              <a:rPr lang="en-US" altLang="en-US" sz="1600" dirty="0">
                <a:latin typeface="Arial" panose="020B0604020202020204" pitchFamily="34" charset="0"/>
                <a:cs typeface="Arial" panose="020B0604020202020204" pitchFamily="34" charset="0"/>
              </a:rPr>
              <a:t>HCC189: </a:t>
            </a:r>
            <a:r>
              <a:rPr lang="en-US" sz="1600" dirty="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Amputation Status, Lower Limb/Amputation Complications</a:t>
            </a:r>
            <a:endParaRPr lang="en-US" altLang="en-US" sz="1600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18" name="TextBox 17">
            <a:extLst>
              <a:ext uri="{FF2B5EF4-FFF2-40B4-BE49-F238E27FC236}">
                <a16:creationId xmlns:a16="http://schemas.microsoft.com/office/drawing/2014/main" id="{2B501836-F5D4-F00E-AA2E-D021D46ED0CB}"/>
              </a:ext>
            </a:extLst>
          </p:cNvPr>
          <p:cNvSpPr txBox="1"/>
          <p:nvPr/>
        </p:nvSpPr>
        <p:spPr>
          <a:xfrm>
            <a:off x="3312028" y="1151193"/>
            <a:ext cx="5567944" cy="33855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n-US" sz="1600" dirty="0">
                <a:latin typeface="Arial" panose="020B0604020202020204" pitchFamily="34" charset="0"/>
                <a:cs typeface="Arial" panose="020B0604020202020204" pitchFamily="34" charset="0"/>
              </a:rPr>
              <a:t>Enrolled Medicare Advantage members</a:t>
            </a:r>
          </a:p>
        </p:txBody>
      </p:sp>
    </p:spTree>
    <p:extLst>
      <p:ext uri="{BB962C8B-B14F-4D97-AF65-F5344CB8AC3E}">
        <p14:creationId xmlns:p14="http://schemas.microsoft.com/office/powerpoint/2010/main" val="1127410911"/>
      </p:ext>
    </p:extLst>
  </p:cSld>
  <p:clrMapOvr>
    <a:masterClrMapping/>
  </p:clrMapOvr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EE064F5-F9F1-43C0-A746-25B3F07B0F1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Old versions of figures – not used</a:t>
            </a:r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03AE268B-CF95-4E65-B1EF-7AF43BDA13AB}"/>
              </a:ext>
            </a:extLst>
          </p:cNvPr>
          <p:cNvSpPr>
            <a:spLocks noGrp="1"/>
          </p:cNvSpPr>
          <p:nvPr>
            <p:ph type="ftr" sz="quarter" idx="10"/>
          </p:nvPr>
        </p:nvSpPr>
        <p:spPr/>
        <p:txBody>
          <a:bodyPr/>
          <a:lstStyle/>
          <a:p>
            <a:r>
              <a:rPr lang="en-US" b="1"/>
              <a:t>© 2019 Health Level Seven ® International. Licensed under Creative Commons Attribution 4.0 International</a:t>
            </a:r>
          </a:p>
          <a:p>
            <a:r>
              <a:rPr lang="en-US" b="1"/>
              <a:t>HL7, Health Level Seven, FHIR and the FHIR flame logo are registered trademarks of Health Level Seven International. Reg. U.S. TM Office.</a:t>
            </a:r>
            <a:endParaRPr lang="en-US" b="1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18373F79-2D3A-494D-B6F2-9975501DB261}"/>
              </a:ext>
            </a:extLst>
          </p:cNvPr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fld id="{6CACE926-AEF5-4BFE-8BD7-24414108CB7B}" type="slidenum">
              <a:rPr lang="en-US" altLang="en-US" smtClean="0"/>
              <a:pPr/>
              <a:t>36</a:t>
            </a:fld>
            <a:endParaRPr lang="en-US" altLang="en-US" dirty="0"/>
          </a:p>
        </p:txBody>
      </p:sp>
    </p:spTree>
    <p:extLst>
      <p:ext uri="{BB962C8B-B14F-4D97-AF65-F5344CB8AC3E}">
        <p14:creationId xmlns:p14="http://schemas.microsoft.com/office/powerpoint/2010/main" val="2034284899"/>
      </p:ext>
    </p:extLst>
  </p:cSld>
  <p:clrMapOvr>
    <a:masterClrMapping/>
  </p:clrMapOvr>
</p:sld>
</file>

<file path=ppt/slides/slide3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E4FC254-7E84-4C1E-B2B1-8F45C616E91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Balloted: Figure 1-3 (Home page)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4025DF32-5ADE-4348-8F51-B2255B4D83D2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/>
        <p:txBody>
          <a:bodyPr/>
          <a:lstStyle/>
          <a:p>
            <a:pPr marL="0" indent="0">
              <a:buNone/>
            </a:pPr>
            <a:r>
              <a:rPr lang="en-US" dirty="0"/>
              <a:t> </a:t>
            </a:r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6F1D9FDC-5EC9-421B-B816-669D4CBA8D03}"/>
              </a:ext>
            </a:extLst>
          </p:cNvPr>
          <p:cNvSpPr>
            <a:spLocks noGrp="1"/>
          </p:cNvSpPr>
          <p:nvPr>
            <p:ph type="ftr" sz="quarter" idx="10"/>
          </p:nvPr>
        </p:nvSpPr>
        <p:spPr/>
        <p:txBody>
          <a:bodyPr/>
          <a:lstStyle/>
          <a:p>
            <a:r>
              <a:rPr lang="en-US" b="1"/>
              <a:t>© 2019 Health Level Seven ® International. Licensed under Creative Commons Attribution 4.0 International</a:t>
            </a:r>
          </a:p>
          <a:p>
            <a:r>
              <a:rPr lang="en-US" b="1"/>
              <a:t>HL7, Health Level Seven, FHIR and the FHIR flame logo are registered trademarks of Health Level Seven International. Reg. U.S. TM Office.</a:t>
            </a:r>
            <a:endParaRPr lang="en-US" b="1" dirty="0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ABC91477-8158-43AE-8C67-AA1E9785A906}"/>
              </a:ext>
            </a:extLst>
          </p:cNvPr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fld id="{6CACE926-AEF5-4BFE-8BD7-24414108CB7B}" type="slidenum">
              <a:rPr lang="en-US" altLang="en-US" smtClean="0"/>
              <a:pPr/>
              <a:t>37</a:t>
            </a:fld>
            <a:endParaRPr lang="en-US" altLang="en-US" dirty="0"/>
          </a:p>
        </p:txBody>
      </p:sp>
      <p:pic>
        <p:nvPicPr>
          <p:cNvPr id="6" name="Graphic 5">
            <a:extLst>
              <a:ext uri="{FF2B5EF4-FFF2-40B4-BE49-F238E27FC236}">
                <a16:creationId xmlns:a16="http://schemas.microsoft.com/office/drawing/2014/main" id="{842186CE-C3CB-491F-B90D-334B74F93238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3428016" y="3173224"/>
            <a:ext cx="659817" cy="996459"/>
          </a:xfrm>
          <a:prstGeom prst="rect">
            <a:avLst/>
          </a:prstGeom>
        </p:spPr>
      </p:pic>
      <p:pic>
        <p:nvPicPr>
          <p:cNvPr id="7" name="Graphic 6">
            <a:extLst>
              <a:ext uri="{FF2B5EF4-FFF2-40B4-BE49-F238E27FC236}">
                <a16:creationId xmlns:a16="http://schemas.microsoft.com/office/drawing/2014/main" id="{3E4BF30F-2D52-4FA7-8B6E-989427E65C55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7464510" y="2979089"/>
            <a:ext cx="814124" cy="899821"/>
          </a:xfrm>
          <a:prstGeom prst="rect">
            <a:avLst/>
          </a:prstGeom>
        </p:spPr>
      </p:pic>
      <p:sp>
        <p:nvSpPr>
          <p:cNvPr id="9" name="TextBox 8">
            <a:extLst>
              <a:ext uri="{FF2B5EF4-FFF2-40B4-BE49-F238E27FC236}">
                <a16:creationId xmlns:a16="http://schemas.microsoft.com/office/drawing/2014/main" id="{F400E8FA-0292-4288-B1BB-DA58B38789C1}"/>
              </a:ext>
            </a:extLst>
          </p:cNvPr>
          <p:cNvSpPr txBox="1"/>
          <p:nvPr/>
        </p:nvSpPr>
        <p:spPr>
          <a:xfrm>
            <a:off x="1368638" y="3121037"/>
            <a:ext cx="2162408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 defTabSz="609585" fontAlgn="base">
              <a:spcBef>
                <a:spcPct val="0"/>
              </a:spcBef>
              <a:spcAft>
                <a:spcPct val="0"/>
              </a:spcAft>
              <a:defRPr/>
            </a:pPr>
            <a:r>
              <a:rPr lang="en-US" sz="1600" b="1" dirty="0">
                <a:solidFill>
                  <a:srgbClr val="C00000"/>
                </a:solidFill>
                <a:latin typeface="Arial"/>
                <a:ea typeface="ヒラギノ角ゴ Pro W3" pitchFamily="-126" charset="-128"/>
              </a:rPr>
              <a:t>Client</a:t>
            </a:r>
          </a:p>
          <a:p>
            <a:pPr algn="ctr" defTabSz="609585" fontAlgn="base">
              <a:spcBef>
                <a:spcPct val="0"/>
              </a:spcBef>
              <a:spcAft>
                <a:spcPct val="0"/>
              </a:spcAft>
              <a:defRPr/>
            </a:pPr>
            <a:r>
              <a:rPr lang="en-US" sz="1600" b="1" dirty="0">
                <a:solidFill>
                  <a:srgbClr val="C00000"/>
                </a:solidFill>
                <a:latin typeface="Arial"/>
                <a:ea typeface="ヒラギノ角ゴ Pro W3" pitchFamily="-126" charset="-128"/>
              </a:rPr>
              <a:t>(example Provider)</a:t>
            </a: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984AE2E2-20A9-4B44-A58D-4BBB1DF61213}"/>
              </a:ext>
            </a:extLst>
          </p:cNvPr>
          <p:cNvSpPr txBox="1"/>
          <p:nvPr/>
        </p:nvSpPr>
        <p:spPr>
          <a:xfrm>
            <a:off x="8076248" y="3100638"/>
            <a:ext cx="2115679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 defTabSz="609585" fontAlgn="base">
              <a:spcBef>
                <a:spcPct val="0"/>
              </a:spcBef>
              <a:spcAft>
                <a:spcPct val="0"/>
              </a:spcAft>
              <a:defRPr/>
            </a:pPr>
            <a:r>
              <a:rPr lang="en-US" sz="1600" b="1" dirty="0">
                <a:solidFill>
                  <a:srgbClr val="F79646">
                    <a:lumMod val="50000"/>
                  </a:srgbClr>
                </a:solidFill>
                <a:latin typeface="Arial"/>
                <a:ea typeface="ヒラギノ角ゴ Pro W3" pitchFamily="-126" charset="-128"/>
              </a:rPr>
              <a:t>Server</a:t>
            </a:r>
          </a:p>
          <a:p>
            <a:pPr algn="ctr" defTabSz="609585" fontAlgn="base">
              <a:spcBef>
                <a:spcPct val="0"/>
              </a:spcBef>
              <a:spcAft>
                <a:spcPct val="0"/>
              </a:spcAft>
              <a:defRPr/>
            </a:pPr>
            <a:r>
              <a:rPr lang="en-US" sz="1600" b="1" dirty="0">
                <a:solidFill>
                  <a:srgbClr val="F79646">
                    <a:lumMod val="50000"/>
                  </a:srgbClr>
                </a:solidFill>
                <a:latin typeface="Arial"/>
                <a:ea typeface="ヒラギノ角ゴ Pro W3" pitchFamily="-126" charset="-128"/>
              </a:rPr>
              <a:t>(example Payer)</a:t>
            </a:r>
          </a:p>
        </p:txBody>
      </p:sp>
      <p:sp>
        <p:nvSpPr>
          <p:cNvPr id="8" name="Arrow: U-Turn 7">
            <a:extLst>
              <a:ext uri="{FF2B5EF4-FFF2-40B4-BE49-F238E27FC236}">
                <a16:creationId xmlns:a16="http://schemas.microsoft.com/office/drawing/2014/main" id="{BBA494F5-C840-4276-B567-19F510FB3BE8}"/>
              </a:ext>
            </a:extLst>
          </p:cNvPr>
          <p:cNvSpPr/>
          <p:nvPr/>
        </p:nvSpPr>
        <p:spPr>
          <a:xfrm rot="10800000" flipH="1" flipV="1">
            <a:off x="3604184" y="1851892"/>
            <a:ext cx="4572963" cy="1202435"/>
          </a:xfrm>
          <a:prstGeom prst="uturnArrow">
            <a:avLst/>
          </a:prstGeom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schemeClr val="tx1"/>
              </a:solidFill>
            </a:endParaRPr>
          </a:p>
        </p:txBody>
      </p:sp>
      <p:sp>
        <p:nvSpPr>
          <p:cNvPr id="13" name="Arrow: U-Turn 12">
            <a:extLst>
              <a:ext uri="{FF2B5EF4-FFF2-40B4-BE49-F238E27FC236}">
                <a16:creationId xmlns:a16="http://schemas.microsoft.com/office/drawing/2014/main" id="{174416F3-D18D-44B8-B799-1F518BBC5027}"/>
              </a:ext>
            </a:extLst>
          </p:cNvPr>
          <p:cNvSpPr/>
          <p:nvPr/>
        </p:nvSpPr>
        <p:spPr>
          <a:xfrm rot="10800000">
            <a:off x="3531047" y="3933241"/>
            <a:ext cx="4472642" cy="1202435"/>
          </a:xfrm>
          <a:prstGeom prst="uturnArrow">
            <a:avLst/>
          </a:prstGeom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schemeClr val="tx1"/>
              </a:solidFill>
            </a:endParaRPr>
          </a:p>
        </p:txBody>
      </p:sp>
      <p:sp>
        <p:nvSpPr>
          <p:cNvPr id="14" name="Rectangle 13">
            <a:extLst>
              <a:ext uri="{FF2B5EF4-FFF2-40B4-BE49-F238E27FC236}">
                <a16:creationId xmlns:a16="http://schemas.microsoft.com/office/drawing/2014/main" id="{330FFA72-BBBD-4DBC-800E-90E49E5C0B79}"/>
              </a:ext>
            </a:extLst>
          </p:cNvPr>
          <p:cNvSpPr/>
          <p:nvPr/>
        </p:nvSpPr>
        <p:spPr>
          <a:xfrm>
            <a:off x="4878367" y="1693366"/>
            <a:ext cx="1778000" cy="598013"/>
          </a:xfrm>
          <a:prstGeom prst="rect">
            <a:avLst/>
          </a:prstGeom>
          <a:solidFill>
            <a:schemeClr val="bg1"/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600" b="1" dirty="0">
                <a:solidFill>
                  <a:schemeClr val="tx1"/>
                </a:solidFill>
              </a:rPr>
              <a:t>$report</a:t>
            </a:r>
          </a:p>
        </p:txBody>
      </p:sp>
      <p:sp>
        <p:nvSpPr>
          <p:cNvPr id="16" name="Rectangle 15">
            <a:extLst>
              <a:ext uri="{FF2B5EF4-FFF2-40B4-BE49-F238E27FC236}">
                <a16:creationId xmlns:a16="http://schemas.microsoft.com/office/drawing/2014/main" id="{6908AAC3-35FE-4372-8B8E-78FD5F752EEB}"/>
              </a:ext>
            </a:extLst>
          </p:cNvPr>
          <p:cNvSpPr/>
          <p:nvPr/>
        </p:nvSpPr>
        <p:spPr>
          <a:xfrm>
            <a:off x="4880094" y="4665336"/>
            <a:ext cx="2021142" cy="658153"/>
          </a:xfrm>
          <a:prstGeom prst="rect">
            <a:avLst/>
          </a:prstGeom>
          <a:solidFill>
            <a:schemeClr val="bg1"/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400" b="1" dirty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Risk Adjustment Coding Gap Reports</a:t>
            </a:r>
          </a:p>
        </p:txBody>
      </p:sp>
    </p:spTree>
    <p:extLst>
      <p:ext uri="{BB962C8B-B14F-4D97-AF65-F5344CB8AC3E}">
        <p14:creationId xmlns:p14="http://schemas.microsoft.com/office/powerpoint/2010/main" val="841643404"/>
      </p:ext>
    </p:extLst>
  </p:cSld>
  <p:clrMapOvr>
    <a:masterClrMapping/>
  </p:clrMapOvr>
</p:sld>
</file>

<file path=ppt/slides/slide3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E4FC254-7E84-4C1E-B2B1-8F45C616E91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For Guidance Page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4025DF32-5ADE-4348-8F51-B2255B4D83D2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/>
        <p:txBody>
          <a:bodyPr/>
          <a:lstStyle/>
          <a:p>
            <a:pPr marL="0" indent="0">
              <a:buNone/>
            </a:pPr>
            <a:r>
              <a:rPr lang="en-US" dirty="0"/>
              <a:t> </a:t>
            </a:r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6F1D9FDC-5EC9-421B-B816-669D4CBA8D03}"/>
              </a:ext>
            </a:extLst>
          </p:cNvPr>
          <p:cNvSpPr>
            <a:spLocks noGrp="1"/>
          </p:cNvSpPr>
          <p:nvPr>
            <p:ph type="ftr" sz="quarter" idx="10"/>
          </p:nvPr>
        </p:nvSpPr>
        <p:spPr/>
        <p:txBody>
          <a:bodyPr/>
          <a:lstStyle/>
          <a:p>
            <a:r>
              <a:rPr lang="en-US" b="1"/>
              <a:t>© 2019 Health Level Seven ® International. Licensed under Creative Commons Attribution 4.0 International</a:t>
            </a:r>
          </a:p>
          <a:p>
            <a:r>
              <a:rPr lang="en-US" b="1"/>
              <a:t>HL7, Health Level Seven, FHIR and the FHIR flame logo are registered trademarks of Health Level Seven International. Reg. U.S. TM Office.</a:t>
            </a:r>
            <a:endParaRPr lang="en-US" b="1" dirty="0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ABC91477-8158-43AE-8C67-AA1E9785A906}"/>
              </a:ext>
            </a:extLst>
          </p:cNvPr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fld id="{6CACE926-AEF5-4BFE-8BD7-24414108CB7B}" type="slidenum">
              <a:rPr lang="en-US" altLang="en-US" smtClean="0"/>
              <a:pPr/>
              <a:t>38</a:t>
            </a:fld>
            <a:endParaRPr lang="en-US" altLang="en-US" dirty="0"/>
          </a:p>
        </p:txBody>
      </p:sp>
      <p:pic>
        <p:nvPicPr>
          <p:cNvPr id="6" name="Graphic 5">
            <a:extLst>
              <a:ext uri="{FF2B5EF4-FFF2-40B4-BE49-F238E27FC236}">
                <a16:creationId xmlns:a16="http://schemas.microsoft.com/office/drawing/2014/main" id="{842186CE-C3CB-491F-B90D-334B74F93238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7512232" y="2961683"/>
            <a:ext cx="659817" cy="996459"/>
          </a:xfrm>
          <a:prstGeom prst="rect">
            <a:avLst/>
          </a:prstGeom>
        </p:spPr>
      </p:pic>
      <p:pic>
        <p:nvPicPr>
          <p:cNvPr id="7" name="Graphic 6">
            <a:extLst>
              <a:ext uri="{FF2B5EF4-FFF2-40B4-BE49-F238E27FC236}">
                <a16:creationId xmlns:a16="http://schemas.microsoft.com/office/drawing/2014/main" id="{3E4BF30F-2D52-4FA7-8B6E-989427E65C55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3683355" y="3080690"/>
            <a:ext cx="814124" cy="899821"/>
          </a:xfrm>
          <a:prstGeom prst="rect">
            <a:avLst/>
          </a:prstGeom>
        </p:spPr>
      </p:pic>
      <p:sp>
        <p:nvSpPr>
          <p:cNvPr id="9" name="TextBox 8">
            <a:extLst>
              <a:ext uri="{FF2B5EF4-FFF2-40B4-BE49-F238E27FC236}">
                <a16:creationId xmlns:a16="http://schemas.microsoft.com/office/drawing/2014/main" id="{F400E8FA-0292-4288-B1BB-DA58B38789C1}"/>
              </a:ext>
            </a:extLst>
          </p:cNvPr>
          <p:cNvSpPr txBox="1"/>
          <p:nvPr/>
        </p:nvSpPr>
        <p:spPr>
          <a:xfrm>
            <a:off x="8282875" y="3157505"/>
            <a:ext cx="1259821" cy="70769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 defTabSz="609585" fontAlgn="base">
              <a:spcBef>
                <a:spcPct val="0"/>
              </a:spcBef>
              <a:spcAft>
                <a:spcPct val="0"/>
              </a:spcAft>
              <a:defRPr/>
            </a:pPr>
            <a:r>
              <a:rPr lang="en-US" sz="1333" b="1" dirty="0">
                <a:solidFill>
                  <a:srgbClr val="C00000"/>
                </a:solidFill>
                <a:latin typeface="Arial"/>
                <a:ea typeface="ヒラギノ角ゴ Pro W3" pitchFamily="-126" charset="-128"/>
              </a:rPr>
              <a:t>Client</a:t>
            </a:r>
          </a:p>
          <a:p>
            <a:pPr algn="ctr" defTabSz="609585" fontAlgn="base">
              <a:spcBef>
                <a:spcPct val="0"/>
              </a:spcBef>
              <a:spcAft>
                <a:spcPct val="0"/>
              </a:spcAft>
              <a:defRPr/>
            </a:pPr>
            <a:r>
              <a:rPr lang="en-US" sz="1333" b="1" dirty="0">
                <a:solidFill>
                  <a:srgbClr val="C00000"/>
                </a:solidFill>
                <a:latin typeface="Arial"/>
                <a:ea typeface="ヒラギノ角ゴ Pro W3" pitchFamily="-126" charset="-128"/>
              </a:rPr>
              <a:t>(example Provider)</a:t>
            </a: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984AE2E2-20A9-4B44-A58D-4BBB1DF61213}"/>
              </a:ext>
            </a:extLst>
          </p:cNvPr>
          <p:cNvSpPr txBox="1"/>
          <p:nvPr/>
        </p:nvSpPr>
        <p:spPr>
          <a:xfrm>
            <a:off x="1831532" y="3442508"/>
            <a:ext cx="2115679" cy="50257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 defTabSz="609585" fontAlgn="base">
              <a:spcBef>
                <a:spcPct val="0"/>
              </a:spcBef>
              <a:spcAft>
                <a:spcPct val="0"/>
              </a:spcAft>
              <a:defRPr/>
            </a:pPr>
            <a:r>
              <a:rPr lang="en-US" sz="1333" b="1" dirty="0">
                <a:solidFill>
                  <a:srgbClr val="F79646">
                    <a:lumMod val="50000"/>
                  </a:srgbClr>
                </a:solidFill>
                <a:latin typeface="Arial"/>
                <a:ea typeface="ヒラギノ角ゴ Pro W3" pitchFamily="-126" charset="-128"/>
              </a:rPr>
              <a:t>Server</a:t>
            </a:r>
          </a:p>
          <a:p>
            <a:pPr algn="ctr" defTabSz="609585" fontAlgn="base">
              <a:spcBef>
                <a:spcPct val="0"/>
              </a:spcBef>
              <a:spcAft>
                <a:spcPct val="0"/>
              </a:spcAft>
              <a:defRPr/>
            </a:pPr>
            <a:r>
              <a:rPr lang="en-US" sz="1333" b="1" dirty="0">
                <a:solidFill>
                  <a:srgbClr val="F79646">
                    <a:lumMod val="50000"/>
                  </a:srgbClr>
                </a:solidFill>
                <a:latin typeface="Arial"/>
                <a:ea typeface="ヒラギノ角ゴ Pro W3" pitchFamily="-126" charset="-128"/>
              </a:rPr>
              <a:t>(example Payer)</a:t>
            </a:r>
          </a:p>
        </p:txBody>
      </p:sp>
      <p:sp>
        <p:nvSpPr>
          <p:cNvPr id="8" name="Arrow: U-Turn 7">
            <a:extLst>
              <a:ext uri="{FF2B5EF4-FFF2-40B4-BE49-F238E27FC236}">
                <a16:creationId xmlns:a16="http://schemas.microsoft.com/office/drawing/2014/main" id="{BBA494F5-C840-4276-B567-19F510FB3BE8}"/>
              </a:ext>
            </a:extLst>
          </p:cNvPr>
          <p:cNvSpPr/>
          <p:nvPr/>
        </p:nvSpPr>
        <p:spPr>
          <a:xfrm flipH="1">
            <a:off x="3931920" y="2326640"/>
            <a:ext cx="3911600" cy="426720"/>
          </a:xfrm>
          <a:prstGeom prst="uturnArrow">
            <a:avLst/>
          </a:prstGeom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schemeClr val="tx1"/>
              </a:solidFill>
            </a:endParaRPr>
          </a:p>
        </p:txBody>
      </p:sp>
      <p:sp>
        <p:nvSpPr>
          <p:cNvPr id="13" name="Arrow: U-Turn 12">
            <a:extLst>
              <a:ext uri="{FF2B5EF4-FFF2-40B4-BE49-F238E27FC236}">
                <a16:creationId xmlns:a16="http://schemas.microsoft.com/office/drawing/2014/main" id="{174416F3-D18D-44B8-B799-1F518BBC5027}"/>
              </a:ext>
            </a:extLst>
          </p:cNvPr>
          <p:cNvSpPr/>
          <p:nvPr/>
        </p:nvSpPr>
        <p:spPr>
          <a:xfrm flipV="1">
            <a:off x="4013200" y="4104640"/>
            <a:ext cx="3870960" cy="497840"/>
          </a:xfrm>
          <a:prstGeom prst="uturnArrow">
            <a:avLst/>
          </a:prstGeom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schemeClr val="tx1"/>
              </a:solidFill>
            </a:endParaRPr>
          </a:p>
        </p:txBody>
      </p:sp>
      <p:sp>
        <p:nvSpPr>
          <p:cNvPr id="14" name="Rectangle 13">
            <a:extLst>
              <a:ext uri="{FF2B5EF4-FFF2-40B4-BE49-F238E27FC236}">
                <a16:creationId xmlns:a16="http://schemas.microsoft.com/office/drawing/2014/main" id="{330FFA72-BBBD-4DBC-800E-90E49E5C0B79}"/>
              </a:ext>
            </a:extLst>
          </p:cNvPr>
          <p:cNvSpPr/>
          <p:nvPr/>
        </p:nvSpPr>
        <p:spPr>
          <a:xfrm>
            <a:off x="4998720" y="2225040"/>
            <a:ext cx="1778000" cy="335280"/>
          </a:xfrm>
          <a:prstGeom prst="rect">
            <a:avLst/>
          </a:prstGeom>
          <a:solidFill>
            <a:schemeClr val="bg1"/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>
                <a:solidFill>
                  <a:schemeClr val="tx1"/>
                </a:solidFill>
              </a:rPr>
              <a:t>$report</a:t>
            </a:r>
          </a:p>
        </p:txBody>
      </p:sp>
      <p:sp>
        <p:nvSpPr>
          <p:cNvPr id="16" name="Rectangle 15">
            <a:extLst>
              <a:ext uri="{FF2B5EF4-FFF2-40B4-BE49-F238E27FC236}">
                <a16:creationId xmlns:a16="http://schemas.microsoft.com/office/drawing/2014/main" id="{6908AAC3-35FE-4372-8B8E-78FD5F752EEB}"/>
              </a:ext>
            </a:extLst>
          </p:cNvPr>
          <p:cNvSpPr/>
          <p:nvPr/>
        </p:nvSpPr>
        <p:spPr>
          <a:xfrm>
            <a:off x="5029200" y="4297680"/>
            <a:ext cx="1778000" cy="396240"/>
          </a:xfrm>
          <a:prstGeom prst="rect">
            <a:avLst/>
          </a:prstGeom>
          <a:solidFill>
            <a:schemeClr val="bg1"/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400" dirty="0">
                <a:solidFill>
                  <a:schemeClr val="tx1"/>
                </a:solidFill>
              </a:rPr>
              <a:t>Risk Adjustment Care Gap Reports</a:t>
            </a:r>
          </a:p>
        </p:txBody>
      </p:sp>
    </p:spTree>
    <p:extLst>
      <p:ext uri="{BB962C8B-B14F-4D97-AF65-F5344CB8AC3E}">
        <p14:creationId xmlns:p14="http://schemas.microsoft.com/office/powerpoint/2010/main" val="2117979091"/>
      </p:ext>
    </p:extLst>
  </p:cSld>
  <p:clrMapOvr>
    <a:masterClrMapping/>
  </p:clrMapOvr>
</p:sld>
</file>

<file path=ppt/slides/slide3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839B762-5734-44CA-BA78-76FD98019C0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Example Risk Adjustment Report</a:t>
            </a:r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C18F18B0-D93F-44AA-9787-691A06C0D216}"/>
              </a:ext>
            </a:extLst>
          </p:cNvPr>
          <p:cNvSpPr>
            <a:spLocks noGrp="1"/>
          </p:cNvSpPr>
          <p:nvPr>
            <p:ph type="ftr" sz="quarter" idx="10"/>
          </p:nvPr>
        </p:nvSpPr>
        <p:spPr/>
        <p:txBody>
          <a:bodyPr/>
          <a:lstStyle/>
          <a:p>
            <a:pPr defTabSz="609585" fontAlgn="base">
              <a:spcBef>
                <a:spcPct val="0"/>
              </a:spcBef>
              <a:spcAft>
                <a:spcPct val="0"/>
              </a:spcAft>
            </a:pPr>
            <a:r>
              <a:rPr lang="en-US" b="1">
                <a:latin typeface="Arial" panose="020B0604020202020204" pitchFamily="34" charset="0"/>
                <a:ea typeface="ヒラギノ角ゴ Pro W3" pitchFamily="-126" charset="-128"/>
              </a:rPr>
              <a:t>© 2019 Health Level Seven ® International. Licensed under Creative Commons Attribution 4.0 International</a:t>
            </a:r>
          </a:p>
          <a:p>
            <a:pPr defTabSz="609585" fontAlgn="base">
              <a:spcBef>
                <a:spcPct val="0"/>
              </a:spcBef>
              <a:spcAft>
                <a:spcPct val="0"/>
              </a:spcAft>
            </a:pPr>
            <a:r>
              <a:rPr lang="en-US" b="1">
                <a:latin typeface="Arial" panose="020B0604020202020204" pitchFamily="34" charset="0"/>
                <a:ea typeface="ヒラギノ角ゴ Pro W3" pitchFamily="-126" charset="-128"/>
              </a:rPr>
              <a:t>HL7, Health Level Seven, FHIR and the FHIR flame logo are registered trademarks of Health Level Seven International. Reg. U.S. TM Office.</a:t>
            </a:r>
            <a:endParaRPr lang="en-US" b="1" dirty="0">
              <a:latin typeface="Arial" panose="020B0604020202020204" pitchFamily="34" charset="0"/>
              <a:ea typeface="ヒラギノ角ゴ Pro W3" pitchFamily="-126" charset="-128"/>
            </a:endParaRPr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8536C7B4-DF79-45E4-A016-77A29D38BF35}"/>
              </a:ext>
            </a:extLst>
          </p:cNvPr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pPr defTabSz="609585" fontAlgn="base">
              <a:spcBef>
                <a:spcPct val="0"/>
              </a:spcBef>
              <a:spcAft>
                <a:spcPct val="0"/>
              </a:spcAft>
            </a:pPr>
            <a:fld id="{6CACE926-AEF5-4BFE-8BD7-24414108CB7B}" type="slidenum">
              <a:rPr lang="en-US" altLang="en-US">
                <a:solidFill>
                  <a:prstClr val="black"/>
                </a:solidFill>
                <a:latin typeface="Arial" panose="020B0604020202020204" pitchFamily="34" charset="0"/>
                <a:ea typeface="ヒラギノ角ゴ Pro W3" pitchFamily="-126" charset="-128"/>
              </a:rPr>
              <a:pPr defTabSz="609585" fontAlgn="base">
                <a:spcBef>
                  <a:spcPct val="0"/>
                </a:spcBef>
                <a:spcAft>
                  <a:spcPct val="0"/>
                </a:spcAft>
              </a:pPr>
              <a:t>39</a:t>
            </a:fld>
            <a:endParaRPr lang="en-US" altLang="en-US" dirty="0">
              <a:solidFill>
                <a:prstClr val="black"/>
              </a:solidFill>
              <a:latin typeface="Arial" panose="020B0604020202020204" pitchFamily="34" charset="0"/>
              <a:ea typeface="ヒラギノ角ゴ Pro W3" pitchFamily="-126" charset="-128"/>
            </a:endParaRPr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DA1C2CDA-CE72-488D-93B7-E84324163216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940560" y="1359990"/>
            <a:ext cx="7260859" cy="483760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40408073"/>
      </p:ext>
    </p:extLst>
  </p:cSld>
  <p:clrMapOvr>
    <a:masterClrMapping/>
  </p:clrMapOvr>
</p:sld>
</file>

<file path=ppt/slides/slide4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6FC9293-5253-4045-B6FF-0BF8D01B1EC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031240" y="0"/>
            <a:ext cx="10515600" cy="1325563"/>
          </a:xfrm>
        </p:spPr>
        <p:txBody>
          <a:bodyPr/>
          <a:lstStyle/>
          <a:p>
            <a:r>
              <a:rPr lang="en-US" dirty="0"/>
              <a:t> 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059F4AA5-BD88-4606-ACB3-39118129AFB3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361716" y="893213"/>
            <a:ext cx="11185124" cy="5599662"/>
          </a:xfrm>
        </p:spPr>
        <p:txBody>
          <a:bodyPr/>
          <a:lstStyle/>
          <a:p>
            <a:pPr marL="0" indent="0">
              <a:buNone/>
            </a:pPr>
            <a:r>
              <a:rPr lang="en-US" dirty="0"/>
              <a:t> </a:t>
            </a:r>
          </a:p>
        </p:txBody>
      </p:sp>
      <p:sp>
        <p:nvSpPr>
          <p:cNvPr id="13" name="Flowchart: Process 12">
            <a:extLst>
              <a:ext uri="{FF2B5EF4-FFF2-40B4-BE49-F238E27FC236}">
                <a16:creationId xmlns:a16="http://schemas.microsoft.com/office/drawing/2014/main" id="{7C494011-9B4B-4108-B2F1-32F5A7D22803}"/>
              </a:ext>
            </a:extLst>
          </p:cNvPr>
          <p:cNvSpPr/>
          <p:nvPr/>
        </p:nvSpPr>
        <p:spPr>
          <a:xfrm>
            <a:off x="566458" y="2107143"/>
            <a:ext cx="1864311" cy="795922"/>
          </a:xfrm>
          <a:prstGeom prst="flowChartProcess">
            <a:avLst/>
          </a:prstGeom>
          <a:solidFill>
            <a:schemeClr val="accent3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6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US Core Patient*</a:t>
            </a:r>
          </a:p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2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Mary Jones</a:t>
            </a:r>
          </a:p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9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DOB: 03231958</a:t>
            </a:r>
          </a:p>
        </p:txBody>
      </p:sp>
      <p:sp>
        <p:nvSpPr>
          <p:cNvPr id="15" name="Flowchart: Process 14">
            <a:extLst>
              <a:ext uri="{FF2B5EF4-FFF2-40B4-BE49-F238E27FC236}">
                <a16:creationId xmlns:a16="http://schemas.microsoft.com/office/drawing/2014/main" id="{AAB520D8-1327-4035-B17F-8E435832F332}"/>
              </a:ext>
            </a:extLst>
          </p:cNvPr>
          <p:cNvSpPr/>
          <p:nvPr/>
        </p:nvSpPr>
        <p:spPr>
          <a:xfrm>
            <a:off x="9147278" y="3738880"/>
            <a:ext cx="1896642" cy="752365"/>
          </a:xfrm>
          <a:prstGeom prst="flowChartProcess">
            <a:avLst/>
          </a:prstGeom>
          <a:solidFill>
            <a:schemeClr val="accent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6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US Core Condition</a:t>
            </a:r>
          </a:p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4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E66.01  Morbid obesity 06012020</a:t>
            </a:r>
          </a:p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00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19" name="Flowchart: Process 18">
            <a:extLst>
              <a:ext uri="{FF2B5EF4-FFF2-40B4-BE49-F238E27FC236}">
                <a16:creationId xmlns:a16="http://schemas.microsoft.com/office/drawing/2014/main" id="{F4DCC147-F1CD-4EAF-9C73-16087FFCF623}"/>
              </a:ext>
            </a:extLst>
          </p:cNvPr>
          <p:cNvSpPr/>
          <p:nvPr/>
        </p:nvSpPr>
        <p:spPr>
          <a:xfrm>
            <a:off x="4605415" y="2164715"/>
            <a:ext cx="1864311" cy="4023360"/>
          </a:xfrm>
          <a:prstGeom prst="flowChartProcess">
            <a:avLst/>
          </a:prstGeom>
          <a:solidFill>
            <a:schemeClr val="accent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 anchorCtr="0"/>
          <a:lstStyle/>
          <a:p>
            <a:pPr marL="0" marR="0" lvl="0" indent="0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6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Risk Adjustment Coding Gap Report</a:t>
            </a:r>
          </a:p>
        </p:txBody>
      </p:sp>
      <p:sp>
        <p:nvSpPr>
          <p:cNvPr id="28" name="Flowchart: Process 27">
            <a:extLst>
              <a:ext uri="{FF2B5EF4-FFF2-40B4-BE49-F238E27FC236}">
                <a16:creationId xmlns:a16="http://schemas.microsoft.com/office/drawing/2014/main" id="{2555D1CD-2F4B-4CC0-B94D-2ED0919C3F39}"/>
              </a:ext>
            </a:extLst>
          </p:cNvPr>
          <p:cNvSpPr/>
          <p:nvPr/>
        </p:nvSpPr>
        <p:spPr>
          <a:xfrm>
            <a:off x="9140579" y="2756651"/>
            <a:ext cx="1872861" cy="776860"/>
          </a:xfrm>
          <a:prstGeom prst="flowChartProcess">
            <a:avLst/>
          </a:prstGeom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6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US Core Condition</a:t>
            </a:r>
          </a:p>
          <a:p>
            <a:pPr algn="ctr"/>
            <a:r>
              <a:rPr kumimoji="0" lang="en-US" sz="14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Z89.511 </a:t>
            </a:r>
            <a:r>
              <a:rPr lang="en-US" sz="1100" dirty="0"/>
              <a:t>Acquired absence of right leg below knee</a:t>
            </a:r>
          </a:p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4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20210401</a:t>
            </a:r>
          </a:p>
        </p:txBody>
      </p:sp>
      <p:cxnSp>
        <p:nvCxnSpPr>
          <p:cNvPr id="47" name="Straight Arrow Connector 46">
            <a:extLst>
              <a:ext uri="{FF2B5EF4-FFF2-40B4-BE49-F238E27FC236}">
                <a16:creationId xmlns:a16="http://schemas.microsoft.com/office/drawing/2014/main" id="{0F9137BA-4C1E-470D-9CE5-C3A73B892B8B}"/>
              </a:ext>
            </a:extLst>
          </p:cNvPr>
          <p:cNvCxnSpPr>
            <a:cxnSpLocks/>
            <a:stCxn id="59" idx="3"/>
            <a:endCxn id="28" idx="1"/>
          </p:cNvCxnSpPr>
          <p:nvPr/>
        </p:nvCxnSpPr>
        <p:spPr>
          <a:xfrm flipV="1">
            <a:off x="6492240" y="3145081"/>
            <a:ext cx="2648339" cy="294079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54" name="Straight Arrow Connector 153">
            <a:extLst>
              <a:ext uri="{FF2B5EF4-FFF2-40B4-BE49-F238E27FC236}">
                <a16:creationId xmlns:a16="http://schemas.microsoft.com/office/drawing/2014/main" id="{ACE8CF9B-7ACD-48E8-BB5C-C165C6517CEC}"/>
              </a:ext>
            </a:extLst>
          </p:cNvPr>
          <p:cNvCxnSpPr>
            <a:cxnSpLocks/>
            <a:endCxn id="13" idx="3"/>
          </p:cNvCxnSpPr>
          <p:nvPr/>
        </p:nvCxnSpPr>
        <p:spPr>
          <a:xfrm flipH="1">
            <a:off x="2430769" y="2505104"/>
            <a:ext cx="2161551" cy="0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61" name="TextBox 160">
            <a:extLst>
              <a:ext uri="{FF2B5EF4-FFF2-40B4-BE49-F238E27FC236}">
                <a16:creationId xmlns:a16="http://schemas.microsoft.com/office/drawing/2014/main" id="{3EFFA89C-5A0F-43E9-8E5E-E7EFE761E46D}"/>
              </a:ext>
            </a:extLst>
          </p:cNvPr>
          <p:cNvSpPr txBox="1"/>
          <p:nvPr/>
        </p:nvSpPr>
        <p:spPr>
          <a:xfrm>
            <a:off x="627359" y="5340004"/>
            <a:ext cx="2075630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9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*US Core Patient is also pointed to by all  RA Measure Reports, US Core Procedure,  US Core  Lab Observations, US Core Condition, etc.</a:t>
            </a:r>
          </a:p>
        </p:txBody>
      </p:sp>
      <p:sp>
        <p:nvSpPr>
          <p:cNvPr id="51" name="Flowchart: Process 50">
            <a:extLst>
              <a:ext uri="{FF2B5EF4-FFF2-40B4-BE49-F238E27FC236}">
                <a16:creationId xmlns:a16="http://schemas.microsoft.com/office/drawing/2014/main" id="{26D4DD73-45E1-43F9-ADDC-8A6DA302101C}"/>
              </a:ext>
            </a:extLst>
          </p:cNvPr>
          <p:cNvSpPr/>
          <p:nvPr/>
        </p:nvSpPr>
        <p:spPr>
          <a:xfrm>
            <a:off x="4570202" y="1005840"/>
            <a:ext cx="1934738" cy="755570"/>
          </a:xfrm>
          <a:prstGeom prst="flowChartProcess">
            <a:avLst/>
          </a:prstGeom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6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Risk Adjustment Model Measure</a:t>
            </a:r>
          </a:p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6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CMS HCC v24</a:t>
            </a:r>
          </a:p>
        </p:txBody>
      </p:sp>
      <p:cxnSp>
        <p:nvCxnSpPr>
          <p:cNvPr id="29" name="Straight Arrow Connector 28">
            <a:extLst>
              <a:ext uri="{FF2B5EF4-FFF2-40B4-BE49-F238E27FC236}">
                <a16:creationId xmlns:a16="http://schemas.microsoft.com/office/drawing/2014/main" id="{1D879AAF-6430-4FAA-9C17-0821D2F4F1D5}"/>
              </a:ext>
            </a:extLst>
          </p:cNvPr>
          <p:cNvCxnSpPr>
            <a:cxnSpLocks/>
            <a:stCxn id="19" idx="0"/>
            <a:endCxn id="51" idx="2"/>
          </p:cNvCxnSpPr>
          <p:nvPr/>
        </p:nvCxnSpPr>
        <p:spPr>
          <a:xfrm flipV="1">
            <a:off x="5537571" y="1761410"/>
            <a:ext cx="0" cy="403305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52" name="TextBox 51">
            <a:extLst>
              <a:ext uri="{FF2B5EF4-FFF2-40B4-BE49-F238E27FC236}">
                <a16:creationId xmlns:a16="http://schemas.microsoft.com/office/drawing/2014/main" id="{8C27D146-23E1-4682-8A4A-54C5926B687F}"/>
              </a:ext>
            </a:extLst>
          </p:cNvPr>
          <p:cNvSpPr txBox="1"/>
          <p:nvPr/>
        </p:nvSpPr>
        <p:spPr>
          <a:xfrm>
            <a:off x="5230815" y="1881304"/>
            <a:ext cx="1092114" cy="230832"/>
          </a:xfrm>
          <a:prstGeom prst="rect">
            <a:avLst/>
          </a:prstGeom>
          <a:solidFill>
            <a:schemeClr val="bg1"/>
          </a:solidFill>
        </p:spPr>
        <p:txBody>
          <a:bodyPr wrap="square" rtlCol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9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measure</a:t>
            </a:r>
          </a:p>
        </p:txBody>
      </p:sp>
      <p:sp>
        <p:nvSpPr>
          <p:cNvPr id="54" name="Flowchart: Process 53">
            <a:extLst>
              <a:ext uri="{FF2B5EF4-FFF2-40B4-BE49-F238E27FC236}">
                <a16:creationId xmlns:a16="http://schemas.microsoft.com/office/drawing/2014/main" id="{53785A16-DD10-419D-9D42-DB4D56208B37}"/>
              </a:ext>
            </a:extLst>
          </p:cNvPr>
          <p:cNvSpPr/>
          <p:nvPr/>
        </p:nvSpPr>
        <p:spPr>
          <a:xfrm>
            <a:off x="545200" y="3736217"/>
            <a:ext cx="1864310" cy="940558"/>
          </a:xfrm>
          <a:prstGeom prst="flowChartProcess">
            <a:avLst/>
          </a:prstGeom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6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US Core Encounter</a:t>
            </a:r>
          </a:p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6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04012021</a:t>
            </a:r>
            <a:endParaRPr kumimoji="0" lang="en-US" sz="100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56" name="Flowchart: Process 55">
            <a:extLst>
              <a:ext uri="{FF2B5EF4-FFF2-40B4-BE49-F238E27FC236}">
                <a16:creationId xmlns:a16="http://schemas.microsoft.com/office/drawing/2014/main" id="{C9F96D85-F524-4D73-94B2-0434F1DF9812}"/>
              </a:ext>
            </a:extLst>
          </p:cNvPr>
          <p:cNvSpPr/>
          <p:nvPr/>
        </p:nvSpPr>
        <p:spPr>
          <a:xfrm>
            <a:off x="9148180" y="4573342"/>
            <a:ext cx="1895740" cy="917206"/>
          </a:xfrm>
          <a:prstGeom prst="flowChartProcess">
            <a:avLst/>
          </a:prstGeom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6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US Core Observation</a:t>
            </a:r>
          </a:p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4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Hemoglobin A1C of 9.4</a:t>
            </a:r>
          </a:p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4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20201215</a:t>
            </a:r>
          </a:p>
        </p:txBody>
      </p:sp>
      <p:cxnSp>
        <p:nvCxnSpPr>
          <p:cNvPr id="40" name="Straight Arrow Connector 39">
            <a:extLst>
              <a:ext uri="{FF2B5EF4-FFF2-40B4-BE49-F238E27FC236}">
                <a16:creationId xmlns:a16="http://schemas.microsoft.com/office/drawing/2014/main" id="{98C70785-72DF-4B04-B087-9C4D80B1FCF5}"/>
              </a:ext>
            </a:extLst>
          </p:cNvPr>
          <p:cNvCxnSpPr>
            <a:cxnSpLocks/>
            <a:stCxn id="56" idx="1"/>
            <a:endCxn id="66" idx="3"/>
          </p:cNvCxnSpPr>
          <p:nvPr/>
        </p:nvCxnSpPr>
        <p:spPr>
          <a:xfrm flipH="1">
            <a:off x="6471920" y="5031945"/>
            <a:ext cx="2676260" cy="657655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64" name="Straight Arrow Connector 63">
            <a:extLst>
              <a:ext uri="{FF2B5EF4-FFF2-40B4-BE49-F238E27FC236}">
                <a16:creationId xmlns:a16="http://schemas.microsoft.com/office/drawing/2014/main" id="{DD3DA6C3-C316-4DD9-92F3-8C0C8B4E40FD}"/>
              </a:ext>
            </a:extLst>
          </p:cNvPr>
          <p:cNvCxnSpPr>
            <a:cxnSpLocks/>
            <a:stCxn id="20" idx="3"/>
            <a:endCxn id="15" idx="1"/>
          </p:cNvCxnSpPr>
          <p:nvPr/>
        </p:nvCxnSpPr>
        <p:spPr>
          <a:xfrm flipV="1">
            <a:off x="6471920" y="4115063"/>
            <a:ext cx="2675358" cy="462017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15" name="TextBox 114">
            <a:extLst>
              <a:ext uri="{FF2B5EF4-FFF2-40B4-BE49-F238E27FC236}">
                <a16:creationId xmlns:a16="http://schemas.microsoft.com/office/drawing/2014/main" id="{0EBEC07C-D02C-4F92-A128-D6F909ECB4F8}"/>
              </a:ext>
            </a:extLst>
          </p:cNvPr>
          <p:cNvSpPr txBox="1"/>
          <p:nvPr/>
        </p:nvSpPr>
        <p:spPr>
          <a:xfrm>
            <a:off x="6879248" y="4176525"/>
            <a:ext cx="1972652" cy="230832"/>
          </a:xfrm>
          <a:prstGeom prst="rect">
            <a:avLst/>
          </a:prstGeom>
          <a:solidFill>
            <a:schemeClr val="bg1"/>
          </a:solidFill>
        </p:spPr>
        <p:txBody>
          <a:bodyPr wrap="square" rtlCol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9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group[2].extension-historicDiagnosis</a:t>
            </a:r>
          </a:p>
        </p:txBody>
      </p:sp>
      <p:sp>
        <p:nvSpPr>
          <p:cNvPr id="116" name="TextBox 115">
            <a:extLst>
              <a:ext uri="{FF2B5EF4-FFF2-40B4-BE49-F238E27FC236}">
                <a16:creationId xmlns:a16="http://schemas.microsoft.com/office/drawing/2014/main" id="{4660E1F6-0794-42D9-B4A6-C18B5F782A67}"/>
              </a:ext>
            </a:extLst>
          </p:cNvPr>
          <p:cNvSpPr txBox="1"/>
          <p:nvPr/>
        </p:nvSpPr>
        <p:spPr>
          <a:xfrm>
            <a:off x="6810668" y="3119885"/>
            <a:ext cx="1972652" cy="230832"/>
          </a:xfrm>
          <a:prstGeom prst="rect">
            <a:avLst/>
          </a:prstGeom>
          <a:solidFill>
            <a:schemeClr val="bg1"/>
          </a:solidFill>
        </p:spPr>
        <p:txBody>
          <a:bodyPr wrap="square" rtlCol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9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group[1].extension-historicDiagnosis</a:t>
            </a:r>
          </a:p>
        </p:txBody>
      </p:sp>
      <p:sp>
        <p:nvSpPr>
          <p:cNvPr id="20" name="Rectangle 19">
            <a:extLst>
              <a:ext uri="{FF2B5EF4-FFF2-40B4-BE49-F238E27FC236}">
                <a16:creationId xmlns:a16="http://schemas.microsoft.com/office/drawing/2014/main" id="{AB5ECAD1-D1E9-4CC8-B592-FACF50CFEFE7}"/>
              </a:ext>
            </a:extLst>
          </p:cNvPr>
          <p:cNvSpPr/>
          <p:nvPr/>
        </p:nvSpPr>
        <p:spPr>
          <a:xfrm>
            <a:off x="4592320" y="4064000"/>
            <a:ext cx="1879600" cy="1026160"/>
          </a:xfrm>
          <a:prstGeom prst="rect">
            <a:avLst/>
          </a:prstGeom>
          <a:solidFill>
            <a:schemeClr val="accent1">
              <a:lumMod val="75000"/>
            </a:schemeClr>
          </a:solidFill>
        </p:spPr>
        <p:style>
          <a:lnRef idx="2">
            <a:schemeClr val="accent4">
              <a:shade val="50000"/>
            </a:schemeClr>
          </a:lnRef>
          <a:fillRef idx="1">
            <a:schemeClr val="accent4"/>
          </a:fillRef>
          <a:effectRef idx="0">
            <a:schemeClr val="accent4"/>
          </a:effectRef>
          <a:fontRef idx="minor">
            <a:schemeClr val="lt1"/>
          </a:fontRef>
        </p:style>
        <p:txBody>
          <a:bodyPr rtlCol="0" anchor="t" anchorCtr="0"/>
          <a:lstStyle/>
          <a:p>
            <a:pPr lvl="0" algn="ctr">
              <a:defRPr/>
            </a:pPr>
            <a:r>
              <a:rPr lang="en-US" sz="1400" b="1" dirty="0">
                <a:solidFill>
                  <a:prstClr val="white"/>
                </a:solidFill>
              </a:rPr>
              <a:t>.Group[2]</a:t>
            </a:r>
          </a:p>
          <a:p>
            <a:pPr lvl="0" algn="ctr">
              <a:defRPr/>
            </a:pPr>
            <a:r>
              <a:rPr lang="en-US" sz="1400" b="1" dirty="0">
                <a:solidFill>
                  <a:prstClr val="white"/>
                </a:solidFill>
              </a:rPr>
              <a:t>.code – 019 </a:t>
            </a:r>
          </a:p>
          <a:p>
            <a:pPr lvl="0" algn="ctr">
              <a:defRPr/>
            </a:pPr>
            <a:r>
              <a:rPr lang="en-US" sz="1000" b="1" dirty="0">
                <a:solidFill>
                  <a:prstClr val="white"/>
                </a:solidFill>
              </a:rPr>
              <a:t>Morbid obesity</a:t>
            </a:r>
          </a:p>
          <a:p>
            <a:pPr lvl="0" algn="ctr">
              <a:defRPr/>
            </a:pPr>
            <a:r>
              <a:rPr lang="en-US" sz="1000" b="1" dirty="0">
                <a:solidFill>
                  <a:prstClr val="white"/>
                </a:solidFill>
              </a:rPr>
              <a:t>Historic</a:t>
            </a:r>
          </a:p>
          <a:p>
            <a:pPr lvl="0" algn="ctr">
              <a:defRPr/>
            </a:pPr>
            <a:r>
              <a:rPr lang="en-US" sz="1000" b="1" dirty="0">
                <a:solidFill>
                  <a:prstClr val="white"/>
                </a:solidFill>
              </a:rPr>
              <a:t>Non-confirmed</a:t>
            </a:r>
            <a:endParaRPr lang="en-US" b="1" dirty="0">
              <a:solidFill>
                <a:prstClr val="white"/>
              </a:solidFill>
            </a:endParaRPr>
          </a:p>
        </p:txBody>
      </p:sp>
      <p:sp>
        <p:nvSpPr>
          <p:cNvPr id="59" name="Rectangle 58">
            <a:extLst>
              <a:ext uri="{FF2B5EF4-FFF2-40B4-BE49-F238E27FC236}">
                <a16:creationId xmlns:a16="http://schemas.microsoft.com/office/drawing/2014/main" id="{F32A2D2D-F2A6-4027-97CC-385DE4F856FF}"/>
              </a:ext>
            </a:extLst>
          </p:cNvPr>
          <p:cNvSpPr/>
          <p:nvPr/>
        </p:nvSpPr>
        <p:spPr>
          <a:xfrm>
            <a:off x="4602480" y="2915920"/>
            <a:ext cx="1889760" cy="1046479"/>
          </a:xfrm>
          <a:prstGeom prst="rect">
            <a:avLst/>
          </a:prstGeom>
          <a:solidFill>
            <a:schemeClr val="accent1">
              <a:lumMod val="75000"/>
            </a:schemeClr>
          </a:solidFill>
        </p:spPr>
        <p:style>
          <a:lnRef idx="2">
            <a:schemeClr val="accent4">
              <a:shade val="50000"/>
            </a:schemeClr>
          </a:lnRef>
          <a:fillRef idx="1">
            <a:schemeClr val="accent4"/>
          </a:fillRef>
          <a:effectRef idx="0">
            <a:schemeClr val="accent4"/>
          </a:effectRef>
          <a:fontRef idx="minor">
            <a:schemeClr val="lt1"/>
          </a:fontRef>
        </p:style>
        <p:txBody>
          <a:bodyPr rtlCol="0" anchor="t" anchorCtr="0"/>
          <a:lstStyle/>
          <a:p>
            <a:pPr lvl="0" algn="ctr">
              <a:defRPr/>
            </a:pPr>
            <a:r>
              <a:rPr lang="en-US" sz="1400" dirty="0">
                <a:solidFill>
                  <a:prstClr val="white"/>
                </a:solidFill>
              </a:rPr>
              <a:t>.</a:t>
            </a:r>
            <a:r>
              <a:rPr lang="en-US" sz="1400" b="1" dirty="0">
                <a:solidFill>
                  <a:prstClr val="white"/>
                </a:solidFill>
              </a:rPr>
              <a:t>Group[1]</a:t>
            </a:r>
          </a:p>
          <a:p>
            <a:pPr lvl="0" algn="ctr">
              <a:defRPr/>
            </a:pPr>
            <a:r>
              <a:rPr lang="en-US" sz="1400" b="1" dirty="0">
                <a:solidFill>
                  <a:prstClr val="white"/>
                </a:solidFill>
              </a:rPr>
              <a:t>.code – 189</a:t>
            </a:r>
          </a:p>
          <a:p>
            <a:pPr lvl="0" algn="ctr">
              <a:defRPr/>
            </a:pPr>
            <a:r>
              <a:rPr lang="en-US" sz="1000" b="1" dirty="0">
                <a:solidFill>
                  <a:prstClr val="white"/>
                </a:solidFill>
              </a:rPr>
              <a:t>Amputation Status, Lower Limb </a:t>
            </a:r>
          </a:p>
          <a:p>
            <a:pPr lvl="0" algn="ctr">
              <a:defRPr/>
            </a:pPr>
            <a:r>
              <a:rPr lang="en-US" sz="1000" b="1" dirty="0">
                <a:solidFill>
                  <a:prstClr val="white"/>
                </a:solidFill>
              </a:rPr>
              <a:t>Historic</a:t>
            </a:r>
          </a:p>
          <a:p>
            <a:pPr lvl="0" algn="ctr">
              <a:defRPr/>
            </a:pPr>
            <a:r>
              <a:rPr lang="en-US" sz="1000" b="1" dirty="0">
                <a:solidFill>
                  <a:prstClr val="white"/>
                </a:solidFill>
              </a:rPr>
              <a:t>confirmed</a:t>
            </a:r>
            <a:endParaRPr lang="en-US" b="1" dirty="0">
              <a:solidFill>
                <a:prstClr val="white"/>
              </a:solidFill>
            </a:endParaRPr>
          </a:p>
          <a:p>
            <a:pPr lvl="0" algn="ctr">
              <a:defRPr/>
            </a:pPr>
            <a:r>
              <a:rPr lang="en-US" dirty="0">
                <a:solidFill>
                  <a:prstClr val="white"/>
                </a:solidFill>
              </a:rPr>
              <a:t> </a:t>
            </a:r>
          </a:p>
        </p:txBody>
      </p:sp>
      <p:sp>
        <p:nvSpPr>
          <p:cNvPr id="66" name="Rectangle 65">
            <a:extLst>
              <a:ext uri="{FF2B5EF4-FFF2-40B4-BE49-F238E27FC236}">
                <a16:creationId xmlns:a16="http://schemas.microsoft.com/office/drawing/2014/main" id="{6DC95344-58A8-4B2F-92B9-FE86AA56FB88}"/>
              </a:ext>
            </a:extLst>
          </p:cNvPr>
          <p:cNvSpPr/>
          <p:nvPr/>
        </p:nvSpPr>
        <p:spPr>
          <a:xfrm>
            <a:off x="4592320" y="5171440"/>
            <a:ext cx="1879600" cy="1036320"/>
          </a:xfrm>
          <a:prstGeom prst="rect">
            <a:avLst/>
          </a:prstGeom>
          <a:solidFill>
            <a:schemeClr val="accent1">
              <a:lumMod val="75000"/>
            </a:schemeClr>
          </a:solidFill>
        </p:spPr>
        <p:style>
          <a:lnRef idx="2">
            <a:schemeClr val="accent4">
              <a:shade val="50000"/>
            </a:schemeClr>
          </a:lnRef>
          <a:fillRef idx="1">
            <a:schemeClr val="accent4"/>
          </a:fillRef>
          <a:effectRef idx="0">
            <a:schemeClr val="accent4"/>
          </a:effectRef>
          <a:fontRef idx="minor">
            <a:schemeClr val="lt1"/>
          </a:fontRef>
        </p:style>
        <p:txBody>
          <a:bodyPr rtlCol="0" anchor="t" anchorCtr="0"/>
          <a:lstStyle/>
          <a:p>
            <a:pPr lvl="0" algn="ctr">
              <a:defRPr/>
            </a:pPr>
            <a:r>
              <a:rPr lang="en-US" sz="1400" b="1" dirty="0">
                <a:solidFill>
                  <a:prstClr val="white"/>
                </a:solidFill>
              </a:rPr>
              <a:t>.Group[3]</a:t>
            </a:r>
          </a:p>
          <a:p>
            <a:pPr lvl="0" algn="ctr">
              <a:defRPr/>
            </a:pPr>
            <a:r>
              <a:rPr lang="en-US" sz="1400" b="1" dirty="0">
                <a:solidFill>
                  <a:prstClr val="white"/>
                </a:solidFill>
              </a:rPr>
              <a:t>.code – 022 </a:t>
            </a:r>
          </a:p>
          <a:p>
            <a:pPr lvl="0" algn="ctr">
              <a:defRPr/>
            </a:pPr>
            <a:r>
              <a:rPr lang="en-US" sz="1000" b="1" dirty="0">
                <a:solidFill>
                  <a:prstClr val="white"/>
                </a:solidFill>
              </a:rPr>
              <a:t>Diabetes with no complications</a:t>
            </a:r>
          </a:p>
          <a:p>
            <a:pPr lvl="0" algn="ctr">
              <a:defRPr/>
            </a:pPr>
            <a:r>
              <a:rPr lang="en-US" sz="1000" b="1" dirty="0">
                <a:solidFill>
                  <a:prstClr val="white"/>
                </a:solidFill>
              </a:rPr>
              <a:t>Suspected</a:t>
            </a:r>
          </a:p>
          <a:p>
            <a:pPr lvl="0" algn="ctr">
              <a:defRPr/>
            </a:pPr>
            <a:r>
              <a:rPr lang="en-US" sz="1000" b="1" dirty="0">
                <a:solidFill>
                  <a:prstClr val="white"/>
                </a:solidFill>
              </a:rPr>
              <a:t>Non-confirmed</a:t>
            </a:r>
            <a:endParaRPr lang="en-US" b="1" dirty="0">
              <a:solidFill>
                <a:prstClr val="white"/>
              </a:solidFill>
            </a:endParaRPr>
          </a:p>
        </p:txBody>
      </p:sp>
      <p:sp>
        <p:nvSpPr>
          <p:cNvPr id="93" name="Flowchart: Process 92">
            <a:extLst>
              <a:ext uri="{FF2B5EF4-FFF2-40B4-BE49-F238E27FC236}">
                <a16:creationId xmlns:a16="http://schemas.microsoft.com/office/drawing/2014/main" id="{75596BB8-5D46-4F4F-988C-EC62F488C8FD}"/>
              </a:ext>
            </a:extLst>
          </p:cNvPr>
          <p:cNvSpPr/>
          <p:nvPr/>
        </p:nvSpPr>
        <p:spPr>
          <a:xfrm>
            <a:off x="9138020" y="5585829"/>
            <a:ext cx="1895740" cy="917206"/>
          </a:xfrm>
          <a:prstGeom prst="flowChartProcess">
            <a:avLst/>
          </a:prstGeom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6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US Core Observation</a:t>
            </a:r>
          </a:p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4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Urine glucose 3+ 20201215</a:t>
            </a:r>
          </a:p>
        </p:txBody>
      </p:sp>
      <p:cxnSp>
        <p:nvCxnSpPr>
          <p:cNvPr id="94" name="Straight Arrow Connector 93">
            <a:extLst>
              <a:ext uri="{FF2B5EF4-FFF2-40B4-BE49-F238E27FC236}">
                <a16:creationId xmlns:a16="http://schemas.microsoft.com/office/drawing/2014/main" id="{E43B15D5-F49A-42AE-91FF-550F7FA57FBC}"/>
              </a:ext>
            </a:extLst>
          </p:cNvPr>
          <p:cNvCxnSpPr>
            <a:cxnSpLocks/>
            <a:stCxn id="93" idx="1"/>
            <a:endCxn id="66" idx="3"/>
          </p:cNvCxnSpPr>
          <p:nvPr/>
        </p:nvCxnSpPr>
        <p:spPr>
          <a:xfrm flipH="1" flipV="1">
            <a:off x="6471920" y="5689600"/>
            <a:ext cx="2666100" cy="354832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21" name="TextBox 120">
            <a:extLst>
              <a:ext uri="{FF2B5EF4-FFF2-40B4-BE49-F238E27FC236}">
                <a16:creationId xmlns:a16="http://schemas.microsoft.com/office/drawing/2014/main" id="{8FAB9936-E302-461B-A255-E0C9D8B7B9A5}"/>
              </a:ext>
            </a:extLst>
          </p:cNvPr>
          <p:cNvSpPr txBox="1"/>
          <p:nvPr/>
        </p:nvSpPr>
        <p:spPr>
          <a:xfrm>
            <a:off x="7168723" y="5571496"/>
            <a:ext cx="1609518" cy="369332"/>
          </a:xfrm>
          <a:prstGeom prst="rect">
            <a:avLst/>
          </a:prstGeom>
          <a:solidFill>
            <a:schemeClr val="bg1"/>
          </a:solidFill>
        </p:spPr>
        <p:txBody>
          <a:bodyPr wrap="square" rtlCol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9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evaluateResources.extension-groupReference</a:t>
            </a:r>
          </a:p>
        </p:txBody>
      </p:sp>
      <p:cxnSp>
        <p:nvCxnSpPr>
          <p:cNvPr id="101" name="Straight Arrow Connector 100">
            <a:extLst>
              <a:ext uri="{FF2B5EF4-FFF2-40B4-BE49-F238E27FC236}">
                <a16:creationId xmlns:a16="http://schemas.microsoft.com/office/drawing/2014/main" id="{532DF6E0-BF18-4A7C-82A2-59ED6A28065E}"/>
              </a:ext>
            </a:extLst>
          </p:cNvPr>
          <p:cNvCxnSpPr>
            <a:cxnSpLocks/>
            <a:stCxn id="54" idx="3"/>
            <a:endCxn id="59" idx="1"/>
          </p:cNvCxnSpPr>
          <p:nvPr/>
        </p:nvCxnSpPr>
        <p:spPr>
          <a:xfrm flipV="1">
            <a:off x="2409510" y="3439160"/>
            <a:ext cx="2192970" cy="767336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26" name="Straight Arrow Connector 125">
            <a:extLst>
              <a:ext uri="{FF2B5EF4-FFF2-40B4-BE49-F238E27FC236}">
                <a16:creationId xmlns:a16="http://schemas.microsoft.com/office/drawing/2014/main" id="{F37388B6-58AA-49B3-8EA4-07613683DFD9}"/>
              </a:ext>
            </a:extLst>
          </p:cNvPr>
          <p:cNvCxnSpPr>
            <a:cxnSpLocks/>
            <a:stCxn id="54" idx="3"/>
            <a:endCxn id="20" idx="1"/>
          </p:cNvCxnSpPr>
          <p:nvPr/>
        </p:nvCxnSpPr>
        <p:spPr>
          <a:xfrm>
            <a:off x="2409510" y="4206496"/>
            <a:ext cx="2182810" cy="370584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29" name="Straight Arrow Connector 128">
            <a:extLst>
              <a:ext uri="{FF2B5EF4-FFF2-40B4-BE49-F238E27FC236}">
                <a16:creationId xmlns:a16="http://schemas.microsoft.com/office/drawing/2014/main" id="{CFDC41DC-8311-4210-AD3B-CC2259810370}"/>
              </a:ext>
            </a:extLst>
          </p:cNvPr>
          <p:cNvCxnSpPr>
            <a:cxnSpLocks/>
            <a:stCxn id="54" idx="3"/>
            <a:endCxn id="66" idx="1"/>
          </p:cNvCxnSpPr>
          <p:nvPr/>
        </p:nvCxnSpPr>
        <p:spPr>
          <a:xfrm>
            <a:off x="2409510" y="4206496"/>
            <a:ext cx="2182810" cy="1483104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32" name="TextBox 131">
            <a:extLst>
              <a:ext uri="{FF2B5EF4-FFF2-40B4-BE49-F238E27FC236}">
                <a16:creationId xmlns:a16="http://schemas.microsoft.com/office/drawing/2014/main" id="{8E79B077-5332-4A0F-8709-3C70FEE650F5}"/>
              </a:ext>
            </a:extLst>
          </p:cNvPr>
          <p:cNvSpPr txBox="1"/>
          <p:nvPr/>
        </p:nvSpPr>
        <p:spPr>
          <a:xfrm>
            <a:off x="2820243" y="3966216"/>
            <a:ext cx="1233597" cy="507831"/>
          </a:xfrm>
          <a:prstGeom prst="rect">
            <a:avLst/>
          </a:prstGeom>
          <a:solidFill>
            <a:schemeClr val="bg1"/>
          </a:solidFill>
        </p:spPr>
        <p:txBody>
          <a:bodyPr wrap="square" rtlCol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9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evaluateResources.</a:t>
            </a: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9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extension-</a:t>
            </a: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9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groupReference</a:t>
            </a:r>
          </a:p>
        </p:txBody>
      </p:sp>
      <p:sp>
        <p:nvSpPr>
          <p:cNvPr id="55" name="TextBox 54">
            <a:extLst>
              <a:ext uri="{FF2B5EF4-FFF2-40B4-BE49-F238E27FC236}">
                <a16:creationId xmlns:a16="http://schemas.microsoft.com/office/drawing/2014/main" id="{E3F7F9A1-8F24-4136-BF9D-69A2F98F5CB6}"/>
              </a:ext>
            </a:extLst>
          </p:cNvPr>
          <p:cNvSpPr txBox="1"/>
          <p:nvPr/>
        </p:nvSpPr>
        <p:spPr>
          <a:xfrm>
            <a:off x="7168723" y="5022856"/>
            <a:ext cx="1599358" cy="369332"/>
          </a:xfrm>
          <a:prstGeom prst="rect">
            <a:avLst/>
          </a:prstGeom>
          <a:solidFill>
            <a:schemeClr val="bg1"/>
          </a:solidFill>
        </p:spPr>
        <p:txBody>
          <a:bodyPr wrap="square" rtlCol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9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evaluateResources.extension-groupReference</a:t>
            </a:r>
          </a:p>
        </p:txBody>
      </p:sp>
      <p:sp>
        <p:nvSpPr>
          <p:cNvPr id="143" name="Flowchart: Process 142">
            <a:extLst>
              <a:ext uri="{FF2B5EF4-FFF2-40B4-BE49-F238E27FC236}">
                <a16:creationId xmlns:a16="http://schemas.microsoft.com/office/drawing/2014/main" id="{29000138-1CAD-4B68-A6E3-89DA357089FE}"/>
              </a:ext>
            </a:extLst>
          </p:cNvPr>
          <p:cNvSpPr/>
          <p:nvPr/>
        </p:nvSpPr>
        <p:spPr>
          <a:xfrm>
            <a:off x="9171059" y="1110731"/>
            <a:ext cx="1872861" cy="776860"/>
          </a:xfrm>
          <a:prstGeom prst="flowChartProcess">
            <a:avLst/>
          </a:prstGeom>
          <a:solidFill>
            <a:schemeClr val="bg1">
              <a:lumMod val="65000"/>
            </a:schemeClr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6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US Core Organization</a:t>
            </a:r>
          </a:p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6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ABC Payer</a:t>
            </a:r>
          </a:p>
        </p:txBody>
      </p:sp>
      <p:cxnSp>
        <p:nvCxnSpPr>
          <p:cNvPr id="144" name="Straight Arrow Connector 143">
            <a:extLst>
              <a:ext uri="{FF2B5EF4-FFF2-40B4-BE49-F238E27FC236}">
                <a16:creationId xmlns:a16="http://schemas.microsoft.com/office/drawing/2014/main" id="{4F3117ED-38ED-44E6-ADB0-45CC71252C9C}"/>
              </a:ext>
            </a:extLst>
          </p:cNvPr>
          <p:cNvCxnSpPr>
            <a:cxnSpLocks/>
            <a:endCxn id="143" idx="1"/>
          </p:cNvCxnSpPr>
          <p:nvPr/>
        </p:nvCxnSpPr>
        <p:spPr>
          <a:xfrm flipV="1">
            <a:off x="6482080" y="1499161"/>
            <a:ext cx="2688979" cy="929079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48" name="TextBox 147">
            <a:extLst>
              <a:ext uri="{FF2B5EF4-FFF2-40B4-BE49-F238E27FC236}">
                <a16:creationId xmlns:a16="http://schemas.microsoft.com/office/drawing/2014/main" id="{80BF47F0-FCE4-470D-AA0E-6BCE75A132CF}"/>
              </a:ext>
            </a:extLst>
          </p:cNvPr>
          <p:cNvSpPr txBox="1"/>
          <p:nvPr/>
        </p:nvSpPr>
        <p:spPr>
          <a:xfrm>
            <a:off x="3131143" y="2370635"/>
            <a:ext cx="573375" cy="230832"/>
          </a:xfrm>
          <a:prstGeom prst="rect">
            <a:avLst/>
          </a:prstGeom>
          <a:solidFill>
            <a:schemeClr val="bg1"/>
          </a:solidFill>
        </p:spPr>
        <p:txBody>
          <a:bodyPr wrap="square" rtlCol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9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subject</a:t>
            </a:r>
          </a:p>
        </p:txBody>
      </p:sp>
      <p:sp>
        <p:nvSpPr>
          <p:cNvPr id="152" name="TextBox 151">
            <a:extLst>
              <a:ext uri="{FF2B5EF4-FFF2-40B4-BE49-F238E27FC236}">
                <a16:creationId xmlns:a16="http://schemas.microsoft.com/office/drawing/2014/main" id="{D3300274-2349-48D8-AC96-7401EAAF9C70}"/>
              </a:ext>
            </a:extLst>
          </p:cNvPr>
          <p:cNvSpPr txBox="1"/>
          <p:nvPr/>
        </p:nvSpPr>
        <p:spPr>
          <a:xfrm>
            <a:off x="7306903" y="1893115"/>
            <a:ext cx="678857" cy="230832"/>
          </a:xfrm>
          <a:prstGeom prst="rect">
            <a:avLst/>
          </a:prstGeom>
          <a:solidFill>
            <a:schemeClr val="bg1"/>
          </a:solidFill>
        </p:spPr>
        <p:txBody>
          <a:bodyPr wrap="square" rtlCol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9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reporter</a:t>
            </a:r>
          </a:p>
        </p:txBody>
      </p:sp>
    </p:spTree>
    <p:extLst>
      <p:ext uri="{BB962C8B-B14F-4D97-AF65-F5344CB8AC3E}">
        <p14:creationId xmlns:p14="http://schemas.microsoft.com/office/powerpoint/2010/main" val="2285907572"/>
      </p:ext>
    </p:extLst>
  </p:cSld>
  <p:clrMapOvr>
    <a:masterClrMapping/>
  </p:clrMapOvr>
</p:sld>
</file>

<file path=ppt/slides/slide4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5C36D41-3B9C-4F88-A537-A19E6C98DD9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B8BE07C0-1CDE-4921-A586-97651085D940}"/>
              </a:ext>
            </a:extLst>
          </p:cNvPr>
          <p:cNvSpPr>
            <a:spLocks noGrp="1"/>
          </p:cNvSpPr>
          <p:nvPr>
            <p:ph type="ftr" sz="quarter" idx="10"/>
          </p:nvPr>
        </p:nvSpPr>
        <p:spPr/>
        <p:txBody>
          <a:bodyPr/>
          <a:lstStyle/>
          <a:p>
            <a:r>
              <a:rPr lang="en-US" b="1"/>
              <a:t>© 2019 Health Level Seven ® International. Licensed under Creative Commons Attribution 4.0 International</a:t>
            </a:r>
          </a:p>
          <a:p>
            <a:r>
              <a:rPr lang="en-US" b="1"/>
              <a:t>HL7, Health Level Seven, FHIR and the FHIR flame logo are registered trademarks of Health Level Seven International. Reg. U.S. TM Office.</a:t>
            </a:r>
            <a:endParaRPr lang="en-US" b="1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FBE7E021-938E-4D23-BC9C-3A3D1C5F61CF}"/>
              </a:ext>
            </a:extLst>
          </p:cNvPr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fld id="{6CACE926-AEF5-4BFE-8BD7-24414108CB7B}" type="slidenum">
              <a:rPr lang="en-US" altLang="en-US" smtClean="0"/>
              <a:pPr/>
              <a:t>41</a:t>
            </a:fld>
            <a:endParaRPr lang="en-US" altLang="en-US" dirty="0"/>
          </a:p>
        </p:txBody>
      </p:sp>
    </p:spTree>
    <p:extLst>
      <p:ext uri="{BB962C8B-B14F-4D97-AF65-F5344CB8AC3E}">
        <p14:creationId xmlns:p14="http://schemas.microsoft.com/office/powerpoint/2010/main" val="2711422049"/>
      </p:ext>
    </p:extLst>
  </p:cSld>
  <p:clrMapOvr>
    <a:masterClrMapping/>
  </p:clrMapOvr>
</p:sld>
</file>

<file path=ppt/slides/slide4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6992073-D200-42E0-9FB9-A038AA6450B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91768" y="197930"/>
            <a:ext cx="10972800" cy="1043103"/>
          </a:xfrm>
        </p:spPr>
        <p:txBody>
          <a:bodyPr/>
          <a:lstStyle/>
          <a:p>
            <a:r>
              <a:rPr lang="en-US" dirty="0"/>
              <a:t>Three Stages Overview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9A34AC66-A8B9-4352-A5F1-CFA56745734D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>
          <a:xfrm>
            <a:off x="864779" y="1820755"/>
            <a:ext cx="10971844" cy="3456096"/>
          </a:xfrm>
        </p:spPr>
        <p:txBody>
          <a:bodyPr/>
          <a:lstStyle/>
          <a:p>
            <a:pPr marL="0" indent="0">
              <a:buNone/>
            </a:pPr>
            <a:r>
              <a:rPr lang="en-US" dirty="0"/>
              <a:t> </a:t>
            </a:r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9B90074F-DE65-45EB-9571-9D3C185F2116}"/>
              </a:ext>
            </a:extLst>
          </p:cNvPr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fld id="{6CACE926-AEF5-4BFE-8BD7-24414108CB7B}" type="slidenum">
              <a:rPr lang="en-US" altLang="en-US" smtClean="0"/>
              <a:pPr/>
              <a:t>42</a:t>
            </a:fld>
            <a:endParaRPr lang="en-US" altLang="en-US" dirty="0"/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AA5AC8FB-912D-43A8-8D0F-F9254F59B281}"/>
              </a:ext>
            </a:extLst>
          </p:cNvPr>
          <p:cNvSpPr/>
          <p:nvPr/>
        </p:nvSpPr>
        <p:spPr>
          <a:xfrm>
            <a:off x="7668555" y="3335372"/>
            <a:ext cx="1709840" cy="604332"/>
          </a:xfrm>
          <a:prstGeom prst="rect">
            <a:avLst/>
          </a:prstGeom>
        </p:spPr>
        <p:style>
          <a:lnRef idx="2">
            <a:schemeClr val="accent2">
              <a:shade val="50000"/>
            </a:schemeClr>
          </a:lnRef>
          <a:fillRef idx="1">
            <a:schemeClr val="accent2"/>
          </a:fillRef>
          <a:effectRef idx="0">
            <a:schemeClr val="accent2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600" dirty="0"/>
              <a:t>Remediation</a:t>
            </a:r>
          </a:p>
          <a:p>
            <a:pPr algn="ctr"/>
            <a:r>
              <a:rPr lang="en-US" sz="1200" dirty="0"/>
              <a:t>(gap closure/ invalidation/net-new)</a:t>
            </a:r>
          </a:p>
        </p:txBody>
      </p:sp>
      <p:pic>
        <p:nvPicPr>
          <p:cNvPr id="17" name="Graphic 16">
            <a:extLst>
              <a:ext uri="{FF2B5EF4-FFF2-40B4-BE49-F238E27FC236}">
                <a16:creationId xmlns:a16="http://schemas.microsoft.com/office/drawing/2014/main" id="{5711CF3B-BEF6-4360-AD34-59E17D963A15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6921590" y="3199669"/>
            <a:ext cx="659817" cy="996459"/>
          </a:xfrm>
          <a:prstGeom prst="rect">
            <a:avLst/>
          </a:prstGeom>
        </p:spPr>
      </p:pic>
      <p:pic>
        <p:nvPicPr>
          <p:cNvPr id="18" name="Graphic 17">
            <a:extLst>
              <a:ext uri="{FF2B5EF4-FFF2-40B4-BE49-F238E27FC236}">
                <a16:creationId xmlns:a16="http://schemas.microsoft.com/office/drawing/2014/main" id="{28AEFE85-7684-4B09-9315-5EAC7B7C9E5F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9550777" y="3116859"/>
            <a:ext cx="659817" cy="817600"/>
          </a:xfrm>
          <a:prstGeom prst="rect">
            <a:avLst/>
          </a:prstGeom>
        </p:spPr>
      </p:pic>
      <p:sp>
        <p:nvSpPr>
          <p:cNvPr id="22" name="TextBox 21">
            <a:extLst>
              <a:ext uri="{FF2B5EF4-FFF2-40B4-BE49-F238E27FC236}">
                <a16:creationId xmlns:a16="http://schemas.microsoft.com/office/drawing/2014/main" id="{556B9B98-30EF-4669-8230-213DA7EB59F6}"/>
              </a:ext>
            </a:extLst>
          </p:cNvPr>
          <p:cNvSpPr txBox="1"/>
          <p:nvPr/>
        </p:nvSpPr>
        <p:spPr>
          <a:xfrm>
            <a:off x="9295420" y="3960307"/>
            <a:ext cx="1366020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 defTabSz="609585" fontAlgn="base">
              <a:spcBef>
                <a:spcPct val="0"/>
              </a:spcBef>
              <a:spcAft>
                <a:spcPct val="0"/>
              </a:spcAft>
              <a:defRPr/>
            </a:pPr>
            <a:r>
              <a:rPr lang="en-US" sz="1200" b="1" dirty="0">
                <a:solidFill>
                  <a:srgbClr val="F79646">
                    <a:lumMod val="50000"/>
                  </a:srgbClr>
                </a:solidFill>
                <a:latin typeface="Arial"/>
                <a:ea typeface="ヒラギノ角ゴ Pro W3" pitchFamily="-126" charset="-128"/>
              </a:rPr>
              <a:t>Risk Adjustment Coder</a:t>
            </a:r>
          </a:p>
        </p:txBody>
      </p:sp>
      <p:sp>
        <p:nvSpPr>
          <p:cNvPr id="23" name="TextBox 22">
            <a:extLst>
              <a:ext uri="{FF2B5EF4-FFF2-40B4-BE49-F238E27FC236}">
                <a16:creationId xmlns:a16="http://schemas.microsoft.com/office/drawing/2014/main" id="{BE5FA384-4166-4E2C-B2D7-3515E331E8E3}"/>
              </a:ext>
            </a:extLst>
          </p:cNvPr>
          <p:cNvSpPr txBox="1"/>
          <p:nvPr/>
        </p:nvSpPr>
        <p:spPr>
          <a:xfrm>
            <a:off x="6664027" y="4196128"/>
            <a:ext cx="1366020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 defTabSz="609585" fontAlgn="base">
              <a:spcBef>
                <a:spcPct val="0"/>
              </a:spcBef>
              <a:spcAft>
                <a:spcPct val="0"/>
              </a:spcAft>
              <a:defRPr/>
            </a:pPr>
            <a:r>
              <a:rPr lang="en-US" sz="1200" b="1" dirty="0">
                <a:solidFill>
                  <a:srgbClr val="F79646">
                    <a:lumMod val="50000"/>
                  </a:srgbClr>
                </a:solidFill>
                <a:latin typeface="Arial"/>
                <a:ea typeface="ヒラギノ角ゴ Pro W3" pitchFamily="-126" charset="-128"/>
              </a:rPr>
              <a:t>Provider</a:t>
            </a:r>
          </a:p>
        </p:txBody>
      </p:sp>
      <p:pic>
        <p:nvPicPr>
          <p:cNvPr id="24" name="Graphic 23">
            <a:extLst>
              <a:ext uri="{FF2B5EF4-FFF2-40B4-BE49-F238E27FC236}">
                <a16:creationId xmlns:a16="http://schemas.microsoft.com/office/drawing/2014/main" id="{5F02176F-6C48-4B66-BF46-F739D8F9F52D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>
            <a:off x="2364854" y="3620719"/>
            <a:ext cx="814124" cy="691379"/>
          </a:xfrm>
          <a:prstGeom prst="rect">
            <a:avLst/>
          </a:prstGeom>
        </p:spPr>
      </p:pic>
      <p:sp>
        <p:nvSpPr>
          <p:cNvPr id="26" name="TextBox 25">
            <a:extLst>
              <a:ext uri="{FF2B5EF4-FFF2-40B4-BE49-F238E27FC236}">
                <a16:creationId xmlns:a16="http://schemas.microsoft.com/office/drawing/2014/main" id="{1DE39854-6D80-4F9E-9853-5D038F217BF8}"/>
              </a:ext>
            </a:extLst>
          </p:cNvPr>
          <p:cNvSpPr txBox="1"/>
          <p:nvPr/>
        </p:nvSpPr>
        <p:spPr>
          <a:xfrm>
            <a:off x="2160141" y="4318092"/>
            <a:ext cx="1366020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 defTabSz="609585" fontAlgn="base">
              <a:spcBef>
                <a:spcPct val="0"/>
              </a:spcBef>
              <a:spcAft>
                <a:spcPct val="0"/>
              </a:spcAft>
              <a:defRPr/>
            </a:pPr>
            <a:r>
              <a:rPr lang="en-US" sz="1200" b="1" dirty="0">
                <a:solidFill>
                  <a:srgbClr val="F79646">
                    <a:lumMod val="50000"/>
                  </a:srgbClr>
                </a:solidFill>
                <a:latin typeface="Arial"/>
                <a:ea typeface="ヒラギノ角ゴ Pro W3" pitchFamily="-126" charset="-128"/>
              </a:rPr>
              <a:t>Payer</a:t>
            </a:r>
          </a:p>
        </p:txBody>
      </p:sp>
      <p:sp>
        <p:nvSpPr>
          <p:cNvPr id="27" name="Rectangle 26">
            <a:extLst>
              <a:ext uri="{FF2B5EF4-FFF2-40B4-BE49-F238E27FC236}">
                <a16:creationId xmlns:a16="http://schemas.microsoft.com/office/drawing/2014/main" id="{8E8DBBBD-C24E-42EF-A9CA-89667C8C2403}"/>
              </a:ext>
            </a:extLst>
          </p:cNvPr>
          <p:cNvSpPr/>
          <p:nvPr/>
        </p:nvSpPr>
        <p:spPr>
          <a:xfrm>
            <a:off x="2331045" y="2939742"/>
            <a:ext cx="1694923" cy="592953"/>
          </a:xfrm>
          <a:prstGeom prst="rect">
            <a:avLst/>
          </a:prstGeom>
          <a:solidFill>
            <a:schemeClr val="accent1"/>
          </a:solidFill>
          <a:ln>
            <a:solidFill>
              <a:schemeClr val="accent1"/>
            </a:solidFill>
          </a:ln>
        </p:spPr>
        <p:style>
          <a:lnRef idx="2">
            <a:schemeClr val="accent2">
              <a:shade val="50000"/>
            </a:schemeClr>
          </a:lnRef>
          <a:fillRef idx="1">
            <a:schemeClr val="accent2"/>
          </a:fillRef>
          <a:effectRef idx="0">
            <a:schemeClr val="accent2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600" dirty="0"/>
              <a:t>Generation</a:t>
            </a:r>
          </a:p>
          <a:p>
            <a:pPr algn="ctr"/>
            <a:r>
              <a:rPr lang="en-US" sz="1200" dirty="0"/>
              <a:t>(coding gap reports)</a:t>
            </a:r>
          </a:p>
        </p:txBody>
      </p:sp>
      <p:sp>
        <p:nvSpPr>
          <p:cNvPr id="29" name="Arrow: Curved Down 28">
            <a:extLst>
              <a:ext uri="{FF2B5EF4-FFF2-40B4-BE49-F238E27FC236}">
                <a16:creationId xmlns:a16="http://schemas.microsoft.com/office/drawing/2014/main" id="{D00F570A-3214-4CAE-B8CE-88B13114B2C2}"/>
              </a:ext>
            </a:extLst>
          </p:cNvPr>
          <p:cNvSpPr/>
          <p:nvPr/>
        </p:nvSpPr>
        <p:spPr>
          <a:xfrm>
            <a:off x="4144934" y="2270366"/>
            <a:ext cx="2957656" cy="599230"/>
          </a:xfrm>
          <a:prstGeom prst="curvedDownArrow">
            <a:avLst/>
          </a:prstGeom>
          <a:solidFill>
            <a:schemeClr val="accent6">
              <a:lumMod val="60000"/>
              <a:lumOff val="40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schemeClr val="tx1"/>
              </a:solidFill>
            </a:endParaRPr>
          </a:p>
        </p:txBody>
      </p:sp>
      <p:sp>
        <p:nvSpPr>
          <p:cNvPr id="15" name="Arrow: Curved Down 14">
            <a:extLst>
              <a:ext uri="{FF2B5EF4-FFF2-40B4-BE49-F238E27FC236}">
                <a16:creationId xmlns:a16="http://schemas.microsoft.com/office/drawing/2014/main" id="{064DA815-2EBC-40F6-83F6-36524558366D}"/>
              </a:ext>
            </a:extLst>
          </p:cNvPr>
          <p:cNvSpPr/>
          <p:nvPr/>
        </p:nvSpPr>
        <p:spPr>
          <a:xfrm>
            <a:off x="7528651" y="2689726"/>
            <a:ext cx="2067713" cy="556071"/>
          </a:xfrm>
          <a:prstGeom prst="curvedDownArrow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schemeClr val="tx1"/>
              </a:solidFill>
            </a:endParaRPr>
          </a:p>
        </p:txBody>
      </p:sp>
      <p:sp>
        <p:nvSpPr>
          <p:cNvPr id="30" name="Arrow: Curved Down 29">
            <a:extLst>
              <a:ext uri="{FF2B5EF4-FFF2-40B4-BE49-F238E27FC236}">
                <a16:creationId xmlns:a16="http://schemas.microsoft.com/office/drawing/2014/main" id="{3AAE86C9-836A-465E-A80A-5ECC827E88FF}"/>
              </a:ext>
            </a:extLst>
          </p:cNvPr>
          <p:cNvSpPr/>
          <p:nvPr/>
        </p:nvSpPr>
        <p:spPr>
          <a:xfrm rot="10800000">
            <a:off x="3873341" y="4189619"/>
            <a:ext cx="5505054" cy="885863"/>
          </a:xfrm>
          <a:prstGeom prst="curvedDownArrow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schemeClr val="tx1"/>
              </a:solidFill>
            </a:endParaRPr>
          </a:p>
        </p:txBody>
      </p:sp>
      <p:sp>
        <p:nvSpPr>
          <p:cNvPr id="19" name="Cylinder 18">
            <a:extLst>
              <a:ext uri="{FF2B5EF4-FFF2-40B4-BE49-F238E27FC236}">
                <a16:creationId xmlns:a16="http://schemas.microsoft.com/office/drawing/2014/main" id="{A34C4C6E-6266-4911-B02E-527883FB1971}"/>
              </a:ext>
            </a:extLst>
          </p:cNvPr>
          <p:cNvSpPr/>
          <p:nvPr/>
        </p:nvSpPr>
        <p:spPr>
          <a:xfrm>
            <a:off x="8196099" y="3960515"/>
            <a:ext cx="756790" cy="580170"/>
          </a:xfrm>
          <a:prstGeom prst="can">
            <a:avLst/>
          </a:prstGeom>
          <a:ln>
            <a:solidFill>
              <a:schemeClr val="bg1">
                <a:lumMod val="9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tIns="137160" rtlCol="0" anchor="ctr"/>
          <a:lstStyle/>
          <a:p>
            <a:pPr algn="ctr">
              <a:lnSpc>
                <a:spcPts val="1100"/>
              </a:lnSpc>
            </a:pPr>
            <a:r>
              <a:rPr lang="en-US" sz="1100" dirty="0"/>
              <a:t>Provider Patient Records</a:t>
            </a:r>
          </a:p>
        </p:txBody>
      </p:sp>
      <p:sp>
        <p:nvSpPr>
          <p:cNvPr id="21" name="Cylinder 20">
            <a:extLst>
              <a:ext uri="{FF2B5EF4-FFF2-40B4-BE49-F238E27FC236}">
                <a16:creationId xmlns:a16="http://schemas.microsoft.com/office/drawing/2014/main" id="{D3F92A35-7AE5-4F27-9E30-1FA04160C44D}"/>
              </a:ext>
            </a:extLst>
          </p:cNvPr>
          <p:cNvSpPr/>
          <p:nvPr/>
        </p:nvSpPr>
        <p:spPr>
          <a:xfrm>
            <a:off x="3316154" y="3661989"/>
            <a:ext cx="756790" cy="585606"/>
          </a:xfrm>
          <a:prstGeom prst="can">
            <a:avLst/>
          </a:prstGeom>
          <a:ln>
            <a:solidFill>
              <a:schemeClr val="bg1">
                <a:lumMod val="9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tIns="137160" rtlCol="0" anchor="ctr"/>
          <a:lstStyle/>
          <a:p>
            <a:pPr algn="ctr">
              <a:lnSpc>
                <a:spcPts val="1100"/>
              </a:lnSpc>
            </a:pPr>
            <a:r>
              <a:rPr lang="en-US" sz="1100" dirty="0"/>
              <a:t>Payer Patient Records</a:t>
            </a:r>
          </a:p>
        </p:txBody>
      </p:sp>
      <p:sp>
        <p:nvSpPr>
          <p:cNvPr id="20" name="Rectangle 19">
            <a:extLst>
              <a:ext uri="{FF2B5EF4-FFF2-40B4-BE49-F238E27FC236}">
                <a16:creationId xmlns:a16="http://schemas.microsoft.com/office/drawing/2014/main" id="{79A5677D-88DB-4182-9823-C1B40B85F2B4}"/>
              </a:ext>
            </a:extLst>
          </p:cNvPr>
          <p:cNvSpPr/>
          <p:nvPr/>
        </p:nvSpPr>
        <p:spPr>
          <a:xfrm>
            <a:off x="4812313" y="2504891"/>
            <a:ext cx="1543313" cy="592954"/>
          </a:xfrm>
          <a:prstGeom prst="rect">
            <a:avLst/>
          </a:prstGeom>
          <a:solidFill>
            <a:schemeClr val="accent6">
              <a:lumMod val="75000"/>
            </a:schemeClr>
          </a:solidFill>
          <a:ln>
            <a:solidFill>
              <a:schemeClr val="accent1"/>
            </a:solidFill>
          </a:ln>
        </p:spPr>
        <p:style>
          <a:lnRef idx="2">
            <a:schemeClr val="accent2">
              <a:shade val="50000"/>
            </a:schemeClr>
          </a:lnRef>
          <a:fillRef idx="1">
            <a:schemeClr val="accent2"/>
          </a:fillRef>
          <a:effectRef idx="0">
            <a:schemeClr val="accent2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600" dirty="0"/>
              <a:t>Query</a:t>
            </a:r>
          </a:p>
          <a:p>
            <a:pPr algn="ctr"/>
            <a:r>
              <a:rPr lang="en-US" sz="1200" dirty="0"/>
              <a:t>(coding gap reports)</a:t>
            </a:r>
          </a:p>
        </p:txBody>
      </p:sp>
      <p:sp>
        <p:nvSpPr>
          <p:cNvPr id="28" name="Arrow: Curved Down 27">
            <a:extLst>
              <a:ext uri="{FF2B5EF4-FFF2-40B4-BE49-F238E27FC236}">
                <a16:creationId xmlns:a16="http://schemas.microsoft.com/office/drawing/2014/main" id="{2A7858BD-689D-47B5-B2DC-863F06809245}"/>
              </a:ext>
            </a:extLst>
          </p:cNvPr>
          <p:cNvSpPr/>
          <p:nvPr/>
        </p:nvSpPr>
        <p:spPr>
          <a:xfrm rot="10800000">
            <a:off x="4144931" y="2875167"/>
            <a:ext cx="2858983" cy="450801"/>
          </a:xfrm>
          <a:prstGeom prst="curvedDownArrow">
            <a:avLst/>
          </a:prstGeom>
          <a:solidFill>
            <a:schemeClr val="accent6">
              <a:lumMod val="60000"/>
              <a:lumOff val="40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schemeClr val="tx1"/>
              </a:solidFill>
            </a:endParaRP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DD7AFA5D-D1C7-4A3B-B082-64F1EA38CFFD}"/>
              </a:ext>
            </a:extLst>
          </p:cNvPr>
          <p:cNvSpPr txBox="1"/>
          <p:nvPr/>
        </p:nvSpPr>
        <p:spPr>
          <a:xfrm>
            <a:off x="8188568" y="2730442"/>
            <a:ext cx="583429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Task</a:t>
            </a:r>
          </a:p>
        </p:txBody>
      </p:sp>
      <p:sp>
        <p:nvSpPr>
          <p:cNvPr id="32" name="TextBox 31">
            <a:extLst>
              <a:ext uri="{FF2B5EF4-FFF2-40B4-BE49-F238E27FC236}">
                <a16:creationId xmlns:a16="http://schemas.microsoft.com/office/drawing/2014/main" id="{4F21EC11-E5A5-4A0B-8B7B-3F3813B97252}"/>
              </a:ext>
            </a:extLst>
          </p:cNvPr>
          <p:cNvSpPr txBox="1"/>
          <p:nvPr/>
        </p:nvSpPr>
        <p:spPr>
          <a:xfrm>
            <a:off x="6668069" y="4683517"/>
            <a:ext cx="583429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Task</a:t>
            </a:r>
          </a:p>
        </p:txBody>
      </p:sp>
      <p:sp>
        <p:nvSpPr>
          <p:cNvPr id="25" name="Rectangle 24">
            <a:extLst>
              <a:ext uri="{FF2B5EF4-FFF2-40B4-BE49-F238E27FC236}">
                <a16:creationId xmlns:a16="http://schemas.microsoft.com/office/drawing/2014/main" id="{F63D65DC-7995-483F-9DBD-92ADFC1E55CF}"/>
              </a:ext>
            </a:extLst>
          </p:cNvPr>
          <p:cNvSpPr/>
          <p:nvPr/>
        </p:nvSpPr>
        <p:spPr>
          <a:xfrm>
            <a:off x="4031373" y="3464300"/>
            <a:ext cx="6486031" cy="1751136"/>
          </a:xfrm>
          <a:prstGeom prst="rect">
            <a:avLst/>
          </a:prstGeom>
          <a:solidFill>
            <a:schemeClr val="accent4">
              <a:lumMod val="40000"/>
              <a:lumOff val="60000"/>
              <a:alpha val="12000"/>
            </a:schemeClr>
          </a:solidFill>
          <a:ln>
            <a:noFill/>
            <a:prstDash val="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31" name="Rectangle 30">
            <a:extLst>
              <a:ext uri="{FF2B5EF4-FFF2-40B4-BE49-F238E27FC236}">
                <a16:creationId xmlns:a16="http://schemas.microsoft.com/office/drawing/2014/main" id="{A15FE628-F34E-4CBF-984C-9EEE9B1BF69D}"/>
              </a:ext>
            </a:extLst>
          </p:cNvPr>
          <p:cNvSpPr/>
          <p:nvPr/>
        </p:nvSpPr>
        <p:spPr>
          <a:xfrm>
            <a:off x="6633194" y="2284332"/>
            <a:ext cx="3882599" cy="1179968"/>
          </a:xfrm>
          <a:prstGeom prst="rect">
            <a:avLst/>
          </a:prstGeom>
          <a:solidFill>
            <a:schemeClr val="accent4">
              <a:lumMod val="40000"/>
              <a:lumOff val="60000"/>
              <a:alpha val="12000"/>
            </a:schemeClr>
          </a:solidFill>
          <a:ln>
            <a:noFill/>
            <a:prstDash val="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33" name="Rectangle 32">
            <a:extLst>
              <a:ext uri="{FF2B5EF4-FFF2-40B4-BE49-F238E27FC236}">
                <a16:creationId xmlns:a16="http://schemas.microsoft.com/office/drawing/2014/main" id="{DE8343F4-F539-43E1-9E62-72D49257EC88}"/>
              </a:ext>
            </a:extLst>
          </p:cNvPr>
          <p:cNvSpPr/>
          <p:nvPr/>
        </p:nvSpPr>
        <p:spPr>
          <a:xfrm>
            <a:off x="6435574" y="6277377"/>
            <a:ext cx="1709840" cy="604332"/>
          </a:xfrm>
          <a:prstGeom prst="rect">
            <a:avLst/>
          </a:prstGeom>
        </p:spPr>
        <p:style>
          <a:lnRef idx="2">
            <a:schemeClr val="accent2">
              <a:shade val="50000"/>
            </a:schemeClr>
          </a:lnRef>
          <a:fillRef idx="1">
            <a:schemeClr val="accent2"/>
          </a:fillRef>
          <a:effectRef idx="0">
            <a:schemeClr val="accent2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600" dirty="0"/>
              <a:t>Remediation</a:t>
            </a:r>
          </a:p>
          <a:p>
            <a:pPr algn="ctr"/>
            <a:r>
              <a:rPr lang="en-US" sz="1200" dirty="0"/>
              <a:t>(gap closure/ invalidation/net-new)</a:t>
            </a:r>
          </a:p>
        </p:txBody>
      </p:sp>
    </p:spTree>
    <p:extLst>
      <p:ext uri="{BB962C8B-B14F-4D97-AF65-F5344CB8AC3E}">
        <p14:creationId xmlns:p14="http://schemas.microsoft.com/office/powerpoint/2010/main" val="523768926"/>
      </p:ext>
    </p:extLst>
  </p:cSld>
  <p:clrMapOvr>
    <a:masterClrMapping/>
  </p:clrMapOvr>
</p:sld>
</file>

<file path=ppt/slides/slide4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6992073-D200-42E0-9FB9-A038AA6450B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18196" y="234882"/>
            <a:ext cx="10972800" cy="1043103"/>
          </a:xfrm>
        </p:spPr>
        <p:txBody>
          <a:bodyPr/>
          <a:lstStyle/>
          <a:p>
            <a:r>
              <a:rPr lang="en-US" dirty="0"/>
              <a:t>Three Stages Overview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9A34AC66-A8B9-4352-A5F1-CFA56745734D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>
          <a:xfrm>
            <a:off x="1150529" y="2015845"/>
            <a:ext cx="10971844" cy="4501401"/>
          </a:xfrm>
        </p:spPr>
        <p:txBody>
          <a:bodyPr/>
          <a:lstStyle/>
          <a:p>
            <a:pPr marL="0" indent="0">
              <a:buNone/>
            </a:pPr>
            <a:r>
              <a:rPr lang="en-US" dirty="0"/>
              <a:t> </a:t>
            </a:r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9B90074F-DE65-45EB-9571-9D3C185F2116}"/>
              </a:ext>
            </a:extLst>
          </p:cNvPr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fld id="{6CACE926-AEF5-4BFE-8BD7-24414108CB7B}" type="slidenum">
              <a:rPr lang="en-US" altLang="en-US" smtClean="0"/>
              <a:pPr/>
              <a:t>43</a:t>
            </a:fld>
            <a:endParaRPr lang="en-US" altLang="en-US" dirty="0"/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AA5AC8FB-912D-43A8-8D0F-F9254F59B281}"/>
              </a:ext>
            </a:extLst>
          </p:cNvPr>
          <p:cNvSpPr/>
          <p:nvPr/>
        </p:nvSpPr>
        <p:spPr>
          <a:xfrm>
            <a:off x="6889475" y="3079074"/>
            <a:ext cx="1543313" cy="622319"/>
          </a:xfrm>
          <a:prstGeom prst="rect">
            <a:avLst/>
          </a:prstGeom>
        </p:spPr>
        <p:style>
          <a:lnRef idx="2">
            <a:schemeClr val="accent2">
              <a:shade val="50000"/>
            </a:schemeClr>
          </a:lnRef>
          <a:fillRef idx="1">
            <a:schemeClr val="accent2"/>
          </a:fillRef>
          <a:effectRef idx="0">
            <a:schemeClr val="accent2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600" dirty="0"/>
              <a:t>Remediation</a:t>
            </a:r>
          </a:p>
          <a:p>
            <a:pPr algn="ctr"/>
            <a:r>
              <a:rPr lang="en-US" sz="1200" dirty="0"/>
              <a:t>(gap closure/ invalidation)</a:t>
            </a:r>
          </a:p>
        </p:txBody>
      </p:sp>
      <p:pic>
        <p:nvPicPr>
          <p:cNvPr id="17" name="Graphic 16">
            <a:extLst>
              <a:ext uri="{FF2B5EF4-FFF2-40B4-BE49-F238E27FC236}">
                <a16:creationId xmlns:a16="http://schemas.microsoft.com/office/drawing/2014/main" id="{5711CF3B-BEF6-4360-AD34-59E17D963A15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5879149" y="3059160"/>
            <a:ext cx="659817" cy="996459"/>
          </a:xfrm>
          <a:prstGeom prst="rect">
            <a:avLst/>
          </a:prstGeom>
        </p:spPr>
      </p:pic>
      <p:pic>
        <p:nvPicPr>
          <p:cNvPr id="18" name="Graphic 17">
            <a:extLst>
              <a:ext uri="{FF2B5EF4-FFF2-40B4-BE49-F238E27FC236}">
                <a16:creationId xmlns:a16="http://schemas.microsoft.com/office/drawing/2014/main" id="{28AEFE85-7684-4B09-9315-5EAC7B7C9E5F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8650860" y="2968907"/>
            <a:ext cx="659817" cy="817600"/>
          </a:xfrm>
          <a:prstGeom prst="rect">
            <a:avLst/>
          </a:prstGeom>
        </p:spPr>
      </p:pic>
      <p:sp>
        <p:nvSpPr>
          <p:cNvPr id="22" name="TextBox 21">
            <a:extLst>
              <a:ext uri="{FF2B5EF4-FFF2-40B4-BE49-F238E27FC236}">
                <a16:creationId xmlns:a16="http://schemas.microsoft.com/office/drawing/2014/main" id="{556B9B98-30EF-4669-8230-213DA7EB59F6}"/>
              </a:ext>
            </a:extLst>
          </p:cNvPr>
          <p:cNvSpPr txBox="1"/>
          <p:nvPr/>
        </p:nvSpPr>
        <p:spPr>
          <a:xfrm>
            <a:off x="8395503" y="3812355"/>
            <a:ext cx="1366020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 defTabSz="609585" fontAlgn="base">
              <a:spcBef>
                <a:spcPct val="0"/>
              </a:spcBef>
              <a:spcAft>
                <a:spcPct val="0"/>
              </a:spcAft>
              <a:defRPr/>
            </a:pPr>
            <a:r>
              <a:rPr lang="en-US" sz="1200" b="1" dirty="0">
                <a:solidFill>
                  <a:srgbClr val="F79646">
                    <a:lumMod val="50000"/>
                  </a:srgbClr>
                </a:solidFill>
                <a:latin typeface="Arial"/>
                <a:ea typeface="ヒラギノ角ゴ Pro W3" pitchFamily="-126" charset="-128"/>
              </a:rPr>
              <a:t>Risk Adjustment Coder</a:t>
            </a:r>
          </a:p>
        </p:txBody>
      </p:sp>
      <p:sp>
        <p:nvSpPr>
          <p:cNvPr id="23" name="TextBox 22">
            <a:extLst>
              <a:ext uri="{FF2B5EF4-FFF2-40B4-BE49-F238E27FC236}">
                <a16:creationId xmlns:a16="http://schemas.microsoft.com/office/drawing/2014/main" id="{BE5FA384-4166-4E2C-B2D7-3515E331E8E3}"/>
              </a:ext>
            </a:extLst>
          </p:cNvPr>
          <p:cNvSpPr txBox="1"/>
          <p:nvPr/>
        </p:nvSpPr>
        <p:spPr>
          <a:xfrm>
            <a:off x="5621586" y="4055619"/>
            <a:ext cx="1366020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 defTabSz="609585" fontAlgn="base">
              <a:spcBef>
                <a:spcPct val="0"/>
              </a:spcBef>
              <a:spcAft>
                <a:spcPct val="0"/>
              </a:spcAft>
              <a:defRPr/>
            </a:pPr>
            <a:r>
              <a:rPr lang="en-US" sz="1200" b="1" dirty="0">
                <a:solidFill>
                  <a:srgbClr val="F79646">
                    <a:lumMod val="50000"/>
                  </a:srgbClr>
                </a:solidFill>
                <a:latin typeface="Arial"/>
                <a:ea typeface="ヒラギノ角ゴ Pro W3" pitchFamily="-126" charset="-128"/>
              </a:rPr>
              <a:t>Provider</a:t>
            </a:r>
          </a:p>
        </p:txBody>
      </p:sp>
      <p:pic>
        <p:nvPicPr>
          <p:cNvPr id="24" name="Graphic 23">
            <a:extLst>
              <a:ext uri="{FF2B5EF4-FFF2-40B4-BE49-F238E27FC236}">
                <a16:creationId xmlns:a16="http://schemas.microsoft.com/office/drawing/2014/main" id="{5F02176F-6C48-4B66-BF46-F739D8F9F52D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>
            <a:off x="3657128" y="2990139"/>
            <a:ext cx="814124" cy="691379"/>
          </a:xfrm>
          <a:prstGeom prst="rect">
            <a:avLst/>
          </a:prstGeom>
        </p:spPr>
      </p:pic>
      <p:sp>
        <p:nvSpPr>
          <p:cNvPr id="25" name="Rectangle 24">
            <a:extLst>
              <a:ext uri="{FF2B5EF4-FFF2-40B4-BE49-F238E27FC236}">
                <a16:creationId xmlns:a16="http://schemas.microsoft.com/office/drawing/2014/main" id="{8A5124E1-3137-4951-955F-06EAED810031}"/>
              </a:ext>
            </a:extLst>
          </p:cNvPr>
          <p:cNvSpPr/>
          <p:nvPr/>
        </p:nvSpPr>
        <p:spPr>
          <a:xfrm>
            <a:off x="3280817" y="3925227"/>
            <a:ext cx="1543313" cy="592954"/>
          </a:xfrm>
          <a:prstGeom prst="rect">
            <a:avLst/>
          </a:prstGeom>
          <a:solidFill>
            <a:schemeClr val="accent6">
              <a:lumMod val="75000"/>
            </a:schemeClr>
          </a:solidFill>
          <a:ln>
            <a:solidFill>
              <a:schemeClr val="accent1"/>
            </a:solidFill>
          </a:ln>
        </p:spPr>
        <p:style>
          <a:lnRef idx="2">
            <a:schemeClr val="accent2">
              <a:shade val="50000"/>
            </a:schemeClr>
          </a:lnRef>
          <a:fillRef idx="1">
            <a:schemeClr val="accent2"/>
          </a:fillRef>
          <a:effectRef idx="0">
            <a:schemeClr val="accent2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600" dirty="0"/>
              <a:t>Resolution</a:t>
            </a:r>
          </a:p>
          <a:p>
            <a:pPr algn="ctr"/>
            <a:r>
              <a:rPr lang="en-US" sz="1200" dirty="0"/>
              <a:t>(resolve gap closure/ invalidation)</a:t>
            </a:r>
          </a:p>
        </p:txBody>
      </p:sp>
      <p:sp>
        <p:nvSpPr>
          <p:cNvPr id="26" name="TextBox 25">
            <a:extLst>
              <a:ext uri="{FF2B5EF4-FFF2-40B4-BE49-F238E27FC236}">
                <a16:creationId xmlns:a16="http://schemas.microsoft.com/office/drawing/2014/main" id="{1DE39854-6D80-4F9E-9853-5D038F217BF8}"/>
              </a:ext>
            </a:extLst>
          </p:cNvPr>
          <p:cNvSpPr txBox="1"/>
          <p:nvPr/>
        </p:nvSpPr>
        <p:spPr>
          <a:xfrm>
            <a:off x="3394769" y="3613543"/>
            <a:ext cx="1366020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 defTabSz="609585" fontAlgn="base">
              <a:spcBef>
                <a:spcPct val="0"/>
              </a:spcBef>
              <a:spcAft>
                <a:spcPct val="0"/>
              </a:spcAft>
              <a:defRPr/>
            </a:pPr>
            <a:r>
              <a:rPr lang="en-US" sz="1200" b="1" dirty="0">
                <a:solidFill>
                  <a:srgbClr val="F79646">
                    <a:lumMod val="50000"/>
                  </a:srgbClr>
                </a:solidFill>
                <a:latin typeface="Arial"/>
                <a:ea typeface="ヒラギノ角ゴ Pro W3" pitchFamily="-126" charset="-128"/>
              </a:rPr>
              <a:t>Payer</a:t>
            </a:r>
          </a:p>
        </p:txBody>
      </p:sp>
      <p:sp>
        <p:nvSpPr>
          <p:cNvPr id="27" name="Rectangle 26">
            <a:extLst>
              <a:ext uri="{FF2B5EF4-FFF2-40B4-BE49-F238E27FC236}">
                <a16:creationId xmlns:a16="http://schemas.microsoft.com/office/drawing/2014/main" id="{8E8DBBBD-C24E-42EF-A9CA-89667C8C2403}"/>
              </a:ext>
            </a:extLst>
          </p:cNvPr>
          <p:cNvSpPr/>
          <p:nvPr/>
        </p:nvSpPr>
        <p:spPr>
          <a:xfrm>
            <a:off x="3280816" y="2279145"/>
            <a:ext cx="1543313" cy="592953"/>
          </a:xfrm>
          <a:prstGeom prst="rect">
            <a:avLst/>
          </a:prstGeom>
          <a:solidFill>
            <a:schemeClr val="accent1"/>
          </a:solidFill>
          <a:ln>
            <a:solidFill>
              <a:schemeClr val="accent1"/>
            </a:solidFill>
          </a:ln>
        </p:spPr>
        <p:style>
          <a:lnRef idx="2">
            <a:schemeClr val="accent2">
              <a:shade val="50000"/>
            </a:schemeClr>
          </a:lnRef>
          <a:fillRef idx="1">
            <a:schemeClr val="accent2"/>
          </a:fillRef>
          <a:effectRef idx="0">
            <a:schemeClr val="accent2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600" dirty="0"/>
              <a:t>Generation</a:t>
            </a:r>
          </a:p>
          <a:p>
            <a:pPr algn="ctr"/>
            <a:r>
              <a:rPr lang="en-US" sz="1200" dirty="0"/>
              <a:t>(coding gap reports)</a:t>
            </a:r>
          </a:p>
        </p:txBody>
      </p:sp>
      <p:sp>
        <p:nvSpPr>
          <p:cNvPr id="13" name="Arrow: Curved Down 12">
            <a:extLst>
              <a:ext uri="{FF2B5EF4-FFF2-40B4-BE49-F238E27FC236}">
                <a16:creationId xmlns:a16="http://schemas.microsoft.com/office/drawing/2014/main" id="{049F932E-55AF-455D-B792-48B4E9AA466D}"/>
              </a:ext>
            </a:extLst>
          </p:cNvPr>
          <p:cNvSpPr/>
          <p:nvPr/>
        </p:nvSpPr>
        <p:spPr>
          <a:xfrm rot="10800000">
            <a:off x="4599339" y="4631986"/>
            <a:ext cx="2858983" cy="731521"/>
          </a:xfrm>
          <a:prstGeom prst="curvedDownArrow">
            <a:avLst/>
          </a:prstGeom>
          <a:solidFill>
            <a:schemeClr val="accent6">
              <a:lumMod val="60000"/>
              <a:lumOff val="40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schemeClr val="tx1"/>
              </a:solidFill>
            </a:endParaRPr>
          </a:p>
        </p:txBody>
      </p:sp>
      <p:sp>
        <p:nvSpPr>
          <p:cNvPr id="29" name="Arrow: Curved Down 28">
            <a:extLst>
              <a:ext uri="{FF2B5EF4-FFF2-40B4-BE49-F238E27FC236}">
                <a16:creationId xmlns:a16="http://schemas.microsoft.com/office/drawing/2014/main" id="{D00F570A-3214-4CAE-B8CE-88B13114B2C2}"/>
              </a:ext>
            </a:extLst>
          </p:cNvPr>
          <p:cNvSpPr/>
          <p:nvPr/>
        </p:nvSpPr>
        <p:spPr>
          <a:xfrm>
            <a:off x="4599340" y="1436739"/>
            <a:ext cx="2957656" cy="771278"/>
          </a:xfrm>
          <a:prstGeom prst="curvedDownArrow">
            <a:avLst/>
          </a:prstGeom>
          <a:solidFill>
            <a:schemeClr val="accent6">
              <a:lumMod val="60000"/>
              <a:lumOff val="40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schemeClr val="tx1"/>
              </a:solidFill>
            </a:endParaRPr>
          </a:p>
        </p:txBody>
      </p:sp>
      <p:sp>
        <p:nvSpPr>
          <p:cNvPr id="15" name="Arrow: Curved Down 14">
            <a:extLst>
              <a:ext uri="{FF2B5EF4-FFF2-40B4-BE49-F238E27FC236}">
                <a16:creationId xmlns:a16="http://schemas.microsoft.com/office/drawing/2014/main" id="{064DA815-2EBC-40F6-83F6-36524558366D}"/>
              </a:ext>
            </a:extLst>
          </p:cNvPr>
          <p:cNvSpPr/>
          <p:nvPr/>
        </p:nvSpPr>
        <p:spPr>
          <a:xfrm>
            <a:off x="6583147" y="2258619"/>
            <a:ext cx="2067713" cy="731520"/>
          </a:xfrm>
          <a:prstGeom prst="curvedDownArrow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schemeClr val="tx1"/>
              </a:solidFill>
            </a:endParaRPr>
          </a:p>
        </p:txBody>
      </p:sp>
      <p:sp>
        <p:nvSpPr>
          <p:cNvPr id="30" name="Arrow: Curved Down 29">
            <a:extLst>
              <a:ext uri="{FF2B5EF4-FFF2-40B4-BE49-F238E27FC236}">
                <a16:creationId xmlns:a16="http://schemas.microsoft.com/office/drawing/2014/main" id="{3AAE86C9-836A-465E-A80A-5ECC827E88FF}"/>
              </a:ext>
            </a:extLst>
          </p:cNvPr>
          <p:cNvSpPr/>
          <p:nvPr/>
        </p:nvSpPr>
        <p:spPr>
          <a:xfrm rot="10800000">
            <a:off x="6553284" y="3742776"/>
            <a:ext cx="2053395" cy="731520"/>
          </a:xfrm>
          <a:prstGeom prst="curvedDownArrow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schemeClr val="tx1"/>
              </a:solidFill>
            </a:endParaRPr>
          </a:p>
        </p:txBody>
      </p:sp>
      <p:sp>
        <p:nvSpPr>
          <p:cNvPr id="19" name="Cylinder 18">
            <a:extLst>
              <a:ext uri="{FF2B5EF4-FFF2-40B4-BE49-F238E27FC236}">
                <a16:creationId xmlns:a16="http://schemas.microsoft.com/office/drawing/2014/main" id="{A34C4C6E-6266-4911-B02E-527883FB1971}"/>
              </a:ext>
            </a:extLst>
          </p:cNvPr>
          <p:cNvSpPr/>
          <p:nvPr/>
        </p:nvSpPr>
        <p:spPr>
          <a:xfrm>
            <a:off x="7253159" y="3818451"/>
            <a:ext cx="756790" cy="580170"/>
          </a:xfrm>
          <a:prstGeom prst="can">
            <a:avLst/>
          </a:prstGeom>
          <a:ln>
            <a:solidFill>
              <a:schemeClr val="bg1">
                <a:lumMod val="9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tIns="137160" rtlCol="0" anchor="ctr"/>
          <a:lstStyle/>
          <a:p>
            <a:pPr algn="ctr">
              <a:lnSpc>
                <a:spcPts val="1100"/>
              </a:lnSpc>
            </a:pPr>
            <a:r>
              <a:rPr lang="en-US" sz="1100" dirty="0"/>
              <a:t>Provider Patient Records</a:t>
            </a:r>
          </a:p>
        </p:txBody>
      </p:sp>
      <p:sp>
        <p:nvSpPr>
          <p:cNvPr id="21" name="Cylinder 20">
            <a:extLst>
              <a:ext uri="{FF2B5EF4-FFF2-40B4-BE49-F238E27FC236}">
                <a16:creationId xmlns:a16="http://schemas.microsoft.com/office/drawing/2014/main" id="{D3F92A35-7AE5-4F27-9E30-1FA04160C44D}"/>
              </a:ext>
            </a:extLst>
          </p:cNvPr>
          <p:cNvSpPr/>
          <p:nvPr/>
        </p:nvSpPr>
        <p:spPr>
          <a:xfrm>
            <a:off x="2831781" y="3157170"/>
            <a:ext cx="756790" cy="585606"/>
          </a:xfrm>
          <a:prstGeom prst="can">
            <a:avLst/>
          </a:prstGeom>
          <a:ln>
            <a:solidFill>
              <a:schemeClr val="bg1">
                <a:lumMod val="9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tIns="137160" rtlCol="0" anchor="ctr"/>
          <a:lstStyle/>
          <a:p>
            <a:pPr algn="ctr">
              <a:lnSpc>
                <a:spcPts val="1100"/>
              </a:lnSpc>
            </a:pPr>
            <a:r>
              <a:rPr lang="en-US" sz="1100" dirty="0"/>
              <a:t>Payer Patient Records</a:t>
            </a:r>
          </a:p>
        </p:txBody>
      </p:sp>
    </p:spTree>
    <p:extLst>
      <p:ext uri="{BB962C8B-B14F-4D97-AF65-F5344CB8AC3E}">
        <p14:creationId xmlns:p14="http://schemas.microsoft.com/office/powerpoint/2010/main" val="242770793"/>
      </p:ext>
    </p:extLst>
  </p:cSld>
  <p:clrMapOvr>
    <a:masterClrMapping/>
  </p:clrMapOvr>
</p:sld>
</file>

<file path=ppt/slides/slide4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ooter Placeholder 1">
            <a:extLst>
              <a:ext uri="{FF2B5EF4-FFF2-40B4-BE49-F238E27FC236}">
                <a16:creationId xmlns:a16="http://schemas.microsoft.com/office/drawing/2014/main" id="{67613D0C-21FF-445C-8A61-522FC6EF2821}"/>
              </a:ext>
            </a:extLst>
          </p:cNvPr>
          <p:cNvSpPr>
            <a:spLocks noGrp="1"/>
          </p:cNvSpPr>
          <p:nvPr>
            <p:ph type="ftr" sz="quarter" idx="10"/>
          </p:nvPr>
        </p:nvSpPr>
        <p:spPr/>
        <p:txBody>
          <a:bodyPr/>
          <a:lstStyle/>
          <a:p>
            <a:r>
              <a:rPr lang="en-US" b="1"/>
              <a:t>© 2019 Health Level Seven ® International. Licensed under Creative Commons Attribution 4.0 International</a:t>
            </a:r>
          </a:p>
          <a:p>
            <a:r>
              <a:rPr lang="en-US" b="1"/>
              <a:t>HL7, Health Level Seven, FHIR and the FHIR flame logo are registered trademarks of Health Level Seven International. Reg. U.S. TM Office.</a:t>
            </a:r>
            <a:endParaRPr lang="en-US" b="1" dirty="0"/>
          </a:p>
        </p:txBody>
      </p:sp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885B4913-2A0A-4D07-9844-3EA1D67CFB4E}"/>
              </a:ext>
            </a:extLst>
          </p:cNvPr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fld id="{6CACE926-AEF5-4BFE-8BD7-24414108CB7B}" type="slidenum">
              <a:rPr lang="en-US" altLang="en-US" smtClean="0"/>
              <a:pPr/>
              <a:t>44</a:t>
            </a:fld>
            <a:endParaRPr lang="en-US" altLang="en-US" dirty="0"/>
          </a:p>
        </p:txBody>
      </p:sp>
      <p:sp>
        <p:nvSpPr>
          <p:cNvPr id="4" name="Flowchart: Process 3">
            <a:extLst>
              <a:ext uri="{FF2B5EF4-FFF2-40B4-BE49-F238E27FC236}">
                <a16:creationId xmlns:a16="http://schemas.microsoft.com/office/drawing/2014/main" id="{5C516E0B-A1CD-4A5B-9084-C21C57F69DB1}"/>
              </a:ext>
            </a:extLst>
          </p:cNvPr>
          <p:cNvSpPr/>
          <p:nvPr/>
        </p:nvSpPr>
        <p:spPr>
          <a:xfrm>
            <a:off x="3887508" y="459890"/>
            <a:ext cx="1934738" cy="755570"/>
          </a:xfrm>
          <a:prstGeom prst="flowChartProcess">
            <a:avLst/>
          </a:prstGeom>
          <a:ln>
            <a:solidFill>
              <a:schemeClr val="accent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6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Risk Adjustment Model Measure</a:t>
            </a:r>
          </a:p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6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CMS-HCC </a:t>
            </a:r>
            <a:r>
              <a:rPr lang="en-US" sz="1600" dirty="0">
                <a:solidFill>
                  <a:prstClr val="white"/>
                </a:solidFill>
                <a:latin typeface="Calibri" panose="020F0502020204030204"/>
              </a:rPr>
              <a:t>V</a:t>
            </a:r>
            <a:r>
              <a:rPr kumimoji="0" lang="en-US" sz="16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24</a:t>
            </a:r>
          </a:p>
        </p:txBody>
      </p:sp>
      <p:sp>
        <p:nvSpPr>
          <p:cNvPr id="5" name="Flowchart: Process 4">
            <a:extLst>
              <a:ext uri="{FF2B5EF4-FFF2-40B4-BE49-F238E27FC236}">
                <a16:creationId xmlns:a16="http://schemas.microsoft.com/office/drawing/2014/main" id="{2888FE2A-B8B8-4B30-85ED-07CE10E8BEAC}"/>
              </a:ext>
            </a:extLst>
          </p:cNvPr>
          <p:cNvSpPr/>
          <p:nvPr/>
        </p:nvSpPr>
        <p:spPr>
          <a:xfrm>
            <a:off x="792540" y="459890"/>
            <a:ext cx="1934738" cy="755570"/>
          </a:xfrm>
          <a:prstGeom prst="flowChartProcess">
            <a:avLst/>
          </a:prstGeom>
          <a:ln>
            <a:solidFill>
              <a:srgbClr val="0070C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6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Risk Adjustment Coding Gap Report Bundle</a:t>
            </a:r>
          </a:p>
        </p:txBody>
      </p:sp>
      <p:sp>
        <p:nvSpPr>
          <p:cNvPr id="6" name="Flowchart: Process 5">
            <a:extLst>
              <a:ext uri="{FF2B5EF4-FFF2-40B4-BE49-F238E27FC236}">
                <a16:creationId xmlns:a16="http://schemas.microsoft.com/office/drawing/2014/main" id="{6538187D-1CBA-4D3E-B9CF-FB1141184837}"/>
              </a:ext>
            </a:extLst>
          </p:cNvPr>
          <p:cNvSpPr/>
          <p:nvPr/>
        </p:nvSpPr>
        <p:spPr>
          <a:xfrm>
            <a:off x="3887508" y="1722136"/>
            <a:ext cx="1934738" cy="3459464"/>
          </a:xfrm>
          <a:prstGeom prst="flowChartProcess">
            <a:avLst/>
          </a:prstGeom>
          <a:ln>
            <a:solidFill>
              <a:srgbClr val="0070C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60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6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Risk Adjustment </a:t>
            </a:r>
            <a:endParaRPr lang="en-US" sz="1600" dirty="0">
              <a:solidFill>
                <a:prstClr val="white"/>
              </a:solidFill>
              <a:latin typeface="Calibri" panose="020F0502020204030204"/>
            </a:endParaRPr>
          </a:p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6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Coding Gap Report</a:t>
            </a:r>
          </a:p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lang="en-US" sz="1600" dirty="0">
              <a:solidFill>
                <a:prstClr val="white"/>
              </a:solidFill>
              <a:latin typeface="Calibri" panose="020F0502020204030204"/>
            </a:endParaRPr>
          </a:p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60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lang="en-US" sz="1600" dirty="0">
              <a:solidFill>
                <a:prstClr val="white"/>
              </a:solidFill>
              <a:latin typeface="Calibri" panose="020F0502020204030204"/>
            </a:endParaRPr>
          </a:p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60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lang="en-US" sz="1600" dirty="0">
              <a:solidFill>
                <a:prstClr val="white"/>
              </a:solidFill>
              <a:latin typeface="Calibri" panose="020F0502020204030204"/>
            </a:endParaRPr>
          </a:p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60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lang="en-US" sz="1600" dirty="0">
              <a:solidFill>
                <a:prstClr val="white"/>
              </a:solidFill>
              <a:latin typeface="Calibri" panose="020F0502020204030204"/>
            </a:endParaRPr>
          </a:p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60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lang="en-US" sz="1600" dirty="0">
              <a:solidFill>
                <a:prstClr val="white"/>
              </a:solidFill>
              <a:latin typeface="Calibri" panose="020F0502020204030204"/>
            </a:endParaRPr>
          </a:p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60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lang="en-US" sz="1600" dirty="0">
              <a:solidFill>
                <a:prstClr val="white"/>
              </a:solidFill>
              <a:latin typeface="Calibri" panose="020F0502020204030204"/>
            </a:endParaRPr>
          </a:p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60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60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cxnSp>
        <p:nvCxnSpPr>
          <p:cNvPr id="7" name="Straight Arrow Connector 6">
            <a:extLst>
              <a:ext uri="{FF2B5EF4-FFF2-40B4-BE49-F238E27FC236}">
                <a16:creationId xmlns:a16="http://schemas.microsoft.com/office/drawing/2014/main" id="{049F4E04-B597-4594-8DDB-B9B1793B9466}"/>
              </a:ext>
            </a:extLst>
          </p:cNvPr>
          <p:cNvCxnSpPr>
            <a:cxnSpLocks/>
            <a:stCxn id="5" idx="3"/>
            <a:endCxn id="6" idx="0"/>
          </p:cNvCxnSpPr>
          <p:nvPr/>
        </p:nvCxnSpPr>
        <p:spPr>
          <a:xfrm>
            <a:off x="2727278" y="837675"/>
            <a:ext cx="2127599" cy="884461"/>
          </a:xfrm>
          <a:prstGeom prst="straightConnector1">
            <a:avLst/>
          </a:prstGeom>
          <a:ln w="12700"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0" name="Straight Arrow Connector 9">
            <a:extLst>
              <a:ext uri="{FF2B5EF4-FFF2-40B4-BE49-F238E27FC236}">
                <a16:creationId xmlns:a16="http://schemas.microsoft.com/office/drawing/2014/main" id="{43B4802E-C369-4600-9790-CE55B28A9C51}"/>
              </a:ext>
            </a:extLst>
          </p:cNvPr>
          <p:cNvCxnSpPr>
            <a:cxnSpLocks/>
            <a:stCxn id="6" idx="0"/>
            <a:endCxn id="4" idx="2"/>
          </p:cNvCxnSpPr>
          <p:nvPr/>
        </p:nvCxnSpPr>
        <p:spPr>
          <a:xfrm flipV="1">
            <a:off x="4854877" y="1215460"/>
            <a:ext cx="0" cy="506676"/>
          </a:xfrm>
          <a:prstGeom prst="straightConnector1">
            <a:avLst/>
          </a:prstGeom>
          <a:ln w="12700"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4" name="TextBox 13">
            <a:extLst>
              <a:ext uri="{FF2B5EF4-FFF2-40B4-BE49-F238E27FC236}">
                <a16:creationId xmlns:a16="http://schemas.microsoft.com/office/drawing/2014/main" id="{959336AF-67D3-43CA-B96A-647BEFDE54B0}"/>
              </a:ext>
            </a:extLst>
          </p:cNvPr>
          <p:cNvSpPr txBox="1"/>
          <p:nvPr/>
        </p:nvSpPr>
        <p:spPr>
          <a:xfrm>
            <a:off x="4574102" y="1347024"/>
            <a:ext cx="696646" cy="246221"/>
          </a:xfrm>
          <a:prstGeom prst="rect">
            <a:avLst/>
          </a:prstGeom>
          <a:solidFill>
            <a:schemeClr val="bg1"/>
          </a:solidFill>
        </p:spPr>
        <p:txBody>
          <a:bodyPr wrap="square" rtlCol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0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measure</a:t>
            </a:r>
            <a:endParaRPr kumimoji="0" lang="en-US" sz="900" b="1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11" name="Flowchart: Process 10">
            <a:extLst>
              <a:ext uri="{FF2B5EF4-FFF2-40B4-BE49-F238E27FC236}">
                <a16:creationId xmlns:a16="http://schemas.microsoft.com/office/drawing/2014/main" id="{B33ED533-7AF9-403A-9F59-25CBA5A9CE93}"/>
              </a:ext>
            </a:extLst>
          </p:cNvPr>
          <p:cNvSpPr/>
          <p:nvPr/>
        </p:nvSpPr>
        <p:spPr>
          <a:xfrm>
            <a:off x="792540" y="3074083"/>
            <a:ext cx="1934738" cy="755570"/>
          </a:xfrm>
          <a:prstGeom prst="flowChartProcess">
            <a:avLst/>
          </a:prstGeom>
          <a:ln>
            <a:solidFill>
              <a:srgbClr val="0070C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6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US Core Patient</a:t>
            </a:r>
          </a:p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 sz="1200" dirty="0">
                <a:solidFill>
                  <a:prstClr val="white"/>
                </a:solidFill>
                <a:latin typeface="Calibri" panose="020F0502020204030204"/>
              </a:rPr>
              <a:t>Eve Everywoman</a:t>
            </a:r>
          </a:p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1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DOB: 01/16/1975</a:t>
            </a:r>
          </a:p>
        </p:txBody>
      </p:sp>
      <p:cxnSp>
        <p:nvCxnSpPr>
          <p:cNvPr id="12" name="Straight Arrow Connector 11">
            <a:extLst>
              <a:ext uri="{FF2B5EF4-FFF2-40B4-BE49-F238E27FC236}">
                <a16:creationId xmlns:a16="http://schemas.microsoft.com/office/drawing/2014/main" id="{73B34E6C-DFD9-49DE-86F3-25C6C9784F38}"/>
              </a:ext>
            </a:extLst>
          </p:cNvPr>
          <p:cNvCxnSpPr>
            <a:cxnSpLocks/>
            <a:stCxn id="6" idx="1"/>
            <a:endCxn id="11" idx="3"/>
          </p:cNvCxnSpPr>
          <p:nvPr/>
        </p:nvCxnSpPr>
        <p:spPr>
          <a:xfrm flipH="1">
            <a:off x="2727278" y="3451868"/>
            <a:ext cx="1160230" cy="0"/>
          </a:xfrm>
          <a:prstGeom prst="straightConnector1">
            <a:avLst/>
          </a:prstGeom>
          <a:ln w="12700">
            <a:headEnd type="none" w="med" len="med"/>
            <a:tailEnd type="triangl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5" name="TextBox 14">
            <a:extLst>
              <a:ext uri="{FF2B5EF4-FFF2-40B4-BE49-F238E27FC236}">
                <a16:creationId xmlns:a16="http://schemas.microsoft.com/office/drawing/2014/main" id="{E58AF1D7-3B7B-47E7-BCED-3017253BDA1C}"/>
              </a:ext>
            </a:extLst>
          </p:cNvPr>
          <p:cNvSpPr txBox="1"/>
          <p:nvPr/>
        </p:nvSpPr>
        <p:spPr>
          <a:xfrm>
            <a:off x="2976661" y="3292189"/>
            <a:ext cx="580599" cy="246221"/>
          </a:xfrm>
          <a:prstGeom prst="rect">
            <a:avLst/>
          </a:prstGeom>
          <a:solidFill>
            <a:schemeClr val="bg1"/>
          </a:solidFill>
        </p:spPr>
        <p:txBody>
          <a:bodyPr wrap="square" rtlCol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0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subject</a:t>
            </a:r>
            <a:endParaRPr kumimoji="0" lang="en-US" sz="900" b="1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16" name="Flowchart: Process 15">
            <a:extLst>
              <a:ext uri="{FF2B5EF4-FFF2-40B4-BE49-F238E27FC236}">
                <a16:creationId xmlns:a16="http://schemas.microsoft.com/office/drawing/2014/main" id="{5DE82B70-5B74-4336-B855-7942DFA7CFBB}"/>
              </a:ext>
            </a:extLst>
          </p:cNvPr>
          <p:cNvSpPr/>
          <p:nvPr/>
        </p:nvSpPr>
        <p:spPr>
          <a:xfrm>
            <a:off x="792540" y="4340444"/>
            <a:ext cx="1872861" cy="776860"/>
          </a:xfrm>
          <a:prstGeom prst="flowChartProcess">
            <a:avLst/>
          </a:prstGeom>
          <a:solidFill>
            <a:schemeClr val="bg1">
              <a:lumMod val="6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6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US Core Organization</a:t>
            </a:r>
          </a:p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2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ABC Payer</a:t>
            </a:r>
          </a:p>
        </p:txBody>
      </p:sp>
      <p:sp>
        <p:nvSpPr>
          <p:cNvPr id="28" name="Rectangle 27">
            <a:extLst>
              <a:ext uri="{FF2B5EF4-FFF2-40B4-BE49-F238E27FC236}">
                <a16:creationId xmlns:a16="http://schemas.microsoft.com/office/drawing/2014/main" id="{C76BA75C-9C8C-4C6D-A479-80DF40E9BB48}"/>
              </a:ext>
            </a:extLst>
          </p:cNvPr>
          <p:cNvSpPr/>
          <p:nvPr/>
        </p:nvSpPr>
        <p:spPr>
          <a:xfrm>
            <a:off x="3909997" y="2255444"/>
            <a:ext cx="1889760" cy="931670"/>
          </a:xfrm>
          <a:prstGeom prst="rect">
            <a:avLst/>
          </a:prstGeom>
          <a:solidFill>
            <a:schemeClr val="accent1">
              <a:lumMod val="75000"/>
            </a:schemeClr>
          </a:solidFill>
          <a:ln>
            <a:solidFill>
              <a:srgbClr val="00B050"/>
            </a:solidFill>
          </a:ln>
        </p:spPr>
        <p:style>
          <a:lnRef idx="2">
            <a:schemeClr val="accent4">
              <a:shade val="50000"/>
            </a:schemeClr>
          </a:lnRef>
          <a:fillRef idx="1">
            <a:schemeClr val="accent4"/>
          </a:fillRef>
          <a:effectRef idx="0">
            <a:schemeClr val="accent4"/>
          </a:effectRef>
          <a:fontRef idx="minor">
            <a:schemeClr val="lt1"/>
          </a:fontRef>
        </p:style>
        <p:txBody>
          <a:bodyPr rtlCol="0" anchor="t" anchorCtr="0"/>
          <a:lstStyle/>
          <a:p>
            <a:pPr lvl="0">
              <a:defRPr/>
            </a:pPr>
            <a:r>
              <a:rPr lang="en-US" sz="900" dirty="0">
                <a:solidFill>
                  <a:prstClr val="white"/>
                </a:solidFill>
              </a:rPr>
              <a:t>.</a:t>
            </a:r>
            <a:r>
              <a:rPr lang="en-US" sz="900" b="1" dirty="0">
                <a:solidFill>
                  <a:prstClr val="white"/>
                </a:solidFill>
              </a:rPr>
              <a:t>group[1]</a:t>
            </a:r>
          </a:p>
          <a:p>
            <a:pPr lvl="0">
              <a:defRPr/>
            </a:pPr>
            <a:r>
              <a:rPr lang="en-US" sz="900" b="1" dirty="0">
                <a:solidFill>
                  <a:prstClr val="white"/>
                </a:solidFill>
              </a:rPr>
              <a:t>    .code: 18 Diabetes with Chronic Complications</a:t>
            </a:r>
          </a:p>
          <a:p>
            <a:pPr lvl="0">
              <a:defRPr/>
            </a:pPr>
            <a:r>
              <a:rPr lang="en-US" sz="900" b="1" dirty="0">
                <a:solidFill>
                  <a:prstClr val="white"/>
                </a:solidFill>
              </a:rPr>
              <a:t>    historic</a:t>
            </a:r>
          </a:p>
          <a:p>
            <a:pPr lvl="0">
              <a:defRPr/>
            </a:pPr>
            <a:r>
              <a:rPr lang="en-US" sz="900" b="1" dirty="0">
                <a:solidFill>
                  <a:prstClr val="white"/>
                </a:solidFill>
              </a:rPr>
              <a:t>    closed-gap</a:t>
            </a:r>
          </a:p>
          <a:p>
            <a:pPr lvl="0">
              <a:defRPr/>
            </a:pPr>
            <a:r>
              <a:rPr lang="en-US" sz="900" b="1" dirty="0">
                <a:solidFill>
                  <a:prstClr val="white"/>
                </a:solidFill>
              </a:rPr>
              <a:t>    applied-not-superseded</a:t>
            </a:r>
          </a:p>
          <a:p>
            <a:pPr lvl="0">
              <a:defRPr/>
            </a:pPr>
            <a:r>
              <a:rPr lang="en-US" sz="900" b="1" dirty="0">
                <a:solidFill>
                  <a:prstClr val="white"/>
                </a:solidFill>
              </a:rPr>
              <a:t>    </a:t>
            </a:r>
            <a:r>
              <a:rPr lang="en-US" dirty="0">
                <a:solidFill>
                  <a:prstClr val="white"/>
                </a:solidFill>
              </a:rPr>
              <a:t> </a:t>
            </a:r>
          </a:p>
        </p:txBody>
      </p:sp>
      <p:sp>
        <p:nvSpPr>
          <p:cNvPr id="32" name="Rectangle 31">
            <a:extLst>
              <a:ext uri="{FF2B5EF4-FFF2-40B4-BE49-F238E27FC236}">
                <a16:creationId xmlns:a16="http://schemas.microsoft.com/office/drawing/2014/main" id="{EEA15C61-E722-47F4-8036-17245CCEB335}"/>
              </a:ext>
            </a:extLst>
          </p:cNvPr>
          <p:cNvSpPr/>
          <p:nvPr/>
        </p:nvSpPr>
        <p:spPr>
          <a:xfrm>
            <a:off x="3914517" y="4078654"/>
            <a:ext cx="1889760" cy="1056439"/>
          </a:xfrm>
          <a:prstGeom prst="rect">
            <a:avLst/>
          </a:prstGeom>
          <a:solidFill>
            <a:schemeClr val="accent1">
              <a:lumMod val="75000"/>
            </a:schemeClr>
          </a:solidFill>
          <a:ln>
            <a:solidFill>
              <a:srgbClr val="00B050"/>
            </a:solidFill>
          </a:ln>
        </p:spPr>
        <p:style>
          <a:lnRef idx="2">
            <a:schemeClr val="accent4">
              <a:shade val="50000"/>
            </a:schemeClr>
          </a:lnRef>
          <a:fillRef idx="1">
            <a:schemeClr val="accent4"/>
          </a:fillRef>
          <a:effectRef idx="0">
            <a:schemeClr val="accent4"/>
          </a:effectRef>
          <a:fontRef idx="minor">
            <a:schemeClr val="lt1"/>
          </a:fontRef>
        </p:style>
        <p:txBody>
          <a:bodyPr rtlCol="0" anchor="t" anchorCtr="0"/>
          <a:lstStyle/>
          <a:p>
            <a:pPr lvl="0">
              <a:defRPr/>
            </a:pPr>
            <a:r>
              <a:rPr lang="en-US" sz="900" dirty="0">
                <a:solidFill>
                  <a:prstClr val="white"/>
                </a:solidFill>
              </a:rPr>
              <a:t>.</a:t>
            </a:r>
            <a:r>
              <a:rPr lang="en-US" sz="900" b="1" dirty="0">
                <a:solidFill>
                  <a:prstClr val="white"/>
                </a:solidFill>
              </a:rPr>
              <a:t>group[2]</a:t>
            </a:r>
          </a:p>
          <a:p>
            <a:pPr lvl="0">
              <a:defRPr/>
            </a:pPr>
            <a:r>
              <a:rPr lang="en-US" sz="900" b="1" dirty="0">
                <a:solidFill>
                  <a:prstClr val="white"/>
                </a:solidFill>
              </a:rPr>
              <a:t>    .code: 111 Chronic Obstructive Pulmonary Disease</a:t>
            </a:r>
          </a:p>
          <a:p>
            <a:pPr lvl="0">
              <a:defRPr/>
            </a:pPr>
            <a:r>
              <a:rPr lang="en-US" sz="900" b="1" dirty="0">
                <a:solidFill>
                  <a:prstClr val="white"/>
                </a:solidFill>
              </a:rPr>
              <a:t>    historic</a:t>
            </a:r>
          </a:p>
          <a:p>
            <a:pPr lvl="0">
              <a:defRPr/>
            </a:pPr>
            <a:r>
              <a:rPr lang="en-US" sz="900" b="1" dirty="0">
                <a:solidFill>
                  <a:prstClr val="white"/>
                </a:solidFill>
              </a:rPr>
              <a:t>    closed-gap</a:t>
            </a:r>
          </a:p>
          <a:p>
            <a:pPr lvl="0">
              <a:defRPr/>
            </a:pPr>
            <a:r>
              <a:rPr lang="en-US" sz="900" b="1" dirty="0">
                <a:solidFill>
                  <a:prstClr val="white"/>
                </a:solidFill>
              </a:rPr>
              <a:t>    applied-not-superseded</a:t>
            </a:r>
          </a:p>
          <a:p>
            <a:pPr lvl="0" algn="ctr">
              <a:defRPr/>
            </a:pPr>
            <a:r>
              <a:rPr lang="en-US" dirty="0">
                <a:solidFill>
                  <a:prstClr val="white"/>
                </a:solidFill>
              </a:rPr>
              <a:t> </a:t>
            </a:r>
          </a:p>
        </p:txBody>
      </p:sp>
      <p:sp>
        <p:nvSpPr>
          <p:cNvPr id="35" name="Rectangle 34">
            <a:extLst>
              <a:ext uri="{FF2B5EF4-FFF2-40B4-BE49-F238E27FC236}">
                <a16:creationId xmlns:a16="http://schemas.microsoft.com/office/drawing/2014/main" id="{4808AB26-B7CC-405A-A29B-9510E10A1866}"/>
              </a:ext>
            </a:extLst>
          </p:cNvPr>
          <p:cNvSpPr/>
          <p:nvPr/>
        </p:nvSpPr>
        <p:spPr>
          <a:xfrm>
            <a:off x="3906929" y="3247031"/>
            <a:ext cx="1889760" cy="755381"/>
          </a:xfrm>
          <a:prstGeom prst="rect">
            <a:avLst/>
          </a:prstGeom>
          <a:solidFill>
            <a:schemeClr val="accent1">
              <a:lumMod val="75000"/>
            </a:schemeClr>
          </a:solidFill>
          <a:ln>
            <a:solidFill>
              <a:srgbClr val="00B050"/>
            </a:solidFill>
          </a:ln>
        </p:spPr>
        <p:style>
          <a:lnRef idx="2">
            <a:schemeClr val="accent4">
              <a:shade val="50000"/>
            </a:schemeClr>
          </a:lnRef>
          <a:fillRef idx="1">
            <a:schemeClr val="accent4"/>
          </a:fillRef>
          <a:effectRef idx="0">
            <a:schemeClr val="accent4"/>
          </a:effectRef>
          <a:fontRef idx="minor">
            <a:schemeClr val="lt1"/>
          </a:fontRef>
        </p:style>
        <p:txBody>
          <a:bodyPr rtlCol="0" anchor="t" anchorCtr="0"/>
          <a:lstStyle/>
          <a:p>
            <a:pPr lvl="0">
              <a:defRPr/>
            </a:pPr>
            <a:r>
              <a:rPr lang="en-US" sz="900" dirty="0">
                <a:solidFill>
                  <a:prstClr val="white"/>
                </a:solidFill>
              </a:rPr>
              <a:t>.</a:t>
            </a:r>
            <a:r>
              <a:rPr lang="en-US" sz="900" b="1" dirty="0">
                <a:solidFill>
                  <a:prstClr val="white"/>
                </a:solidFill>
              </a:rPr>
              <a:t>group[4]</a:t>
            </a:r>
          </a:p>
          <a:p>
            <a:pPr lvl="0">
              <a:defRPr/>
            </a:pPr>
            <a:r>
              <a:rPr lang="en-US" sz="900" b="1" dirty="0">
                <a:solidFill>
                  <a:prstClr val="white"/>
                </a:solidFill>
              </a:rPr>
              <a:t>    .code: 22 Morbid Obesity</a:t>
            </a:r>
          </a:p>
          <a:p>
            <a:pPr lvl="0">
              <a:defRPr/>
            </a:pPr>
            <a:r>
              <a:rPr lang="en-US" sz="900" b="1" dirty="0">
                <a:solidFill>
                  <a:prstClr val="white"/>
                </a:solidFill>
              </a:rPr>
              <a:t>    suspected</a:t>
            </a:r>
          </a:p>
          <a:p>
            <a:pPr lvl="0">
              <a:defRPr/>
            </a:pPr>
            <a:r>
              <a:rPr lang="en-US" sz="900" b="1" dirty="0">
                <a:solidFill>
                  <a:prstClr val="white"/>
                </a:solidFill>
              </a:rPr>
              <a:t>    closed-gap</a:t>
            </a:r>
          </a:p>
          <a:p>
            <a:pPr lvl="0">
              <a:defRPr/>
            </a:pPr>
            <a:r>
              <a:rPr lang="en-US" sz="900" b="1" dirty="0">
                <a:solidFill>
                  <a:prstClr val="white"/>
                </a:solidFill>
              </a:rPr>
              <a:t>    applied-not-superseded</a:t>
            </a:r>
          </a:p>
          <a:p>
            <a:pPr lvl="0" algn="ctr">
              <a:defRPr/>
            </a:pPr>
            <a:endParaRPr lang="en-US" dirty="0">
              <a:solidFill>
                <a:prstClr val="white"/>
              </a:solidFill>
            </a:endParaRPr>
          </a:p>
        </p:txBody>
      </p:sp>
      <p:sp>
        <p:nvSpPr>
          <p:cNvPr id="50" name="Flowchart: Process 49">
            <a:extLst>
              <a:ext uri="{FF2B5EF4-FFF2-40B4-BE49-F238E27FC236}">
                <a16:creationId xmlns:a16="http://schemas.microsoft.com/office/drawing/2014/main" id="{43898F04-C4F3-44B2-9DA3-DD349768ADB5}"/>
              </a:ext>
            </a:extLst>
          </p:cNvPr>
          <p:cNvSpPr/>
          <p:nvPr/>
        </p:nvSpPr>
        <p:spPr>
          <a:xfrm>
            <a:off x="7489786" y="2367440"/>
            <a:ext cx="1872860" cy="755570"/>
          </a:xfrm>
          <a:prstGeom prst="flowChartProcess">
            <a:avLst/>
          </a:prstGeom>
          <a:ln>
            <a:solidFill>
              <a:srgbClr val="0070C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6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US Core Condition</a:t>
            </a:r>
          </a:p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 sz="1000" dirty="0">
                <a:solidFill>
                  <a:prstClr val="white"/>
                </a:solidFill>
                <a:latin typeface="Calibri" panose="020F0502020204030204"/>
              </a:rPr>
              <a:t>E08.29 Diabetes mellitus due to underlying condition with other diabetic kidney complication</a:t>
            </a:r>
            <a:endParaRPr kumimoji="0" lang="en-US" sz="90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51" name="Flowchart: Process 50">
            <a:extLst>
              <a:ext uri="{FF2B5EF4-FFF2-40B4-BE49-F238E27FC236}">
                <a16:creationId xmlns:a16="http://schemas.microsoft.com/office/drawing/2014/main" id="{2397CBB5-489F-4C61-B0CC-8BB8BD1B2D3C}"/>
              </a:ext>
            </a:extLst>
          </p:cNvPr>
          <p:cNvSpPr/>
          <p:nvPr/>
        </p:nvSpPr>
        <p:spPr>
          <a:xfrm>
            <a:off x="7514436" y="4224960"/>
            <a:ext cx="1872860" cy="755570"/>
          </a:xfrm>
          <a:prstGeom prst="flowChartProcess">
            <a:avLst/>
          </a:prstGeom>
          <a:ln>
            <a:solidFill>
              <a:srgbClr val="0070C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6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US Core Condition</a:t>
            </a:r>
          </a:p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 sz="1000" dirty="0">
                <a:solidFill>
                  <a:prstClr val="white"/>
                </a:solidFill>
                <a:latin typeface="Calibri" panose="020F0502020204030204"/>
              </a:rPr>
              <a:t>J45.31 Mild persistent asthma with (acute) exacerbation</a:t>
            </a:r>
            <a:endParaRPr kumimoji="0" lang="en-US" sz="90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55" name="Flowchart: Process 54">
            <a:extLst>
              <a:ext uri="{FF2B5EF4-FFF2-40B4-BE49-F238E27FC236}">
                <a16:creationId xmlns:a16="http://schemas.microsoft.com/office/drawing/2014/main" id="{29AC9E13-A3B2-44B1-855E-6477F1B82D73}"/>
              </a:ext>
            </a:extLst>
          </p:cNvPr>
          <p:cNvSpPr/>
          <p:nvPr/>
        </p:nvSpPr>
        <p:spPr>
          <a:xfrm>
            <a:off x="7504288" y="3266178"/>
            <a:ext cx="1872860" cy="755570"/>
          </a:xfrm>
          <a:prstGeom prst="flowChartProcess">
            <a:avLst/>
          </a:prstGeom>
          <a:ln>
            <a:solidFill>
              <a:srgbClr val="0070C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6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US Core Condition</a:t>
            </a:r>
          </a:p>
          <a:p>
            <a:pPr lvl="0" algn="ctr">
              <a:defRPr/>
            </a:pPr>
            <a:r>
              <a:rPr lang="en-US" sz="1000" dirty="0">
                <a:solidFill>
                  <a:prstClr val="white"/>
                </a:solidFill>
                <a:latin typeface="Calibri" panose="020F0502020204030204"/>
              </a:rPr>
              <a:t>Z68.42 Body mass index (BMI) 45.0-49.9, adult</a:t>
            </a:r>
            <a:endParaRPr kumimoji="0" lang="en-US" sz="90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56" name="Flowchart: Process 55">
            <a:extLst>
              <a:ext uri="{FF2B5EF4-FFF2-40B4-BE49-F238E27FC236}">
                <a16:creationId xmlns:a16="http://schemas.microsoft.com/office/drawing/2014/main" id="{511CF435-6659-4E5A-8316-25057B7C12B6}"/>
              </a:ext>
            </a:extLst>
          </p:cNvPr>
          <p:cNvSpPr/>
          <p:nvPr/>
        </p:nvSpPr>
        <p:spPr>
          <a:xfrm>
            <a:off x="7482167" y="1420886"/>
            <a:ext cx="1872860" cy="755570"/>
          </a:xfrm>
          <a:prstGeom prst="flowChartProcess">
            <a:avLst/>
          </a:prstGeom>
          <a:ln>
            <a:solidFill>
              <a:srgbClr val="0070C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6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US Core Encounter</a:t>
            </a:r>
          </a:p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 sz="1000" dirty="0">
                <a:solidFill>
                  <a:prstClr val="white"/>
                </a:solidFill>
                <a:latin typeface="Calibri" panose="020F0502020204030204"/>
              </a:rPr>
              <a:t>DOS: 01/31/2021</a:t>
            </a:r>
            <a:endParaRPr kumimoji="0" lang="en-US" sz="90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58" name="Flowchart: Process 57">
            <a:extLst>
              <a:ext uri="{FF2B5EF4-FFF2-40B4-BE49-F238E27FC236}">
                <a16:creationId xmlns:a16="http://schemas.microsoft.com/office/drawing/2014/main" id="{2D712595-0112-40A5-8927-588F1C4E89BC}"/>
              </a:ext>
            </a:extLst>
          </p:cNvPr>
          <p:cNvSpPr/>
          <p:nvPr/>
        </p:nvSpPr>
        <p:spPr>
          <a:xfrm>
            <a:off x="7514436" y="5181600"/>
            <a:ext cx="1872860" cy="755570"/>
          </a:xfrm>
          <a:prstGeom prst="flowChartProcess">
            <a:avLst/>
          </a:prstGeom>
          <a:ln>
            <a:solidFill>
              <a:srgbClr val="0070C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6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US Core Encounter</a:t>
            </a:r>
          </a:p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 sz="1000" dirty="0">
                <a:solidFill>
                  <a:prstClr val="white"/>
                </a:solidFill>
                <a:latin typeface="Calibri" panose="020F0502020204030204"/>
              </a:rPr>
              <a:t>DOS: 09/26/2021</a:t>
            </a:r>
            <a:endParaRPr kumimoji="0" lang="en-US" sz="90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cxnSp>
        <p:nvCxnSpPr>
          <p:cNvPr id="59" name="Straight Arrow Connector 58">
            <a:extLst>
              <a:ext uri="{FF2B5EF4-FFF2-40B4-BE49-F238E27FC236}">
                <a16:creationId xmlns:a16="http://schemas.microsoft.com/office/drawing/2014/main" id="{19C70E6E-2F47-4D51-8678-B99216131D78}"/>
              </a:ext>
            </a:extLst>
          </p:cNvPr>
          <p:cNvCxnSpPr>
            <a:cxnSpLocks/>
            <a:stCxn id="28" idx="3"/>
            <a:endCxn id="50" idx="1"/>
          </p:cNvCxnSpPr>
          <p:nvPr/>
        </p:nvCxnSpPr>
        <p:spPr>
          <a:xfrm>
            <a:off x="5799757" y="2721279"/>
            <a:ext cx="1690029" cy="23946"/>
          </a:xfrm>
          <a:prstGeom prst="straightConnector1">
            <a:avLst/>
          </a:prstGeom>
          <a:ln w="12700"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63" name="Straight Arrow Connector 62">
            <a:extLst>
              <a:ext uri="{FF2B5EF4-FFF2-40B4-BE49-F238E27FC236}">
                <a16:creationId xmlns:a16="http://schemas.microsoft.com/office/drawing/2014/main" id="{4876D8A6-4F0A-447B-AC4E-61933C93FEE4}"/>
              </a:ext>
            </a:extLst>
          </p:cNvPr>
          <p:cNvCxnSpPr>
            <a:cxnSpLocks/>
            <a:stCxn id="32" idx="3"/>
            <a:endCxn id="51" idx="1"/>
          </p:cNvCxnSpPr>
          <p:nvPr/>
        </p:nvCxnSpPr>
        <p:spPr>
          <a:xfrm flipV="1">
            <a:off x="5804277" y="4602745"/>
            <a:ext cx="1710159" cy="4129"/>
          </a:xfrm>
          <a:prstGeom prst="straightConnector1">
            <a:avLst/>
          </a:prstGeom>
          <a:ln w="12700"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64" name="Straight Arrow Connector 63">
            <a:extLst>
              <a:ext uri="{FF2B5EF4-FFF2-40B4-BE49-F238E27FC236}">
                <a16:creationId xmlns:a16="http://schemas.microsoft.com/office/drawing/2014/main" id="{A7D2EBC4-9411-4817-A86A-3F78AB2B534E}"/>
              </a:ext>
            </a:extLst>
          </p:cNvPr>
          <p:cNvCxnSpPr>
            <a:cxnSpLocks/>
            <a:stCxn id="35" idx="3"/>
            <a:endCxn id="55" idx="1"/>
          </p:cNvCxnSpPr>
          <p:nvPr/>
        </p:nvCxnSpPr>
        <p:spPr>
          <a:xfrm>
            <a:off x="5796689" y="3624722"/>
            <a:ext cx="1707599" cy="19241"/>
          </a:xfrm>
          <a:prstGeom prst="straightConnector1">
            <a:avLst/>
          </a:prstGeom>
          <a:ln w="12700"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76" name="TextBox 75">
            <a:extLst>
              <a:ext uri="{FF2B5EF4-FFF2-40B4-BE49-F238E27FC236}">
                <a16:creationId xmlns:a16="http://schemas.microsoft.com/office/drawing/2014/main" id="{0712497F-FF6A-458E-92DD-01F72C350E7B}"/>
              </a:ext>
            </a:extLst>
          </p:cNvPr>
          <p:cNvSpPr txBox="1"/>
          <p:nvPr/>
        </p:nvSpPr>
        <p:spPr>
          <a:xfrm>
            <a:off x="6054497" y="3510691"/>
            <a:ext cx="1217539" cy="246221"/>
          </a:xfrm>
          <a:prstGeom prst="rect">
            <a:avLst/>
          </a:prstGeom>
          <a:solidFill>
            <a:schemeClr val="bg1"/>
          </a:solidFill>
        </p:spPr>
        <p:txBody>
          <a:bodyPr wrap="square" rtlCol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0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evaluatedResource</a:t>
            </a:r>
            <a:endParaRPr kumimoji="0" lang="en-US" sz="900" b="1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77" name="TextBox 76">
            <a:extLst>
              <a:ext uri="{FF2B5EF4-FFF2-40B4-BE49-F238E27FC236}">
                <a16:creationId xmlns:a16="http://schemas.microsoft.com/office/drawing/2014/main" id="{1DC807B2-EF1A-43C9-8B03-FDA2A3A65E64}"/>
              </a:ext>
            </a:extLst>
          </p:cNvPr>
          <p:cNvSpPr txBox="1"/>
          <p:nvPr/>
        </p:nvSpPr>
        <p:spPr>
          <a:xfrm>
            <a:off x="6084397" y="4479634"/>
            <a:ext cx="1217539" cy="246221"/>
          </a:xfrm>
          <a:prstGeom prst="rect">
            <a:avLst/>
          </a:prstGeom>
          <a:solidFill>
            <a:schemeClr val="bg1"/>
          </a:solidFill>
        </p:spPr>
        <p:txBody>
          <a:bodyPr wrap="square" rtlCol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0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evaluatedResource</a:t>
            </a:r>
            <a:endParaRPr kumimoji="0" lang="en-US" sz="900" b="1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cxnSp>
        <p:nvCxnSpPr>
          <p:cNvPr id="91" name="Straight Arrow Connector 90">
            <a:extLst>
              <a:ext uri="{FF2B5EF4-FFF2-40B4-BE49-F238E27FC236}">
                <a16:creationId xmlns:a16="http://schemas.microsoft.com/office/drawing/2014/main" id="{254DEF4E-9D1A-48E0-B245-D8C08901FA27}"/>
              </a:ext>
            </a:extLst>
          </p:cNvPr>
          <p:cNvCxnSpPr>
            <a:cxnSpLocks/>
            <a:endCxn id="56" idx="1"/>
          </p:cNvCxnSpPr>
          <p:nvPr/>
        </p:nvCxnSpPr>
        <p:spPr>
          <a:xfrm flipV="1">
            <a:off x="5827187" y="1798671"/>
            <a:ext cx="1654980" cy="922608"/>
          </a:xfrm>
          <a:prstGeom prst="straightConnector1">
            <a:avLst/>
          </a:prstGeom>
          <a:ln w="12700"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93" name="TextBox 92">
            <a:extLst>
              <a:ext uri="{FF2B5EF4-FFF2-40B4-BE49-F238E27FC236}">
                <a16:creationId xmlns:a16="http://schemas.microsoft.com/office/drawing/2014/main" id="{9420730E-079C-4158-8650-264C4A2C42DC}"/>
              </a:ext>
            </a:extLst>
          </p:cNvPr>
          <p:cNvSpPr txBox="1"/>
          <p:nvPr/>
        </p:nvSpPr>
        <p:spPr>
          <a:xfrm rot="19834726">
            <a:off x="6072534" y="2069610"/>
            <a:ext cx="1217539" cy="246221"/>
          </a:xfrm>
          <a:prstGeom prst="rect">
            <a:avLst/>
          </a:prstGeom>
          <a:solidFill>
            <a:schemeClr val="bg1"/>
          </a:solidFill>
        </p:spPr>
        <p:txBody>
          <a:bodyPr wrap="square" rtlCol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0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evaluatedResource</a:t>
            </a:r>
            <a:endParaRPr kumimoji="0" lang="en-US" sz="900" b="1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cxnSp>
        <p:nvCxnSpPr>
          <p:cNvPr id="95" name="Straight Arrow Connector 94">
            <a:extLst>
              <a:ext uri="{FF2B5EF4-FFF2-40B4-BE49-F238E27FC236}">
                <a16:creationId xmlns:a16="http://schemas.microsoft.com/office/drawing/2014/main" id="{106EB4D3-C864-4696-9DE9-5D27123A6680}"/>
              </a:ext>
            </a:extLst>
          </p:cNvPr>
          <p:cNvCxnSpPr>
            <a:cxnSpLocks/>
            <a:stCxn id="35" idx="3"/>
            <a:endCxn id="56" idx="1"/>
          </p:cNvCxnSpPr>
          <p:nvPr/>
        </p:nvCxnSpPr>
        <p:spPr>
          <a:xfrm flipV="1">
            <a:off x="5796689" y="1798671"/>
            <a:ext cx="1685478" cy="1826051"/>
          </a:xfrm>
          <a:prstGeom prst="straightConnector1">
            <a:avLst/>
          </a:prstGeom>
          <a:ln w="12700"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98" name="TextBox 97">
            <a:extLst>
              <a:ext uri="{FF2B5EF4-FFF2-40B4-BE49-F238E27FC236}">
                <a16:creationId xmlns:a16="http://schemas.microsoft.com/office/drawing/2014/main" id="{B7081640-A001-43D9-BD01-BBCA9A8AADF1}"/>
              </a:ext>
            </a:extLst>
          </p:cNvPr>
          <p:cNvSpPr txBox="1"/>
          <p:nvPr/>
        </p:nvSpPr>
        <p:spPr>
          <a:xfrm>
            <a:off x="6054497" y="2622114"/>
            <a:ext cx="1217539" cy="246221"/>
          </a:xfrm>
          <a:prstGeom prst="rect">
            <a:avLst/>
          </a:prstGeom>
          <a:solidFill>
            <a:schemeClr val="bg1"/>
          </a:solidFill>
        </p:spPr>
        <p:txBody>
          <a:bodyPr wrap="square" rtlCol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0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evaluatedResource</a:t>
            </a:r>
            <a:endParaRPr kumimoji="0" lang="en-US" sz="900" b="1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cxnSp>
        <p:nvCxnSpPr>
          <p:cNvPr id="99" name="Straight Arrow Connector 98">
            <a:extLst>
              <a:ext uri="{FF2B5EF4-FFF2-40B4-BE49-F238E27FC236}">
                <a16:creationId xmlns:a16="http://schemas.microsoft.com/office/drawing/2014/main" id="{6521FE98-80AD-48C7-A1CE-B36238BE7C76}"/>
              </a:ext>
            </a:extLst>
          </p:cNvPr>
          <p:cNvCxnSpPr>
            <a:cxnSpLocks/>
            <a:stCxn id="32" idx="3"/>
            <a:endCxn id="58" idx="1"/>
          </p:cNvCxnSpPr>
          <p:nvPr/>
        </p:nvCxnSpPr>
        <p:spPr>
          <a:xfrm>
            <a:off x="5804277" y="4606874"/>
            <a:ext cx="1710159" cy="952511"/>
          </a:xfrm>
          <a:prstGeom prst="straightConnector1">
            <a:avLst/>
          </a:prstGeom>
          <a:ln w="12700"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02" name="TextBox 101">
            <a:extLst>
              <a:ext uri="{FF2B5EF4-FFF2-40B4-BE49-F238E27FC236}">
                <a16:creationId xmlns:a16="http://schemas.microsoft.com/office/drawing/2014/main" id="{ABE0BA0A-6327-43E5-AF27-F008F2D92186}"/>
              </a:ext>
            </a:extLst>
          </p:cNvPr>
          <p:cNvSpPr txBox="1"/>
          <p:nvPr/>
        </p:nvSpPr>
        <p:spPr>
          <a:xfrm rot="1725328">
            <a:off x="6089278" y="4994194"/>
            <a:ext cx="1217539" cy="246221"/>
          </a:xfrm>
          <a:prstGeom prst="rect">
            <a:avLst/>
          </a:prstGeom>
          <a:solidFill>
            <a:schemeClr val="bg1"/>
          </a:solidFill>
        </p:spPr>
        <p:txBody>
          <a:bodyPr wrap="square" rtlCol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0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evaluatedResource</a:t>
            </a:r>
            <a:endParaRPr kumimoji="0" lang="en-US" sz="900" b="1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cxnSp>
        <p:nvCxnSpPr>
          <p:cNvPr id="103" name="Straight Arrow Connector 102">
            <a:extLst>
              <a:ext uri="{FF2B5EF4-FFF2-40B4-BE49-F238E27FC236}">
                <a16:creationId xmlns:a16="http://schemas.microsoft.com/office/drawing/2014/main" id="{B13031F9-623E-4B92-AB8D-504A75028369}"/>
              </a:ext>
            </a:extLst>
          </p:cNvPr>
          <p:cNvCxnSpPr>
            <a:cxnSpLocks/>
            <a:stCxn id="6" idx="1"/>
            <a:endCxn id="16" idx="3"/>
          </p:cNvCxnSpPr>
          <p:nvPr/>
        </p:nvCxnSpPr>
        <p:spPr>
          <a:xfrm flipH="1">
            <a:off x="2665401" y="3451868"/>
            <a:ext cx="1222107" cy="1277006"/>
          </a:xfrm>
          <a:prstGeom prst="straightConnector1">
            <a:avLst/>
          </a:prstGeom>
          <a:ln w="12700"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11" name="TextBox 110">
            <a:extLst>
              <a:ext uri="{FF2B5EF4-FFF2-40B4-BE49-F238E27FC236}">
                <a16:creationId xmlns:a16="http://schemas.microsoft.com/office/drawing/2014/main" id="{5D6EBA97-FE36-4527-A824-39C4F2447318}"/>
              </a:ext>
            </a:extLst>
          </p:cNvPr>
          <p:cNvSpPr txBox="1"/>
          <p:nvPr/>
        </p:nvSpPr>
        <p:spPr>
          <a:xfrm>
            <a:off x="3058140" y="952576"/>
            <a:ext cx="580599" cy="246221"/>
          </a:xfrm>
          <a:prstGeom prst="rect">
            <a:avLst/>
          </a:prstGeom>
          <a:solidFill>
            <a:schemeClr val="bg1"/>
          </a:solidFill>
        </p:spPr>
        <p:txBody>
          <a:bodyPr wrap="square" rtlCol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0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entry</a:t>
            </a:r>
            <a:endParaRPr kumimoji="0" lang="en-US" sz="900" b="1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113" name="TextBox 112">
            <a:extLst>
              <a:ext uri="{FF2B5EF4-FFF2-40B4-BE49-F238E27FC236}">
                <a16:creationId xmlns:a16="http://schemas.microsoft.com/office/drawing/2014/main" id="{05AAD563-13F4-4BA3-B6D6-B95685BE5C19}"/>
              </a:ext>
            </a:extLst>
          </p:cNvPr>
          <p:cNvSpPr txBox="1"/>
          <p:nvPr/>
        </p:nvSpPr>
        <p:spPr>
          <a:xfrm>
            <a:off x="2986155" y="3999070"/>
            <a:ext cx="652584" cy="246221"/>
          </a:xfrm>
          <a:prstGeom prst="rect">
            <a:avLst/>
          </a:prstGeom>
          <a:solidFill>
            <a:schemeClr val="bg1"/>
          </a:solidFill>
        </p:spPr>
        <p:txBody>
          <a:bodyPr wrap="square" rtlCol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0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reporter</a:t>
            </a:r>
            <a:endParaRPr kumimoji="0" lang="en-US" sz="900" b="1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cxnSp>
        <p:nvCxnSpPr>
          <p:cNvPr id="114" name="Straight Arrow Connector 113">
            <a:extLst>
              <a:ext uri="{FF2B5EF4-FFF2-40B4-BE49-F238E27FC236}">
                <a16:creationId xmlns:a16="http://schemas.microsoft.com/office/drawing/2014/main" id="{27DB4D4F-0EAE-406D-8D42-7F23F83D1907}"/>
              </a:ext>
            </a:extLst>
          </p:cNvPr>
          <p:cNvCxnSpPr>
            <a:cxnSpLocks/>
            <a:stCxn id="5" idx="2"/>
            <a:endCxn id="11" idx="0"/>
          </p:cNvCxnSpPr>
          <p:nvPr/>
        </p:nvCxnSpPr>
        <p:spPr>
          <a:xfrm>
            <a:off x="1759909" y="1215460"/>
            <a:ext cx="0" cy="1858623"/>
          </a:xfrm>
          <a:prstGeom prst="straightConnector1">
            <a:avLst/>
          </a:prstGeom>
          <a:ln w="12700"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17" name="TextBox 116">
            <a:extLst>
              <a:ext uri="{FF2B5EF4-FFF2-40B4-BE49-F238E27FC236}">
                <a16:creationId xmlns:a16="http://schemas.microsoft.com/office/drawing/2014/main" id="{DD388C81-A24F-42E4-86C7-975B661F035A}"/>
              </a:ext>
            </a:extLst>
          </p:cNvPr>
          <p:cNvSpPr txBox="1"/>
          <p:nvPr/>
        </p:nvSpPr>
        <p:spPr>
          <a:xfrm>
            <a:off x="1537076" y="1898550"/>
            <a:ext cx="580599" cy="246221"/>
          </a:xfrm>
          <a:prstGeom prst="rect">
            <a:avLst/>
          </a:prstGeom>
          <a:solidFill>
            <a:schemeClr val="bg1"/>
          </a:solidFill>
        </p:spPr>
        <p:txBody>
          <a:bodyPr wrap="square" rtlCol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0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entry</a:t>
            </a:r>
            <a:endParaRPr kumimoji="0" lang="en-US" sz="900" b="1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3283057723"/>
      </p:ext>
    </p:extLst>
  </p:cSld>
  <p:clrMapOvr>
    <a:masterClrMapping/>
  </p:clrMapOvr>
</p:sld>
</file>

<file path=ppt/slides/slide4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6992073-D200-42E0-9FB9-A038AA6450B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91768" y="197930"/>
            <a:ext cx="10972800" cy="1043103"/>
          </a:xfrm>
        </p:spPr>
        <p:txBody>
          <a:bodyPr/>
          <a:lstStyle/>
          <a:p>
            <a:r>
              <a:rPr lang="en-US" dirty="0"/>
              <a:t>Three Stages Overview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9A34AC66-A8B9-4352-A5F1-CFA56745734D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>
          <a:xfrm>
            <a:off x="1150529" y="2015845"/>
            <a:ext cx="10971844" cy="4501401"/>
          </a:xfrm>
        </p:spPr>
        <p:txBody>
          <a:bodyPr/>
          <a:lstStyle/>
          <a:p>
            <a:pPr marL="0" indent="0">
              <a:buNone/>
            </a:pPr>
            <a:r>
              <a:rPr lang="en-US" dirty="0"/>
              <a:t> </a:t>
            </a:r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9B90074F-DE65-45EB-9571-9D3C185F2116}"/>
              </a:ext>
            </a:extLst>
          </p:cNvPr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fld id="{6CACE926-AEF5-4BFE-8BD7-24414108CB7B}" type="slidenum">
              <a:rPr lang="en-US" altLang="en-US" smtClean="0"/>
              <a:pPr/>
              <a:t>45</a:t>
            </a:fld>
            <a:endParaRPr lang="en-US" altLang="en-US" dirty="0"/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AA5AC8FB-912D-43A8-8D0F-F9254F59B281}"/>
              </a:ext>
            </a:extLst>
          </p:cNvPr>
          <p:cNvSpPr/>
          <p:nvPr/>
        </p:nvSpPr>
        <p:spPr>
          <a:xfrm>
            <a:off x="7670096" y="2933700"/>
            <a:ext cx="1709840" cy="604332"/>
          </a:xfrm>
          <a:prstGeom prst="rect">
            <a:avLst/>
          </a:prstGeom>
        </p:spPr>
        <p:style>
          <a:lnRef idx="2">
            <a:schemeClr val="accent2">
              <a:shade val="50000"/>
            </a:schemeClr>
          </a:lnRef>
          <a:fillRef idx="1">
            <a:schemeClr val="accent2"/>
          </a:fillRef>
          <a:effectRef idx="0">
            <a:schemeClr val="accent2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600" dirty="0"/>
              <a:t>Remediation</a:t>
            </a:r>
          </a:p>
          <a:p>
            <a:pPr algn="ctr"/>
            <a:r>
              <a:rPr lang="en-US" sz="1200" dirty="0"/>
              <a:t>(gap closure/ invalidation/net-new)</a:t>
            </a:r>
          </a:p>
        </p:txBody>
      </p:sp>
      <p:pic>
        <p:nvPicPr>
          <p:cNvPr id="17" name="Graphic 16">
            <a:extLst>
              <a:ext uri="{FF2B5EF4-FFF2-40B4-BE49-F238E27FC236}">
                <a16:creationId xmlns:a16="http://schemas.microsoft.com/office/drawing/2014/main" id="{5711CF3B-BEF6-4360-AD34-59E17D963A15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6923131" y="2797997"/>
            <a:ext cx="659817" cy="996459"/>
          </a:xfrm>
          <a:prstGeom prst="rect">
            <a:avLst/>
          </a:prstGeom>
        </p:spPr>
      </p:pic>
      <p:pic>
        <p:nvPicPr>
          <p:cNvPr id="18" name="Graphic 17">
            <a:extLst>
              <a:ext uri="{FF2B5EF4-FFF2-40B4-BE49-F238E27FC236}">
                <a16:creationId xmlns:a16="http://schemas.microsoft.com/office/drawing/2014/main" id="{28AEFE85-7684-4B09-9315-5EAC7B7C9E5F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9552318" y="2715187"/>
            <a:ext cx="659817" cy="817600"/>
          </a:xfrm>
          <a:prstGeom prst="rect">
            <a:avLst/>
          </a:prstGeom>
        </p:spPr>
      </p:pic>
      <p:sp>
        <p:nvSpPr>
          <p:cNvPr id="22" name="TextBox 21">
            <a:extLst>
              <a:ext uri="{FF2B5EF4-FFF2-40B4-BE49-F238E27FC236}">
                <a16:creationId xmlns:a16="http://schemas.microsoft.com/office/drawing/2014/main" id="{556B9B98-30EF-4669-8230-213DA7EB59F6}"/>
              </a:ext>
            </a:extLst>
          </p:cNvPr>
          <p:cNvSpPr txBox="1"/>
          <p:nvPr/>
        </p:nvSpPr>
        <p:spPr>
          <a:xfrm>
            <a:off x="9296961" y="3558635"/>
            <a:ext cx="1366020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 defTabSz="609585" fontAlgn="base">
              <a:spcBef>
                <a:spcPct val="0"/>
              </a:spcBef>
              <a:spcAft>
                <a:spcPct val="0"/>
              </a:spcAft>
              <a:defRPr/>
            </a:pPr>
            <a:r>
              <a:rPr lang="en-US" sz="1200" b="1" dirty="0">
                <a:solidFill>
                  <a:srgbClr val="F79646">
                    <a:lumMod val="50000"/>
                  </a:srgbClr>
                </a:solidFill>
                <a:latin typeface="Arial"/>
                <a:ea typeface="ヒラギノ角ゴ Pro W3" pitchFamily="-126" charset="-128"/>
              </a:rPr>
              <a:t>Risk Adjustment Coder</a:t>
            </a:r>
          </a:p>
        </p:txBody>
      </p:sp>
      <p:sp>
        <p:nvSpPr>
          <p:cNvPr id="23" name="TextBox 22">
            <a:extLst>
              <a:ext uri="{FF2B5EF4-FFF2-40B4-BE49-F238E27FC236}">
                <a16:creationId xmlns:a16="http://schemas.microsoft.com/office/drawing/2014/main" id="{BE5FA384-4166-4E2C-B2D7-3515E331E8E3}"/>
              </a:ext>
            </a:extLst>
          </p:cNvPr>
          <p:cNvSpPr txBox="1"/>
          <p:nvPr/>
        </p:nvSpPr>
        <p:spPr>
          <a:xfrm>
            <a:off x="6665568" y="3794456"/>
            <a:ext cx="1366020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 defTabSz="609585" fontAlgn="base">
              <a:spcBef>
                <a:spcPct val="0"/>
              </a:spcBef>
              <a:spcAft>
                <a:spcPct val="0"/>
              </a:spcAft>
              <a:defRPr/>
            </a:pPr>
            <a:r>
              <a:rPr lang="en-US" sz="1200" b="1" dirty="0">
                <a:solidFill>
                  <a:srgbClr val="F79646">
                    <a:lumMod val="50000"/>
                  </a:srgbClr>
                </a:solidFill>
                <a:latin typeface="Arial"/>
                <a:ea typeface="ヒラギノ角ゴ Pro W3" pitchFamily="-126" charset="-128"/>
              </a:rPr>
              <a:t>Provider</a:t>
            </a:r>
          </a:p>
        </p:txBody>
      </p:sp>
      <p:pic>
        <p:nvPicPr>
          <p:cNvPr id="24" name="Graphic 23">
            <a:extLst>
              <a:ext uri="{FF2B5EF4-FFF2-40B4-BE49-F238E27FC236}">
                <a16:creationId xmlns:a16="http://schemas.microsoft.com/office/drawing/2014/main" id="{5F02176F-6C48-4B66-BF46-F739D8F9F52D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>
            <a:off x="2364854" y="3620719"/>
            <a:ext cx="814124" cy="691379"/>
          </a:xfrm>
          <a:prstGeom prst="rect">
            <a:avLst/>
          </a:prstGeom>
        </p:spPr>
      </p:pic>
      <p:sp>
        <p:nvSpPr>
          <p:cNvPr id="26" name="TextBox 25">
            <a:extLst>
              <a:ext uri="{FF2B5EF4-FFF2-40B4-BE49-F238E27FC236}">
                <a16:creationId xmlns:a16="http://schemas.microsoft.com/office/drawing/2014/main" id="{1DE39854-6D80-4F9E-9853-5D038F217BF8}"/>
              </a:ext>
            </a:extLst>
          </p:cNvPr>
          <p:cNvSpPr txBox="1"/>
          <p:nvPr/>
        </p:nvSpPr>
        <p:spPr>
          <a:xfrm>
            <a:off x="2160141" y="4318092"/>
            <a:ext cx="1366020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 defTabSz="609585" fontAlgn="base">
              <a:spcBef>
                <a:spcPct val="0"/>
              </a:spcBef>
              <a:spcAft>
                <a:spcPct val="0"/>
              </a:spcAft>
              <a:defRPr/>
            </a:pPr>
            <a:r>
              <a:rPr lang="en-US" sz="1200" b="1" dirty="0">
                <a:solidFill>
                  <a:srgbClr val="F79646">
                    <a:lumMod val="50000"/>
                  </a:srgbClr>
                </a:solidFill>
                <a:latin typeface="Arial"/>
                <a:ea typeface="ヒラギノ角ゴ Pro W3" pitchFamily="-126" charset="-128"/>
              </a:rPr>
              <a:t>Payer</a:t>
            </a:r>
          </a:p>
        </p:txBody>
      </p:sp>
      <p:sp>
        <p:nvSpPr>
          <p:cNvPr id="27" name="Rectangle 26">
            <a:extLst>
              <a:ext uri="{FF2B5EF4-FFF2-40B4-BE49-F238E27FC236}">
                <a16:creationId xmlns:a16="http://schemas.microsoft.com/office/drawing/2014/main" id="{8E8DBBBD-C24E-42EF-A9CA-89667C8C2403}"/>
              </a:ext>
            </a:extLst>
          </p:cNvPr>
          <p:cNvSpPr/>
          <p:nvPr/>
        </p:nvSpPr>
        <p:spPr>
          <a:xfrm>
            <a:off x="2331045" y="2939742"/>
            <a:ext cx="1694923" cy="592953"/>
          </a:xfrm>
          <a:prstGeom prst="rect">
            <a:avLst/>
          </a:prstGeom>
          <a:solidFill>
            <a:schemeClr val="accent1"/>
          </a:solidFill>
          <a:ln>
            <a:solidFill>
              <a:schemeClr val="accent1"/>
            </a:solidFill>
          </a:ln>
        </p:spPr>
        <p:style>
          <a:lnRef idx="2">
            <a:schemeClr val="accent2">
              <a:shade val="50000"/>
            </a:schemeClr>
          </a:lnRef>
          <a:fillRef idx="1">
            <a:schemeClr val="accent2"/>
          </a:fillRef>
          <a:effectRef idx="0">
            <a:schemeClr val="accent2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600" dirty="0"/>
              <a:t>Generation</a:t>
            </a:r>
          </a:p>
          <a:p>
            <a:pPr algn="ctr"/>
            <a:r>
              <a:rPr lang="en-US" sz="1200" dirty="0"/>
              <a:t>(coding gap reports)</a:t>
            </a:r>
          </a:p>
        </p:txBody>
      </p:sp>
      <p:sp>
        <p:nvSpPr>
          <p:cNvPr id="29" name="Arrow: Curved Down 28">
            <a:extLst>
              <a:ext uri="{FF2B5EF4-FFF2-40B4-BE49-F238E27FC236}">
                <a16:creationId xmlns:a16="http://schemas.microsoft.com/office/drawing/2014/main" id="{D00F570A-3214-4CAE-B8CE-88B13114B2C2}"/>
              </a:ext>
            </a:extLst>
          </p:cNvPr>
          <p:cNvSpPr/>
          <p:nvPr/>
        </p:nvSpPr>
        <p:spPr>
          <a:xfrm>
            <a:off x="4045061" y="2666419"/>
            <a:ext cx="2957656" cy="599230"/>
          </a:xfrm>
          <a:prstGeom prst="curvedDownArrow">
            <a:avLst/>
          </a:prstGeom>
          <a:solidFill>
            <a:schemeClr val="accent6">
              <a:lumMod val="60000"/>
              <a:lumOff val="40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schemeClr val="tx1"/>
              </a:solidFill>
            </a:endParaRPr>
          </a:p>
        </p:txBody>
      </p:sp>
      <p:sp>
        <p:nvSpPr>
          <p:cNvPr id="15" name="Arrow: Curved Down 14">
            <a:extLst>
              <a:ext uri="{FF2B5EF4-FFF2-40B4-BE49-F238E27FC236}">
                <a16:creationId xmlns:a16="http://schemas.microsoft.com/office/drawing/2014/main" id="{064DA815-2EBC-40F6-83F6-36524558366D}"/>
              </a:ext>
            </a:extLst>
          </p:cNvPr>
          <p:cNvSpPr/>
          <p:nvPr/>
        </p:nvSpPr>
        <p:spPr>
          <a:xfrm>
            <a:off x="7527628" y="2174459"/>
            <a:ext cx="2067713" cy="556071"/>
          </a:xfrm>
          <a:prstGeom prst="curvedDownArrow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schemeClr val="tx1"/>
              </a:solidFill>
            </a:endParaRPr>
          </a:p>
        </p:txBody>
      </p:sp>
      <p:sp>
        <p:nvSpPr>
          <p:cNvPr id="30" name="Arrow: Curved Down 29">
            <a:extLst>
              <a:ext uri="{FF2B5EF4-FFF2-40B4-BE49-F238E27FC236}">
                <a16:creationId xmlns:a16="http://schemas.microsoft.com/office/drawing/2014/main" id="{3AAE86C9-836A-465E-A80A-5ECC827E88FF}"/>
              </a:ext>
            </a:extLst>
          </p:cNvPr>
          <p:cNvSpPr/>
          <p:nvPr/>
        </p:nvSpPr>
        <p:spPr>
          <a:xfrm rot="10800000">
            <a:off x="3873341" y="4189620"/>
            <a:ext cx="5722000" cy="885863"/>
          </a:xfrm>
          <a:prstGeom prst="curvedDownArrow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schemeClr val="tx1"/>
              </a:solidFill>
            </a:endParaRPr>
          </a:p>
        </p:txBody>
      </p:sp>
      <p:sp>
        <p:nvSpPr>
          <p:cNvPr id="19" name="Cylinder 18">
            <a:extLst>
              <a:ext uri="{FF2B5EF4-FFF2-40B4-BE49-F238E27FC236}">
                <a16:creationId xmlns:a16="http://schemas.microsoft.com/office/drawing/2014/main" id="{A34C4C6E-6266-4911-B02E-527883FB1971}"/>
              </a:ext>
            </a:extLst>
          </p:cNvPr>
          <p:cNvSpPr/>
          <p:nvPr/>
        </p:nvSpPr>
        <p:spPr>
          <a:xfrm>
            <a:off x="8197640" y="3558843"/>
            <a:ext cx="756790" cy="580170"/>
          </a:xfrm>
          <a:prstGeom prst="can">
            <a:avLst/>
          </a:prstGeom>
          <a:ln>
            <a:solidFill>
              <a:schemeClr val="bg1">
                <a:lumMod val="9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tIns="137160" rtlCol="0" anchor="ctr"/>
          <a:lstStyle/>
          <a:p>
            <a:pPr algn="ctr">
              <a:lnSpc>
                <a:spcPts val="1100"/>
              </a:lnSpc>
            </a:pPr>
            <a:r>
              <a:rPr lang="en-US" sz="1100" dirty="0"/>
              <a:t>Provider Patient Records</a:t>
            </a:r>
          </a:p>
        </p:txBody>
      </p:sp>
      <p:sp>
        <p:nvSpPr>
          <p:cNvPr id="21" name="Cylinder 20">
            <a:extLst>
              <a:ext uri="{FF2B5EF4-FFF2-40B4-BE49-F238E27FC236}">
                <a16:creationId xmlns:a16="http://schemas.microsoft.com/office/drawing/2014/main" id="{D3F92A35-7AE5-4F27-9E30-1FA04160C44D}"/>
              </a:ext>
            </a:extLst>
          </p:cNvPr>
          <p:cNvSpPr/>
          <p:nvPr/>
        </p:nvSpPr>
        <p:spPr>
          <a:xfrm>
            <a:off x="3316154" y="3661989"/>
            <a:ext cx="756790" cy="585606"/>
          </a:xfrm>
          <a:prstGeom prst="can">
            <a:avLst/>
          </a:prstGeom>
          <a:ln>
            <a:solidFill>
              <a:schemeClr val="bg1">
                <a:lumMod val="9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tIns="137160" rtlCol="0" anchor="ctr"/>
          <a:lstStyle/>
          <a:p>
            <a:pPr algn="ctr">
              <a:lnSpc>
                <a:spcPts val="1100"/>
              </a:lnSpc>
            </a:pPr>
            <a:r>
              <a:rPr lang="en-US" sz="1100" dirty="0"/>
              <a:t>Payer Patient Records</a:t>
            </a:r>
          </a:p>
        </p:txBody>
      </p:sp>
      <p:sp>
        <p:nvSpPr>
          <p:cNvPr id="20" name="Rectangle 19">
            <a:extLst>
              <a:ext uri="{FF2B5EF4-FFF2-40B4-BE49-F238E27FC236}">
                <a16:creationId xmlns:a16="http://schemas.microsoft.com/office/drawing/2014/main" id="{79A5677D-88DB-4182-9823-C1B40B85F2B4}"/>
              </a:ext>
            </a:extLst>
          </p:cNvPr>
          <p:cNvSpPr/>
          <p:nvPr/>
        </p:nvSpPr>
        <p:spPr>
          <a:xfrm>
            <a:off x="4712440" y="2900944"/>
            <a:ext cx="1543313" cy="592954"/>
          </a:xfrm>
          <a:prstGeom prst="rect">
            <a:avLst/>
          </a:prstGeom>
          <a:solidFill>
            <a:schemeClr val="accent6">
              <a:lumMod val="75000"/>
            </a:schemeClr>
          </a:solidFill>
          <a:ln>
            <a:solidFill>
              <a:schemeClr val="accent1"/>
            </a:solidFill>
          </a:ln>
        </p:spPr>
        <p:style>
          <a:lnRef idx="2">
            <a:schemeClr val="accent2">
              <a:shade val="50000"/>
            </a:schemeClr>
          </a:lnRef>
          <a:fillRef idx="1">
            <a:schemeClr val="accent2"/>
          </a:fillRef>
          <a:effectRef idx="0">
            <a:schemeClr val="accent2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600" dirty="0"/>
              <a:t>Query</a:t>
            </a:r>
          </a:p>
          <a:p>
            <a:pPr algn="ctr"/>
            <a:r>
              <a:rPr lang="en-US" sz="1200" dirty="0"/>
              <a:t>(coding gap reports)</a:t>
            </a:r>
          </a:p>
        </p:txBody>
      </p:sp>
      <p:sp>
        <p:nvSpPr>
          <p:cNvPr id="28" name="Arrow: Curved Down 27">
            <a:extLst>
              <a:ext uri="{FF2B5EF4-FFF2-40B4-BE49-F238E27FC236}">
                <a16:creationId xmlns:a16="http://schemas.microsoft.com/office/drawing/2014/main" id="{2A7858BD-689D-47B5-B2DC-863F06809245}"/>
              </a:ext>
            </a:extLst>
          </p:cNvPr>
          <p:cNvSpPr/>
          <p:nvPr/>
        </p:nvSpPr>
        <p:spPr>
          <a:xfrm rot="10800000">
            <a:off x="4045058" y="3271220"/>
            <a:ext cx="2858983" cy="450801"/>
          </a:xfrm>
          <a:prstGeom prst="curvedDownArrow">
            <a:avLst/>
          </a:prstGeom>
          <a:solidFill>
            <a:schemeClr val="accent6">
              <a:lumMod val="60000"/>
              <a:lumOff val="40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schemeClr val="tx1"/>
              </a:solidFill>
            </a:endParaRP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DD7AFA5D-D1C7-4A3B-B082-64F1EA38CFFD}"/>
              </a:ext>
            </a:extLst>
          </p:cNvPr>
          <p:cNvSpPr txBox="1"/>
          <p:nvPr/>
        </p:nvSpPr>
        <p:spPr>
          <a:xfrm>
            <a:off x="8197640" y="2176155"/>
            <a:ext cx="583429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Task</a:t>
            </a:r>
          </a:p>
        </p:txBody>
      </p:sp>
      <p:sp>
        <p:nvSpPr>
          <p:cNvPr id="32" name="TextBox 31">
            <a:extLst>
              <a:ext uri="{FF2B5EF4-FFF2-40B4-BE49-F238E27FC236}">
                <a16:creationId xmlns:a16="http://schemas.microsoft.com/office/drawing/2014/main" id="{4F21EC11-E5A5-4A0B-8B7B-3F3813B97252}"/>
              </a:ext>
            </a:extLst>
          </p:cNvPr>
          <p:cNvSpPr txBox="1"/>
          <p:nvPr/>
        </p:nvSpPr>
        <p:spPr>
          <a:xfrm>
            <a:off x="6442626" y="4702440"/>
            <a:ext cx="583429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Task</a:t>
            </a:r>
          </a:p>
        </p:txBody>
      </p:sp>
      <p:sp>
        <p:nvSpPr>
          <p:cNvPr id="25" name="Rectangle 24">
            <a:extLst>
              <a:ext uri="{FF2B5EF4-FFF2-40B4-BE49-F238E27FC236}">
                <a16:creationId xmlns:a16="http://schemas.microsoft.com/office/drawing/2014/main" id="{F63D65DC-7995-483F-9DBD-92ADFC1E55CF}"/>
              </a:ext>
            </a:extLst>
          </p:cNvPr>
          <p:cNvSpPr/>
          <p:nvPr/>
        </p:nvSpPr>
        <p:spPr>
          <a:xfrm>
            <a:off x="6524320" y="2178230"/>
            <a:ext cx="3987679" cy="2893542"/>
          </a:xfrm>
          <a:prstGeom prst="rect">
            <a:avLst/>
          </a:prstGeom>
          <a:solidFill>
            <a:schemeClr val="accent4">
              <a:lumMod val="40000"/>
              <a:lumOff val="60000"/>
              <a:alpha val="12000"/>
            </a:schemeClr>
          </a:solidFill>
          <a:ln>
            <a:solidFill>
              <a:schemeClr val="accent1">
                <a:shade val="50000"/>
                <a:alpha val="25000"/>
              </a:schemeClr>
            </a:solidFill>
            <a:prstDash val="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87698717"/>
      </p:ext>
    </p:extLst>
  </p:cSld>
  <p:clrMapOvr>
    <a:masterClrMapping/>
  </p:clrMapOvr>
</p:sld>
</file>

<file path=ppt/slides/slide4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6992073-D200-42E0-9FB9-A038AA6450B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91768" y="197930"/>
            <a:ext cx="10972800" cy="1043103"/>
          </a:xfrm>
        </p:spPr>
        <p:txBody>
          <a:bodyPr/>
          <a:lstStyle/>
          <a:p>
            <a:r>
              <a:rPr lang="en-US" dirty="0"/>
              <a:t>New Figure: Lifecycle Phases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9A34AC66-A8B9-4352-A5F1-CFA56745734D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>
          <a:xfrm>
            <a:off x="864779" y="1820755"/>
            <a:ext cx="10971844" cy="3456096"/>
          </a:xfrm>
        </p:spPr>
        <p:txBody>
          <a:bodyPr/>
          <a:lstStyle/>
          <a:p>
            <a:pPr marL="0" indent="0">
              <a:buNone/>
            </a:pPr>
            <a:r>
              <a:rPr lang="en-US" dirty="0"/>
              <a:t> </a:t>
            </a:r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9B90074F-DE65-45EB-9571-9D3C185F2116}"/>
              </a:ext>
            </a:extLst>
          </p:cNvPr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fld id="{6CACE926-AEF5-4BFE-8BD7-24414108CB7B}" type="slidenum">
              <a:rPr lang="en-US" altLang="en-US" smtClean="0"/>
              <a:pPr/>
              <a:t>46</a:t>
            </a:fld>
            <a:endParaRPr lang="en-US" altLang="en-US" dirty="0"/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AA5AC8FB-912D-43A8-8D0F-F9254F59B281}"/>
              </a:ext>
            </a:extLst>
          </p:cNvPr>
          <p:cNvSpPr/>
          <p:nvPr/>
        </p:nvSpPr>
        <p:spPr>
          <a:xfrm>
            <a:off x="7668555" y="3335372"/>
            <a:ext cx="1709840" cy="604332"/>
          </a:xfrm>
          <a:prstGeom prst="rect">
            <a:avLst/>
          </a:prstGeom>
        </p:spPr>
        <p:style>
          <a:lnRef idx="2">
            <a:schemeClr val="accent2">
              <a:shade val="50000"/>
            </a:schemeClr>
          </a:lnRef>
          <a:fillRef idx="1">
            <a:schemeClr val="accent2"/>
          </a:fillRef>
          <a:effectRef idx="0">
            <a:schemeClr val="accent2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600" dirty="0"/>
              <a:t>Remediation</a:t>
            </a:r>
          </a:p>
          <a:p>
            <a:pPr algn="ctr"/>
            <a:r>
              <a:rPr lang="en-US" sz="1200" dirty="0"/>
              <a:t>(gap closure/ invalidation/net-new)</a:t>
            </a:r>
          </a:p>
        </p:txBody>
      </p:sp>
      <p:pic>
        <p:nvPicPr>
          <p:cNvPr id="17" name="Graphic 16">
            <a:extLst>
              <a:ext uri="{FF2B5EF4-FFF2-40B4-BE49-F238E27FC236}">
                <a16:creationId xmlns:a16="http://schemas.microsoft.com/office/drawing/2014/main" id="{5711CF3B-BEF6-4360-AD34-59E17D963A15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6921590" y="3199669"/>
            <a:ext cx="659817" cy="996459"/>
          </a:xfrm>
          <a:prstGeom prst="rect">
            <a:avLst/>
          </a:prstGeom>
        </p:spPr>
      </p:pic>
      <p:pic>
        <p:nvPicPr>
          <p:cNvPr id="18" name="Graphic 17">
            <a:extLst>
              <a:ext uri="{FF2B5EF4-FFF2-40B4-BE49-F238E27FC236}">
                <a16:creationId xmlns:a16="http://schemas.microsoft.com/office/drawing/2014/main" id="{28AEFE85-7684-4B09-9315-5EAC7B7C9E5F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9550777" y="3116859"/>
            <a:ext cx="659817" cy="817600"/>
          </a:xfrm>
          <a:prstGeom prst="rect">
            <a:avLst/>
          </a:prstGeom>
        </p:spPr>
      </p:pic>
      <p:sp>
        <p:nvSpPr>
          <p:cNvPr id="22" name="TextBox 21">
            <a:extLst>
              <a:ext uri="{FF2B5EF4-FFF2-40B4-BE49-F238E27FC236}">
                <a16:creationId xmlns:a16="http://schemas.microsoft.com/office/drawing/2014/main" id="{556B9B98-30EF-4669-8230-213DA7EB59F6}"/>
              </a:ext>
            </a:extLst>
          </p:cNvPr>
          <p:cNvSpPr txBox="1"/>
          <p:nvPr/>
        </p:nvSpPr>
        <p:spPr>
          <a:xfrm>
            <a:off x="9295420" y="3960307"/>
            <a:ext cx="1366020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 defTabSz="609585" fontAlgn="base">
              <a:spcBef>
                <a:spcPct val="0"/>
              </a:spcBef>
              <a:spcAft>
                <a:spcPct val="0"/>
              </a:spcAft>
              <a:defRPr/>
            </a:pPr>
            <a:r>
              <a:rPr lang="en-US" sz="1200" b="1" dirty="0">
                <a:solidFill>
                  <a:srgbClr val="F79646">
                    <a:lumMod val="50000"/>
                  </a:srgbClr>
                </a:solidFill>
                <a:latin typeface="Arial"/>
                <a:ea typeface="ヒラギノ角ゴ Pro W3" pitchFamily="-126" charset="-128"/>
              </a:rPr>
              <a:t>Risk Adjustment Coder</a:t>
            </a:r>
          </a:p>
        </p:txBody>
      </p:sp>
      <p:sp>
        <p:nvSpPr>
          <p:cNvPr id="23" name="TextBox 22">
            <a:extLst>
              <a:ext uri="{FF2B5EF4-FFF2-40B4-BE49-F238E27FC236}">
                <a16:creationId xmlns:a16="http://schemas.microsoft.com/office/drawing/2014/main" id="{BE5FA384-4166-4E2C-B2D7-3515E331E8E3}"/>
              </a:ext>
            </a:extLst>
          </p:cNvPr>
          <p:cNvSpPr txBox="1"/>
          <p:nvPr/>
        </p:nvSpPr>
        <p:spPr>
          <a:xfrm>
            <a:off x="6664027" y="4196128"/>
            <a:ext cx="1366020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 defTabSz="609585" fontAlgn="base">
              <a:spcBef>
                <a:spcPct val="0"/>
              </a:spcBef>
              <a:spcAft>
                <a:spcPct val="0"/>
              </a:spcAft>
              <a:defRPr/>
            </a:pPr>
            <a:r>
              <a:rPr lang="en-US" sz="1200" b="1" dirty="0">
                <a:solidFill>
                  <a:srgbClr val="F79646">
                    <a:lumMod val="50000"/>
                  </a:srgbClr>
                </a:solidFill>
                <a:latin typeface="Arial"/>
                <a:ea typeface="ヒラギノ角ゴ Pro W3" pitchFamily="-126" charset="-128"/>
              </a:rPr>
              <a:t>Provider</a:t>
            </a:r>
          </a:p>
        </p:txBody>
      </p:sp>
      <p:pic>
        <p:nvPicPr>
          <p:cNvPr id="24" name="Graphic 23">
            <a:extLst>
              <a:ext uri="{FF2B5EF4-FFF2-40B4-BE49-F238E27FC236}">
                <a16:creationId xmlns:a16="http://schemas.microsoft.com/office/drawing/2014/main" id="{5F02176F-6C48-4B66-BF46-F739D8F9F52D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>
            <a:off x="2364854" y="3620719"/>
            <a:ext cx="814124" cy="691379"/>
          </a:xfrm>
          <a:prstGeom prst="rect">
            <a:avLst/>
          </a:prstGeom>
        </p:spPr>
      </p:pic>
      <p:sp>
        <p:nvSpPr>
          <p:cNvPr id="26" name="TextBox 25">
            <a:extLst>
              <a:ext uri="{FF2B5EF4-FFF2-40B4-BE49-F238E27FC236}">
                <a16:creationId xmlns:a16="http://schemas.microsoft.com/office/drawing/2014/main" id="{1DE39854-6D80-4F9E-9853-5D038F217BF8}"/>
              </a:ext>
            </a:extLst>
          </p:cNvPr>
          <p:cNvSpPr txBox="1"/>
          <p:nvPr/>
        </p:nvSpPr>
        <p:spPr>
          <a:xfrm>
            <a:off x="2160141" y="4318092"/>
            <a:ext cx="1366020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 defTabSz="609585" fontAlgn="base">
              <a:spcBef>
                <a:spcPct val="0"/>
              </a:spcBef>
              <a:spcAft>
                <a:spcPct val="0"/>
              </a:spcAft>
              <a:defRPr/>
            </a:pPr>
            <a:r>
              <a:rPr lang="en-US" sz="1200" b="1" dirty="0">
                <a:solidFill>
                  <a:srgbClr val="F79646">
                    <a:lumMod val="50000"/>
                  </a:srgbClr>
                </a:solidFill>
                <a:latin typeface="Arial"/>
                <a:ea typeface="ヒラギノ角ゴ Pro W3" pitchFamily="-126" charset="-128"/>
              </a:rPr>
              <a:t>Payer</a:t>
            </a:r>
          </a:p>
        </p:txBody>
      </p:sp>
      <p:sp>
        <p:nvSpPr>
          <p:cNvPr id="27" name="Rectangle 26">
            <a:extLst>
              <a:ext uri="{FF2B5EF4-FFF2-40B4-BE49-F238E27FC236}">
                <a16:creationId xmlns:a16="http://schemas.microsoft.com/office/drawing/2014/main" id="{8E8DBBBD-C24E-42EF-A9CA-89667C8C2403}"/>
              </a:ext>
            </a:extLst>
          </p:cNvPr>
          <p:cNvSpPr/>
          <p:nvPr/>
        </p:nvSpPr>
        <p:spPr>
          <a:xfrm>
            <a:off x="2331045" y="2939742"/>
            <a:ext cx="1694923" cy="592953"/>
          </a:xfrm>
          <a:prstGeom prst="rect">
            <a:avLst/>
          </a:prstGeom>
          <a:solidFill>
            <a:schemeClr val="accent1"/>
          </a:solidFill>
          <a:ln>
            <a:solidFill>
              <a:schemeClr val="accent1"/>
            </a:solidFill>
          </a:ln>
        </p:spPr>
        <p:style>
          <a:lnRef idx="2">
            <a:schemeClr val="accent2">
              <a:shade val="50000"/>
            </a:schemeClr>
          </a:lnRef>
          <a:fillRef idx="1">
            <a:schemeClr val="accent2"/>
          </a:fillRef>
          <a:effectRef idx="0">
            <a:schemeClr val="accent2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600" dirty="0"/>
              <a:t>Generation</a:t>
            </a:r>
          </a:p>
          <a:p>
            <a:pPr algn="ctr"/>
            <a:r>
              <a:rPr lang="en-US" sz="1200" dirty="0"/>
              <a:t>(coding gap reports)</a:t>
            </a:r>
          </a:p>
        </p:txBody>
      </p:sp>
      <p:sp>
        <p:nvSpPr>
          <p:cNvPr id="29" name="Arrow: Curved Down 28">
            <a:extLst>
              <a:ext uri="{FF2B5EF4-FFF2-40B4-BE49-F238E27FC236}">
                <a16:creationId xmlns:a16="http://schemas.microsoft.com/office/drawing/2014/main" id="{D00F570A-3214-4CAE-B8CE-88B13114B2C2}"/>
              </a:ext>
            </a:extLst>
          </p:cNvPr>
          <p:cNvSpPr/>
          <p:nvPr/>
        </p:nvSpPr>
        <p:spPr>
          <a:xfrm>
            <a:off x="4144934" y="2270366"/>
            <a:ext cx="2957656" cy="599230"/>
          </a:xfrm>
          <a:prstGeom prst="curvedDownArrow">
            <a:avLst/>
          </a:prstGeom>
          <a:solidFill>
            <a:schemeClr val="accent6">
              <a:lumMod val="60000"/>
              <a:lumOff val="40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schemeClr val="tx1"/>
              </a:solidFill>
            </a:endParaRPr>
          </a:p>
        </p:txBody>
      </p:sp>
      <p:sp>
        <p:nvSpPr>
          <p:cNvPr id="15" name="Arrow: Curved Down 14">
            <a:extLst>
              <a:ext uri="{FF2B5EF4-FFF2-40B4-BE49-F238E27FC236}">
                <a16:creationId xmlns:a16="http://schemas.microsoft.com/office/drawing/2014/main" id="{064DA815-2EBC-40F6-83F6-36524558366D}"/>
              </a:ext>
            </a:extLst>
          </p:cNvPr>
          <p:cNvSpPr/>
          <p:nvPr/>
        </p:nvSpPr>
        <p:spPr>
          <a:xfrm>
            <a:off x="7528651" y="2689726"/>
            <a:ext cx="2067713" cy="556071"/>
          </a:xfrm>
          <a:prstGeom prst="curvedDownArrow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schemeClr val="tx1"/>
              </a:solidFill>
            </a:endParaRPr>
          </a:p>
        </p:txBody>
      </p:sp>
      <p:sp>
        <p:nvSpPr>
          <p:cNvPr id="30" name="Arrow: Curved Down 29">
            <a:extLst>
              <a:ext uri="{FF2B5EF4-FFF2-40B4-BE49-F238E27FC236}">
                <a16:creationId xmlns:a16="http://schemas.microsoft.com/office/drawing/2014/main" id="{3AAE86C9-836A-465E-A80A-5ECC827E88FF}"/>
              </a:ext>
            </a:extLst>
          </p:cNvPr>
          <p:cNvSpPr/>
          <p:nvPr/>
        </p:nvSpPr>
        <p:spPr>
          <a:xfrm rot="10800000">
            <a:off x="3873341" y="4189619"/>
            <a:ext cx="5505054" cy="885863"/>
          </a:xfrm>
          <a:prstGeom prst="curvedDownArrow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schemeClr val="tx1"/>
              </a:solidFill>
            </a:endParaRPr>
          </a:p>
        </p:txBody>
      </p:sp>
      <p:sp>
        <p:nvSpPr>
          <p:cNvPr id="19" name="Cylinder 18">
            <a:extLst>
              <a:ext uri="{FF2B5EF4-FFF2-40B4-BE49-F238E27FC236}">
                <a16:creationId xmlns:a16="http://schemas.microsoft.com/office/drawing/2014/main" id="{A34C4C6E-6266-4911-B02E-527883FB1971}"/>
              </a:ext>
            </a:extLst>
          </p:cNvPr>
          <p:cNvSpPr/>
          <p:nvPr/>
        </p:nvSpPr>
        <p:spPr>
          <a:xfrm>
            <a:off x="8196099" y="3960515"/>
            <a:ext cx="756790" cy="580170"/>
          </a:xfrm>
          <a:prstGeom prst="can">
            <a:avLst/>
          </a:prstGeom>
          <a:ln>
            <a:solidFill>
              <a:schemeClr val="bg1">
                <a:lumMod val="9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tIns="137160" rtlCol="0" anchor="ctr"/>
          <a:lstStyle/>
          <a:p>
            <a:pPr algn="ctr">
              <a:lnSpc>
                <a:spcPts val="1100"/>
              </a:lnSpc>
            </a:pPr>
            <a:r>
              <a:rPr lang="en-US" sz="1100" dirty="0"/>
              <a:t>Provider Patient Records</a:t>
            </a:r>
          </a:p>
        </p:txBody>
      </p:sp>
      <p:sp>
        <p:nvSpPr>
          <p:cNvPr id="21" name="Cylinder 20">
            <a:extLst>
              <a:ext uri="{FF2B5EF4-FFF2-40B4-BE49-F238E27FC236}">
                <a16:creationId xmlns:a16="http://schemas.microsoft.com/office/drawing/2014/main" id="{D3F92A35-7AE5-4F27-9E30-1FA04160C44D}"/>
              </a:ext>
            </a:extLst>
          </p:cNvPr>
          <p:cNvSpPr/>
          <p:nvPr/>
        </p:nvSpPr>
        <p:spPr>
          <a:xfrm>
            <a:off x="3316154" y="3661989"/>
            <a:ext cx="756790" cy="585606"/>
          </a:xfrm>
          <a:prstGeom prst="can">
            <a:avLst/>
          </a:prstGeom>
          <a:ln>
            <a:solidFill>
              <a:schemeClr val="bg1">
                <a:lumMod val="9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tIns="137160" rtlCol="0" anchor="ctr"/>
          <a:lstStyle/>
          <a:p>
            <a:pPr algn="ctr">
              <a:lnSpc>
                <a:spcPts val="1100"/>
              </a:lnSpc>
            </a:pPr>
            <a:r>
              <a:rPr lang="en-US" sz="1100" dirty="0"/>
              <a:t>Payer Patient Records</a:t>
            </a:r>
          </a:p>
        </p:txBody>
      </p:sp>
      <p:sp>
        <p:nvSpPr>
          <p:cNvPr id="20" name="Rectangle 19">
            <a:extLst>
              <a:ext uri="{FF2B5EF4-FFF2-40B4-BE49-F238E27FC236}">
                <a16:creationId xmlns:a16="http://schemas.microsoft.com/office/drawing/2014/main" id="{79A5677D-88DB-4182-9823-C1B40B85F2B4}"/>
              </a:ext>
            </a:extLst>
          </p:cNvPr>
          <p:cNvSpPr/>
          <p:nvPr/>
        </p:nvSpPr>
        <p:spPr>
          <a:xfrm>
            <a:off x="4812313" y="2504891"/>
            <a:ext cx="1543313" cy="592954"/>
          </a:xfrm>
          <a:prstGeom prst="rect">
            <a:avLst/>
          </a:prstGeom>
          <a:solidFill>
            <a:schemeClr val="accent6">
              <a:lumMod val="75000"/>
            </a:schemeClr>
          </a:solidFill>
          <a:ln>
            <a:solidFill>
              <a:schemeClr val="accent1"/>
            </a:solidFill>
          </a:ln>
        </p:spPr>
        <p:style>
          <a:lnRef idx="2">
            <a:schemeClr val="accent2">
              <a:shade val="50000"/>
            </a:schemeClr>
          </a:lnRef>
          <a:fillRef idx="1">
            <a:schemeClr val="accent2"/>
          </a:fillRef>
          <a:effectRef idx="0">
            <a:schemeClr val="accent2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600" dirty="0"/>
              <a:t>Query</a:t>
            </a:r>
          </a:p>
          <a:p>
            <a:pPr algn="ctr"/>
            <a:r>
              <a:rPr lang="en-US" sz="1200" dirty="0"/>
              <a:t>(coding gap reports)</a:t>
            </a:r>
          </a:p>
        </p:txBody>
      </p:sp>
      <p:sp>
        <p:nvSpPr>
          <p:cNvPr id="28" name="Arrow: Curved Down 27">
            <a:extLst>
              <a:ext uri="{FF2B5EF4-FFF2-40B4-BE49-F238E27FC236}">
                <a16:creationId xmlns:a16="http://schemas.microsoft.com/office/drawing/2014/main" id="{2A7858BD-689D-47B5-B2DC-863F06809245}"/>
              </a:ext>
            </a:extLst>
          </p:cNvPr>
          <p:cNvSpPr/>
          <p:nvPr/>
        </p:nvSpPr>
        <p:spPr>
          <a:xfrm rot="10800000">
            <a:off x="4144931" y="2875167"/>
            <a:ext cx="2858983" cy="450801"/>
          </a:xfrm>
          <a:prstGeom prst="curvedDownArrow">
            <a:avLst/>
          </a:prstGeom>
          <a:solidFill>
            <a:schemeClr val="accent6">
              <a:lumMod val="60000"/>
              <a:lumOff val="40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schemeClr val="tx1"/>
              </a:solidFill>
            </a:endParaRP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DD7AFA5D-D1C7-4A3B-B082-64F1EA38CFFD}"/>
              </a:ext>
            </a:extLst>
          </p:cNvPr>
          <p:cNvSpPr txBox="1"/>
          <p:nvPr/>
        </p:nvSpPr>
        <p:spPr>
          <a:xfrm>
            <a:off x="8188568" y="2730442"/>
            <a:ext cx="583429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Task</a:t>
            </a:r>
          </a:p>
        </p:txBody>
      </p:sp>
      <p:sp>
        <p:nvSpPr>
          <p:cNvPr id="32" name="TextBox 31">
            <a:extLst>
              <a:ext uri="{FF2B5EF4-FFF2-40B4-BE49-F238E27FC236}">
                <a16:creationId xmlns:a16="http://schemas.microsoft.com/office/drawing/2014/main" id="{4F21EC11-E5A5-4A0B-8B7B-3F3813B97252}"/>
              </a:ext>
            </a:extLst>
          </p:cNvPr>
          <p:cNvSpPr txBox="1"/>
          <p:nvPr/>
        </p:nvSpPr>
        <p:spPr>
          <a:xfrm>
            <a:off x="6668069" y="4683517"/>
            <a:ext cx="583429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Task</a:t>
            </a:r>
          </a:p>
        </p:txBody>
      </p:sp>
      <p:sp>
        <p:nvSpPr>
          <p:cNvPr id="25" name="Rectangle 24">
            <a:extLst>
              <a:ext uri="{FF2B5EF4-FFF2-40B4-BE49-F238E27FC236}">
                <a16:creationId xmlns:a16="http://schemas.microsoft.com/office/drawing/2014/main" id="{F63D65DC-7995-483F-9DBD-92ADFC1E55CF}"/>
              </a:ext>
            </a:extLst>
          </p:cNvPr>
          <p:cNvSpPr/>
          <p:nvPr/>
        </p:nvSpPr>
        <p:spPr>
          <a:xfrm>
            <a:off x="4031373" y="3464300"/>
            <a:ext cx="6486031" cy="1751136"/>
          </a:xfrm>
          <a:prstGeom prst="rect">
            <a:avLst/>
          </a:prstGeom>
          <a:solidFill>
            <a:schemeClr val="accent4">
              <a:lumMod val="75000"/>
              <a:alpha val="12000"/>
            </a:schemeClr>
          </a:solidFill>
          <a:ln>
            <a:noFill/>
            <a:prstDash val="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31" name="Rectangle 30">
            <a:extLst>
              <a:ext uri="{FF2B5EF4-FFF2-40B4-BE49-F238E27FC236}">
                <a16:creationId xmlns:a16="http://schemas.microsoft.com/office/drawing/2014/main" id="{A15FE628-F34E-4CBF-984C-9EEE9B1BF69D}"/>
              </a:ext>
            </a:extLst>
          </p:cNvPr>
          <p:cNvSpPr/>
          <p:nvPr/>
        </p:nvSpPr>
        <p:spPr>
          <a:xfrm>
            <a:off x="6633194" y="2284332"/>
            <a:ext cx="3882599" cy="1179968"/>
          </a:xfrm>
          <a:prstGeom prst="rect">
            <a:avLst/>
          </a:prstGeom>
          <a:solidFill>
            <a:schemeClr val="accent4">
              <a:lumMod val="75000"/>
              <a:alpha val="12000"/>
            </a:schemeClr>
          </a:solidFill>
          <a:ln>
            <a:noFill/>
            <a:prstDash val="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33" name="Rectangle 32">
            <a:extLst>
              <a:ext uri="{FF2B5EF4-FFF2-40B4-BE49-F238E27FC236}">
                <a16:creationId xmlns:a16="http://schemas.microsoft.com/office/drawing/2014/main" id="{DE8343F4-F539-43E1-9E62-72D49257EC88}"/>
              </a:ext>
            </a:extLst>
          </p:cNvPr>
          <p:cNvSpPr/>
          <p:nvPr/>
        </p:nvSpPr>
        <p:spPr>
          <a:xfrm>
            <a:off x="6435574" y="6277377"/>
            <a:ext cx="1709840" cy="604332"/>
          </a:xfrm>
          <a:prstGeom prst="rect">
            <a:avLst/>
          </a:prstGeom>
        </p:spPr>
        <p:style>
          <a:lnRef idx="2">
            <a:schemeClr val="accent2">
              <a:shade val="50000"/>
            </a:schemeClr>
          </a:lnRef>
          <a:fillRef idx="1">
            <a:schemeClr val="accent2"/>
          </a:fillRef>
          <a:effectRef idx="0">
            <a:schemeClr val="accent2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600" dirty="0"/>
              <a:t>Remediation</a:t>
            </a:r>
          </a:p>
          <a:p>
            <a:pPr algn="ctr"/>
            <a:r>
              <a:rPr lang="en-US" sz="1200" dirty="0"/>
              <a:t>(gap closure/ invalidation/net-new)</a:t>
            </a:r>
          </a:p>
        </p:txBody>
      </p:sp>
    </p:spTree>
    <p:extLst>
      <p:ext uri="{BB962C8B-B14F-4D97-AF65-F5344CB8AC3E}">
        <p14:creationId xmlns:p14="http://schemas.microsoft.com/office/powerpoint/2010/main" val="2340207910"/>
      </p:ext>
    </p:extLst>
  </p:cSld>
  <p:clrMapOvr>
    <a:masterClrMapping/>
  </p:clrMapOvr>
</p:sld>
</file>

<file path=ppt/slides/slide4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6992073-D200-42E0-9FB9-A038AA6450B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91768" y="197930"/>
            <a:ext cx="10972800" cy="1043103"/>
          </a:xfrm>
        </p:spPr>
        <p:txBody>
          <a:bodyPr/>
          <a:lstStyle/>
          <a:p>
            <a:r>
              <a:rPr lang="en-US" dirty="0"/>
              <a:t>New Figure: Lifecycle Phases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9A34AC66-A8B9-4352-A5F1-CFA56745734D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>
          <a:xfrm>
            <a:off x="864779" y="1820755"/>
            <a:ext cx="10971844" cy="3456096"/>
          </a:xfrm>
        </p:spPr>
        <p:txBody>
          <a:bodyPr/>
          <a:lstStyle/>
          <a:p>
            <a:pPr marL="0" indent="0">
              <a:buNone/>
            </a:pPr>
            <a:r>
              <a:rPr lang="en-US" dirty="0"/>
              <a:t> </a:t>
            </a:r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9B90074F-DE65-45EB-9571-9D3C185F2116}"/>
              </a:ext>
            </a:extLst>
          </p:cNvPr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fld id="{6CACE926-AEF5-4BFE-8BD7-24414108CB7B}" type="slidenum">
              <a:rPr lang="en-US" altLang="en-US" smtClean="0"/>
              <a:pPr/>
              <a:t>47</a:t>
            </a:fld>
            <a:endParaRPr lang="en-US" altLang="en-US" dirty="0"/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AA5AC8FB-912D-43A8-8D0F-F9254F59B281}"/>
              </a:ext>
            </a:extLst>
          </p:cNvPr>
          <p:cNvSpPr/>
          <p:nvPr/>
        </p:nvSpPr>
        <p:spPr>
          <a:xfrm>
            <a:off x="7668555" y="3335372"/>
            <a:ext cx="1709840" cy="604332"/>
          </a:xfrm>
          <a:prstGeom prst="rect">
            <a:avLst/>
          </a:prstGeom>
        </p:spPr>
        <p:style>
          <a:lnRef idx="2">
            <a:schemeClr val="accent2">
              <a:shade val="50000"/>
            </a:schemeClr>
          </a:lnRef>
          <a:fillRef idx="1">
            <a:schemeClr val="accent2"/>
          </a:fillRef>
          <a:effectRef idx="0">
            <a:schemeClr val="accent2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600" dirty="0"/>
              <a:t>Remediation</a:t>
            </a:r>
          </a:p>
          <a:p>
            <a:pPr algn="ctr"/>
            <a:r>
              <a:rPr lang="en-US" sz="1200" dirty="0"/>
              <a:t>(gap closure/ invalidation/net-new)</a:t>
            </a:r>
          </a:p>
        </p:txBody>
      </p:sp>
      <p:pic>
        <p:nvPicPr>
          <p:cNvPr id="17" name="Graphic 16">
            <a:extLst>
              <a:ext uri="{FF2B5EF4-FFF2-40B4-BE49-F238E27FC236}">
                <a16:creationId xmlns:a16="http://schemas.microsoft.com/office/drawing/2014/main" id="{5711CF3B-BEF6-4360-AD34-59E17D963A15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6921590" y="3199669"/>
            <a:ext cx="659817" cy="996459"/>
          </a:xfrm>
          <a:prstGeom prst="rect">
            <a:avLst/>
          </a:prstGeom>
        </p:spPr>
      </p:pic>
      <p:sp>
        <p:nvSpPr>
          <p:cNvPr id="22" name="TextBox 21">
            <a:extLst>
              <a:ext uri="{FF2B5EF4-FFF2-40B4-BE49-F238E27FC236}">
                <a16:creationId xmlns:a16="http://schemas.microsoft.com/office/drawing/2014/main" id="{556B9B98-30EF-4669-8230-213DA7EB59F6}"/>
              </a:ext>
            </a:extLst>
          </p:cNvPr>
          <p:cNvSpPr txBox="1"/>
          <p:nvPr/>
        </p:nvSpPr>
        <p:spPr>
          <a:xfrm>
            <a:off x="9295420" y="3960307"/>
            <a:ext cx="1366020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 defTabSz="609585" fontAlgn="base">
              <a:spcBef>
                <a:spcPct val="0"/>
              </a:spcBef>
              <a:spcAft>
                <a:spcPct val="0"/>
              </a:spcAft>
              <a:defRPr/>
            </a:pPr>
            <a:r>
              <a:rPr lang="en-US" sz="1200" b="1" dirty="0">
                <a:solidFill>
                  <a:srgbClr val="F79646">
                    <a:lumMod val="50000"/>
                  </a:srgbClr>
                </a:solidFill>
                <a:latin typeface="Arial"/>
                <a:ea typeface="ヒラギノ角ゴ Pro W3" pitchFamily="-126" charset="-128"/>
              </a:rPr>
              <a:t>Risk Adjustment Coder</a:t>
            </a:r>
          </a:p>
        </p:txBody>
      </p:sp>
      <p:sp>
        <p:nvSpPr>
          <p:cNvPr id="23" name="TextBox 22">
            <a:extLst>
              <a:ext uri="{FF2B5EF4-FFF2-40B4-BE49-F238E27FC236}">
                <a16:creationId xmlns:a16="http://schemas.microsoft.com/office/drawing/2014/main" id="{BE5FA384-4166-4E2C-B2D7-3515E331E8E3}"/>
              </a:ext>
            </a:extLst>
          </p:cNvPr>
          <p:cNvSpPr txBox="1"/>
          <p:nvPr/>
        </p:nvSpPr>
        <p:spPr>
          <a:xfrm>
            <a:off x="6664027" y="4196128"/>
            <a:ext cx="1366020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 defTabSz="609585" fontAlgn="base">
              <a:spcBef>
                <a:spcPct val="0"/>
              </a:spcBef>
              <a:spcAft>
                <a:spcPct val="0"/>
              </a:spcAft>
              <a:defRPr/>
            </a:pPr>
            <a:r>
              <a:rPr lang="en-US" sz="1200" b="1" dirty="0">
                <a:solidFill>
                  <a:srgbClr val="F79646">
                    <a:lumMod val="50000"/>
                  </a:srgbClr>
                </a:solidFill>
                <a:latin typeface="Arial"/>
                <a:ea typeface="ヒラギノ角ゴ Pro W3" pitchFamily="-126" charset="-128"/>
              </a:rPr>
              <a:t>Provider</a:t>
            </a:r>
          </a:p>
        </p:txBody>
      </p:sp>
      <p:pic>
        <p:nvPicPr>
          <p:cNvPr id="24" name="Graphic 23">
            <a:extLst>
              <a:ext uri="{FF2B5EF4-FFF2-40B4-BE49-F238E27FC236}">
                <a16:creationId xmlns:a16="http://schemas.microsoft.com/office/drawing/2014/main" id="{5F02176F-6C48-4B66-BF46-F739D8F9F52D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2364854" y="3620719"/>
            <a:ext cx="814124" cy="691379"/>
          </a:xfrm>
          <a:prstGeom prst="rect">
            <a:avLst/>
          </a:prstGeom>
        </p:spPr>
      </p:pic>
      <p:sp>
        <p:nvSpPr>
          <p:cNvPr id="26" name="TextBox 25">
            <a:extLst>
              <a:ext uri="{FF2B5EF4-FFF2-40B4-BE49-F238E27FC236}">
                <a16:creationId xmlns:a16="http://schemas.microsoft.com/office/drawing/2014/main" id="{1DE39854-6D80-4F9E-9853-5D038F217BF8}"/>
              </a:ext>
            </a:extLst>
          </p:cNvPr>
          <p:cNvSpPr txBox="1"/>
          <p:nvPr/>
        </p:nvSpPr>
        <p:spPr>
          <a:xfrm>
            <a:off x="2160141" y="4318092"/>
            <a:ext cx="1366020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 defTabSz="609585" fontAlgn="base">
              <a:spcBef>
                <a:spcPct val="0"/>
              </a:spcBef>
              <a:spcAft>
                <a:spcPct val="0"/>
              </a:spcAft>
              <a:defRPr/>
            </a:pPr>
            <a:r>
              <a:rPr lang="en-US" sz="1200" b="1" dirty="0">
                <a:solidFill>
                  <a:srgbClr val="F79646">
                    <a:lumMod val="50000"/>
                  </a:srgbClr>
                </a:solidFill>
                <a:latin typeface="Arial"/>
                <a:ea typeface="ヒラギノ角ゴ Pro W3" pitchFamily="-126" charset="-128"/>
              </a:rPr>
              <a:t>Payer</a:t>
            </a:r>
          </a:p>
        </p:txBody>
      </p:sp>
      <p:sp>
        <p:nvSpPr>
          <p:cNvPr id="27" name="Rectangle 26">
            <a:extLst>
              <a:ext uri="{FF2B5EF4-FFF2-40B4-BE49-F238E27FC236}">
                <a16:creationId xmlns:a16="http://schemas.microsoft.com/office/drawing/2014/main" id="{8E8DBBBD-C24E-42EF-A9CA-89667C8C2403}"/>
              </a:ext>
            </a:extLst>
          </p:cNvPr>
          <p:cNvSpPr/>
          <p:nvPr/>
        </p:nvSpPr>
        <p:spPr>
          <a:xfrm>
            <a:off x="2331045" y="2939742"/>
            <a:ext cx="1694923" cy="592953"/>
          </a:xfrm>
          <a:prstGeom prst="rect">
            <a:avLst/>
          </a:prstGeom>
          <a:solidFill>
            <a:schemeClr val="accent1"/>
          </a:solidFill>
          <a:ln>
            <a:solidFill>
              <a:schemeClr val="accent1"/>
            </a:solidFill>
          </a:ln>
        </p:spPr>
        <p:style>
          <a:lnRef idx="2">
            <a:schemeClr val="accent2">
              <a:shade val="50000"/>
            </a:schemeClr>
          </a:lnRef>
          <a:fillRef idx="1">
            <a:schemeClr val="accent2"/>
          </a:fillRef>
          <a:effectRef idx="0">
            <a:schemeClr val="accent2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600" dirty="0"/>
              <a:t>Generation</a:t>
            </a:r>
          </a:p>
          <a:p>
            <a:pPr algn="ctr"/>
            <a:r>
              <a:rPr lang="en-US" sz="1200" dirty="0"/>
              <a:t>(coding gap reports)</a:t>
            </a:r>
          </a:p>
        </p:txBody>
      </p:sp>
      <p:sp>
        <p:nvSpPr>
          <p:cNvPr id="29" name="Arrow: Curved Down 28">
            <a:extLst>
              <a:ext uri="{FF2B5EF4-FFF2-40B4-BE49-F238E27FC236}">
                <a16:creationId xmlns:a16="http://schemas.microsoft.com/office/drawing/2014/main" id="{D00F570A-3214-4CAE-B8CE-88B13114B2C2}"/>
              </a:ext>
            </a:extLst>
          </p:cNvPr>
          <p:cNvSpPr/>
          <p:nvPr/>
        </p:nvSpPr>
        <p:spPr>
          <a:xfrm>
            <a:off x="4144934" y="2270366"/>
            <a:ext cx="2957656" cy="599230"/>
          </a:xfrm>
          <a:prstGeom prst="curvedDownArrow">
            <a:avLst/>
          </a:prstGeom>
          <a:solidFill>
            <a:schemeClr val="accent6">
              <a:lumMod val="60000"/>
              <a:lumOff val="40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schemeClr val="tx1"/>
              </a:solidFill>
            </a:endParaRPr>
          </a:p>
        </p:txBody>
      </p:sp>
      <p:sp>
        <p:nvSpPr>
          <p:cNvPr id="15" name="Arrow: Curved Down 14">
            <a:extLst>
              <a:ext uri="{FF2B5EF4-FFF2-40B4-BE49-F238E27FC236}">
                <a16:creationId xmlns:a16="http://schemas.microsoft.com/office/drawing/2014/main" id="{064DA815-2EBC-40F6-83F6-36524558366D}"/>
              </a:ext>
            </a:extLst>
          </p:cNvPr>
          <p:cNvSpPr/>
          <p:nvPr/>
        </p:nvSpPr>
        <p:spPr>
          <a:xfrm>
            <a:off x="7528651" y="2689726"/>
            <a:ext cx="2067713" cy="556071"/>
          </a:xfrm>
          <a:prstGeom prst="curvedDownArrow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schemeClr val="tx1"/>
              </a:solidFill>
            </a:endParaRPr>
          </a:p>
        </p:txBody>
      </p:sp>
      <p:sp>
        <p:nvSpPr>
          <p:cNvPr id="30" name="Arrow: Curved Down 29">
            <a:extLst>
              <a:ext uri="{FF2B5EF4-FFF2-40B4-BE49-F238E27FC236}">
                <a16:creationId xmlns:a16="http://schemas.microsoft.com/office/drawing/2014/main" id="{3AAE86C9-836A-465E-A80A-5ECC827E88FF}"/>
              </a:ext>
            </a:extLst>
          </p:cNvPr>
          <p:cNvSpPr/>
          <p:nvPr/>
        </p:nvSpPr>
        <p:spPr>
          <a:xfrm rot="10800000">
            <a:off x="3873341" y="4189619"/>
            <a:ext cx="5505054" cy="885863"/>
          </a:xfrm>
          <a:prstGeom prst="curvedDownArrow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schemeClr val="tx1"/>
              </a:solidFill>
            </a:endParaRPr>
          </a:p>
        </p:txBody>
      </p:sp>
      <p:sp>
        <p:nvSpPr>
          <p:cNvPr id="19" name="Cylinder 18">
            <a:extLst>
              <a:ext uri="{FF2B5EF4-FFF2-40B4-BE49-F238E27FC236}">
                <a16:creationId xmlns:a16="http://schemas.microsoft.com/office/drawing/2014/main" id="{A34C4C6E-6266-4911-B02E-527883FB1971}"/>
              </a:ext>
            </a:extLst>
          </p:cNvPr>
          <p:cNvSpPr/>
          <p:nvPr/>
        </p:nvSpPr>
        <p:spPr>
          <a:xfrm>
            <a:off x="8196099" y="3960515"/>
            <a:ext cx="756790" cy="580170"/>
          </a:xfrm>
          <a:prstGeom prst="can">
            <a:avLst/>
          </a:prstGeom>
          <a:ln>
            <a:solidFill>
              <a:schemeClr val="bg1">
                <a:lumMod val="9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tIns="137160" rtlCol="0" anchor="ctr"/>
          <a:lstStyle/>
          <a:p>
            <a:pPr algn="ctr">
              <a:lnSpc>
                <a:spcPts val="1100"/>
              </a:lnSpc>
            </a:pPr>
            <a:r>
              <a:rPr lang="en-US" sz="1100" dirty="0"/>
              <a:t>Provider Patient Records</a:t>
            </a:r>
          </a:p>
        </p:txBody>
      </p:sp>
      <p:sp>
        <p:nvSpPr>
          <p:cNvPr id="21" name="Cylinder 20">
            <a:extLst>
              <a:ext uri="{FF2B5EF4-FFF2-40B4-BE49-F238E27FC236}">
                <a16:creationId xmlns:a16="http://schemas.microsoft.com/office/drawing/2014/main" id="{D3F92A35-7AE5-4F27-9E30-1FA04160C44D}"/>
              </a:ext>
            </a:extLst>
          </p:cNvPr>
          <p:cNvSpPr/>
          <p:nvPr/>
        </p:nvSpPr>
        <p:spPr>
          <a:xfrm>
            <a:off x="3316154" y="3661989"/>
            <a:ext cx="756790" cy="585606"/>
          </a:xfrm>
          <a:prstGeom prst="can">
            <a:avLst/>
          </a:prstGeom>
          <a:ln>
            <a:solidFill>
              <a:schemeClr val="bg1">
                <a:lumMod val="9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tIns="137160" rtlCol="0" anchor="ctr"/>
          <a:lstStyle/>
          <a:p>
            <a:pPr algn="ctr">
              <a:lnSpc>
                <a:spcPts val="1100"/>
              </a:lnSpc>
            </a:pPr>
            <a:r>
              <a:rPr lang="en-US" sz="1100" dirty="0"/>
              <a:t>Payer Patient Records</a:t>
            </a:r>
          </a:p>
        </p:txBody>
      </p:sp>
      <p:sp>
        <p:nvSpPr>
          <p:cNvPr id="20" name="Rectangle 19">
            <a:extLst>
              <a:ext uri="{FF2B5EF4-FFF2-40B4-BE49-F238E27FC236}">
                <a16:creationId xmlns:a16="http://schemas.microsoft.com/office/drawing/2014/main" id="{79A5677D-88DB-4182-9823-C1B40B85F2B4}"/>
              </a:ext>
            </a:extLst>
          </p:cNvPr>
          <p:cNvSpPr/>
          <p:nvPr/>
        </p:nvSpPr>
        <p:spPr>
          <a:xfrm>
            <a:off x="4812313" y="2504891"/>
            <a:ext cx="1543313" cy="592954"/>
          </a:xfrm>
          <a:prstGeom prst="rect">
            <a:avLst/>
          </a:prstGeom>
          <a:solidFill>
            <a:schemeClr val="accent6">
              <a:lumMod val="75000"/>
            </a:schemeClr>
          </a:solidFill>
          <a:ln>
            <a:solidFill>
              <a:schemeClr val="accent1"/>
            </a:solidFill>
          </a:ln>
        </p:spPr>
        <p:style>
          <a:lnRef idx="2">
            <a:schemeClr val="accent2">
              <a:shade val="50000"/>
            </a:schemeClr>
          </a:lnRef>
          <a:fillRef idx="1">
            <a:schemeClr val="accent2"/>
          </a:fillRef>
          <a:effectRef idx="0">
            <a:schemeClr val="accent2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600" dirty="0"/>
              <a:t>Query</a:t>
            </a:r>
          </a:p>
          <a:p>
            <a:pPr algn="ctr"/>
            <a:r>
              <a:rPr lang="en-US" sz="1200" dirty="0"/>
              <a:t>(coding gap reports)</a:t>
            </a:r>
          </a:p>
        </p:txBody>
      </p:sp>
      <p:sp>
        <p:nvSpPr>
          <p:cNvPr id="28" name="Arrow: Curved Down 27">
            <a:extLst>
              <a:ext uri="{FF2B5EF4-FFF2-40B4-BE49-F238E27FC236}">
                <a16:creationId xmlns:a16="http://schemas.microsoft.com/office/drawing/2014/main" id="{2A7858BD-689D-47B5-B2DC-863F06809245}"/>
              </a:ext>
            </a:extLst>
          </p:cNvPr>
          <p:cNvSpPr/>
          <p:nvPr/>
        </p:nvSpPr>
        <p:spPr>
          <a:xfrm rot="10800000">
            <a:off x="4144931" y="2875167"/>
            <a:ext cx="2858983" cy="450801"/>
          </a:xfrm>
          <a:prstGeom prst="curvedDownArrow">
            <a:avLst/>
          </a:prstGeom>
          <a:solidFill>
            <a:schemeClr val="accent6">
              <a:lumMod val="60000"/>
              <a:lumOff val="40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schemeClr val="tx1"/>
              </a:solidFill>
            </a:endParaRP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DD7AFA5D-D1C7-4A3B-B082-64F1EA38CFFD}"/>
              </a:ext>
            </a:extLst>
          </p:cNvPr>
          <p:cNvSpPr txBox="1"/>
          <p:nvPr/>
        </p:nvSpPr>
        <p:spPr>
          <a:xfrm>
            <a:off x="8188568" y="2730442"/>
            <a:ext cx="583429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Task</a:t>
            </a:r>
          </a:p>
        </p:txBody>
      </p:sp>
      <p:sp>
        <p:nvSpPr>
          <p:cNvPr id="32" name="TextBox 31">
            <a:extLst>
              <a:ext uri="{FF2B5EF4-FFF2-40B4-BE49-F238E27FC236}">
                <a16:creationId xmlns:a16="http://schemas.microsoft.com/office/drawing/2014/main" id="{4F21EC11-E5A5-4A0B-8B7B-3F3813B97252}"/>
              </a:ext>
            </a:extLst>
          </p:cNvPr>
          <p:cNvSpPr txBox="1"/>
          <p:nvPr/>
        </p:nvSpPr>
        <p:spPr>
          <a:xfrm>
            <a:off x="6668069" y="4683517"/>
            <a:ext cx="583429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Task</a:t>
            </a:r>
          </a:p>
        </p:txBody>
      </p:sp>
      <p:sp>
        <p:nvSpPr>
          <p:cNvPr id="25" name="Rectangle 24">
            <a:extLst>
              <a:ext uri="{FF2B5EF4-FFF2-40B4-BE49-F238E27FC236}">
                <a16:creationId xmlns:a16="http://schemas.microsoft.com/office/drawing/2014/main" id="{F63D65DC-7995-483F-9DBD-92ADFC1E55CF}"/>
              </a:ext>
            </a:extLst>
          </p:cNvPr>
          <p:cNvSpPr/>
          <p:nvPr/>
        </p:nvSpPr>
        <p:spPr>
          <a:xfrm>
            <a:off x="4031373" y="3464300"/>
            <a:ext cx="6486031" cy="1751136"/>
          </a:xfrm>
          <a:prstGeom prst="rect">
            <a:avLst/>
          </a:prstGeom>
          <a:solidFill>
            <a:schemeClr val="accent4">
              <a:lumMod val="75000"/>
              <a:alpha val="12000"/>
            </a:schemeClr>
          </a:solidFill>
          <a:ln>
            <a:noFill/>
            <a:prstDash val="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31" name="Rectangle 30">
            <a:extLst>
              <a:ext uri="{FF2B5EF4-FFF2-40B4-BE49-F238E27FC236}">
                <a16:creationId xmlns:a16="http://schemas.microsoft.com/office/drawing/2014/main" id="{A15FE628-F34E-4CBF-984C-9EEE9B1BF69D}"/>
              </a:ext>
            </a:extLst>
          </p:cNvPr>
          <p:cNvSpPr/>
          <p:nvPr/>
        </p:nvSpPr>
        <p:spPr>
          <a:xfrm>
            <a:off x="6515526" y="730508"/>
            <a:ext cx="3882599" cy="1179968"/>
          </a:xfrm>
          <a:prstGeom prst="rect">
            <a:avLst/>
          </a:prstGeom>
          <a:solidFill>
            <a:schemeClr val="accent4">
              <a:lumMod val="75000"/>
              <a:alpha val="12000"/>
            </a:schemeClr>
          </a:solidFill>
          <a:ln>
            <a:noFill/>
            <a:prstDash val="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33" name="Rectangle 32">
            <a:extLst>
              <a:ext uri="{FF2B5EF4-FFF2-40B4-BE49-F238E27FC236}">
                <a16:creationId xmlns:a16="http://schemas.microsoft.com/office/drawing/2014/main" id="{DE8343F4-F539-43E1-9E62-72D49257EC88}"/>
              </a:ext>
            </a:extLst>
          </p:cNvPr>
          <p:cNvSpPr/>
          <p:nvPr/>
        </p:nvSpPr>
        <p:spPr>
          <a:xfrm>
            <a:off x="6435574" y="6277377"/>
            <a:ext cx="1709840" cy="604332"/>
          </a:xfrm>
          <a:prstGeom prst="rect">
            <a:avLst/>
          </a:prstGeom>
        </p:spPr>
        <p:style>
          <a:lnRef idx="2">
            <a:schemeClr val="accent2">
              <a:shade val="50000"/>
            </a:schemeClr>
          </a:lnRef>
          <a:fillRef idx="1">
            <a:schemeClr val="accent2"/>
          </a:fillRef>
          <a:effectRef idx="0">
            <a:schemeClr val="accent2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600" dirty="0"/>
              <a:t>Remediation</a:t>
            </a:r>
          </a:p>
          <a:p>
            <a:pPr algn="ctr"/>
            <a:r>
              <a:rPr lang="en-US" sz="1200" dirty="0"/>
              <a:t>(gap closure/ invalidation/net-new)</a:t>
            </a:r>
          </a:p>
        </p:txBody>
      </p:sp>
    </p:spTree>
    <p:extLst>
      <p:ext uri="{BB962C8B-B14F-4D97-AF65-F5344CB8AC3E}">
        <p14:creationId xmlns:p14="http://schemas.microsoft.com/office/powerpoint/2010/main" val="3278279037"/>
      </p:ext>
    </p:extLst>
  </p:cSld>
  <p:clrMapOvr>
    <a:masterClrMapping/>
  </p:clrMapOvr>
</p:sld>
</file>

<file path=ppt/slides/slide4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6992073-D200-42E0-9FB9-A038AA6450B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91768" y="197930"/>
            <a:ext cx="10972800" cy="1043103"/>
          </a:xfrm>
        </p:spPr>
        <p:txBody>
          <a:bodyPr/>
          <a:lstStyle/>
          <a:p>
            <a:r>
              <a:rPr lang="en-US" dirty="0"/>
              <a:t>New Figure: Remediation Actors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9A34AC66-A8B9-4352-A5F1-CFA56745734D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>
          <a:xfrm>
            <a:off x="864779" y="1820755"/>
            <a:ext cx="10971844" cy="3456096"/>
          </a:xfrm>
        </p:spPr>
        <p:txBody>
          <a:bodyPr/>
          <a:lstStyle/>
          <a:p>
            <a:pPr marL="0" indent="0">
              <a:buNone/>
            </a:pPr>
            <a:r>
              <a:rPr lang="en-US" dirty="0"/>
              <a:t> </a:t>
            </a:r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9B90074F-DE65-45EB-9571-9D3C185F2116}"/>
              </a:ext>
            </a:extLst>
          </p:cNvPr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fld id="{6CACE926-AEF5-4BFE-8BD7-24414108CB7B}" type="slidenum">
              <a:rPr lang="en-US" altLang="en-US" smtClean="0"/>
              <a:pPr/>
              <a:t>48</a:t>
            </a:fld>
            <a:endParaRPr lang="en-US" altLang="en-US" dirty="0"/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AA5AC8FB-912D-43A8-8D0F-F9254F59B281}"/>
              </a:ext>
            </a:extLst>
          </p:cNvPr>
          <p:cNvSpPr/>
          <p:nvPr/>
        </p:nvSpPr>
        <p:spPr>
          <a:xfrm>
            <a:off x="7668555" y="3335372"/>
            <a:ext cx="1709840" cy="604332"/>
          </a:xfrm>
          <a:prstGeom prst="rect">
            <a:avLst/>
          </a:prstGeom>
        </p:spPr>
        <p:style>
          <a:lnRef idx="2">
            <a:schemeClr val="accent2">
              <a:shade val="50000"/>
            </a:schemeClr>
          </a:lnRef>
          <a:fillRef idx="1">
            <a:schemeClr val="accent2"/>
          </a:fillRef>
          <a:effectRef idx="0">
            <a:schemeClr val="accent2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600" dirty="0"/>
              <a:t>Remediation</a:t>
            </a:r>
          </a:p>
          <a:p>
            <a:pPr algn="ctr"/>
            <a:r>
              <a:rPr lang="en-US" sz="1200" dirty="0"/>
              <a:t>(gap closure/ invalidation/net-new)</a:t>
            </a:r>
          </a:p>
        </p:txBody>
      </p:sp>
      <p:pic>
        <p:nvPicPr>
          <p:cNvPr id="17" name="Graphic 16">
            <a:extLst>
              <a:ext uri="{FF2B5EF4-FFF2-40B4-BE49-F238E27FC236}">
                <a16:creationId xmlns:a16="http://schemas.microsoft.com/office/drawing/2014/main" id="{5711CF3B-BEF6-4360-AD34-59E17D963A15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6921590" y="3199669"/>
            <a:ext cx="659817" cy="996459"/>
          </a:xfrm>
          <a:prstGeom prst="rect">
            <a:avLst/>
          </a:prstGeom>
        </p:spPr>
      </p:pic>
      <p:pic>
        <p:nvPicPr>
          <p:cNvPr id="18" name="Graphic 17">
            <a:extLst>
              <a:ext uri="{FF2B5EF4-FFF2-40B4-BE49-F238E27FC236}">
                <a16:creationId xmlns:a16="http://schemas.microsoft.com/office/drawing/2014/main" id="{28AEFE85-7684-4B09-9315-5EAC7B7C9E5F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9550777" y="3116859"/>
            <a:ext cx="659817" cy="817600"/>
          </a:xfrm>
          <a:prstGeom prst="rect">
            <a:avLst/>
          </a:prstGeom>
        </p:spPr>
      </p:pic>
      <p:sp>
        <p:nvSpPr>
          <p:cNvPr id="22" name="TextBox 21">
            <a:extLst>
              <a:ext uri="{FF2B5EF4-FFF2-40B4-BE49-F238E27FC236}">
                <a16:creationId xmlns:a16="http://schemas.microsoft.com/office/drawing/2014/main" id="{556B9B98-30EF-4669-8230-213DA7EB59F6}"/>
              </a:ext>
            </a:extLst>
          </p:cNvPr>
          <p:cNvSpPr txBox="1"/>
          <p:nvPr/>
        </p:nvSpPr>
        <p:spPr>
          <a:xfrm>
            <a:off x="9295420" y="3960307"/>
            <a:ext cx="1366020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 defTabSz="609585" fontAlgn="base">
              <a:spcBef>
                <a:spcPct val="0"/>
              </a:spcBef>
              <a:spcAft>
                <a:spcPct val="0"/>
              </a:spcAft>
              <a:defRPr/>
            </a:pPr>
            <a:r>
              <a:rPr lang="en-US" sz="1200" b="1" dirty="0">
                <a:solidFill>
                  <a:srgbClr val="F79646">
                    <a:lumMod val="50000"/>
                  </a:srgbClr>
                </a:solidFill>
                <a:latin typeface="Arial"/>
                <a:ea typeface="ヒラギノ角ゴ Pro W3" pitchFamily="-126" charset="-128"/>
              </a:rPr>
              <a:t>Risk Adjustment Coder</a:t>
            </a:r>
          </a:p>
        </p:txBody>
      </p:sp>
      <p:sp>
        <p:nvSpPr>
          <p:cNvPr id="23" name="TextBox 22">
            <a:extLst>
              <a:ext uri="{FF2B5EF4-FFF2-40B4-BE49-F238E27FC236}">
                <a16:creationId xmlns:a16="http://schemas.microsoft.com/office/drawing/2014/main" id="{BE5FA384-4166-4E2C-B2D7-3515E331E8E3}"/>
              </a:ext>
            </a:extLst>
          </p:cNvPr>
          <p:cNvSpPr txBox="1"/>
          <p:nvPr/>
        </p:nvSpPr>
        <p:spPr>
          <a:xfrm>
            <a:off x="6664027" y="4196128"/>
            <a:ext cx="1366020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 defTabSz="609585" fontAlgn="base">
              <a:spcBef>
                <a:spcPct val="0"/>
              </a:spcBef>
              <a:spcAft>
                <a:spcPct val="0"/>
              </a:spcAft>
              <a:defRPr/>
            </a:pPr>
            <a:r>
              <a:rPr lang="en-US" sz="1200" b="1" dirty="0">
                <a:solidFill>
                  <a:srgbClr val="F79646">
                    <a:lumMod val="50000"/>
                  </a:srgbClr>
                </a:solidFill>
                <a:latin typeface="Arial"/>
                <a:ea typeface="ヒラギノ角ゴ Pro W3" pitchFamily="-126" charset="-128"/>
              </a:rPr>
              <a:t>Provider</a:t>
            </a:r>
          </a:p>
        </p:txBody>
      </p:sp>
      <p:pic>
        <p:nvPicPr>
          <p:cNvPr id="24" name="Graphic 23">
            <a:extLst>
              <a:ext uri="{FF2B5EF4-FFF2-40B4-BE49-F238E27FC236}">
                <a16:creationId xmlns:a16="http://schemas.microsoft.com/office/drawing/2014/main" id="{5F02176F-6C48-4B66-BF46-F739D8F9F52D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>
            <a:off x="2364854" y="3620719"/>
            <a:ext cx="814124" cy="691379"/>
          </a:xfrm>
          <a:prstGeom prst="rect">
            <a:avLst/>
          </a:prstGeom>
        </p:spPr>
      </p:pic>
      <p:sp>
        <p:nvSpPr>
          <p:cNvPr id="26" name="TextBox 25">
            <a:extLst>
              <a:ext uri="{FF2B5EF4-FFF2-40B4-BE49-F238E27FC236}">
                <a16:creationId xmlns:a16="http://schemas.microsoft.com/office/drawing/2014/main" id="{1DE39854-6D80-4F9E-9853-5D038F217BF8}"/>
              </a:ext>
            </a:extLst>
          </p:cNvPr>
          <p:cNvSpPr txBox="1"/>
          <p:nvPr/>
        </p:nvSpPr>
        <p:spPr>
          <a:xfrm>
            <a:off x="2160141" y="4318092"/>
            <a:ext cx="1366020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 defTabSz="609585" fontAlgn="base">
              <a:spcBef>
                <a:spcPct val="0"/>
              </a:spcBef>
              <a:spcAft>
                <a:spcPct val="0"/>
              </a:spcAft>
              <a:defRPr/>
            </a:pPr>
            <a:r>
              <a:rPr lang="en-US" sz="1200" b="1" dirty="0">
                <a:solidFill>
                  <a:srgbClr val="F79646">
                    <a:lumMod val="50000"/>
                  </a:srgbClr>
                </a:solidFill>
                <a:latin typeface="Arial"/>
                <a:ea typeface="ヒラギノ角ゴ Pro W3" pitchFamily="-126" charset="-128"/>
              </a:rPr>
              <a:t>Payer</a:t>
            </a:r>
          </a:p>
        </p:txBody>
      </p:sp>
      <p:sp>
        <p:nvSpPr>
          <p:cNvPr id="15" name="Arrow: Curved Down 14">
            <a:extLst>
              <a:ext uri="{FF2B5EF4-FFF2-40B4-BE49-F238E27FC236}">
                <a16:creationId xmlns:a16="http://schemas.microsoft.com/office/drawing/2014/main" id="{064DA815-2EBC-40F6-83F6-36524558366D}"/>
              </a:ext>
            </a:extLst>
          </p:cNvPr>
          <p:cNvSpPr/>
          <p:nvPr/>
        </p:nvSpPr>
        <p:spPr>
          <a:xfrm>
            <a:off x="7528651" y="2689726"/>
            <a:ext cx="2067713" cy="556071"/>
          </a:xfrm>
          <a:prstGeom prst="curvedDownArrow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schemeClr val="tx1"/>
              </a:solidFill>
            </a:endParaRPr>
          </a:p>
        </p:txBody>
      </p:sp>
      <p:sp>
        <p:nvSpPr>
          <p:cNvPr id="30" name="Arrow: Curved Down 29">
            <a:extLst>
              <a:ext uri="{FF2B5EF4-FFF2-40B4-BE49-F238E27FC236}">
                <a16:creationId xmlns:a16="http://schemas.microsoft.com/office/drawing/2014/main" id="{3AAE86C9-836A-465E-A80A-5ECC827E88FF}"/>
              </a:ext>
            </a:extLst>
          </p:cNvPr>
          <p:cNvSpPr/>
          <p:nvPr/>
        </p:nvSpPr>
        <p:spPr>
          <a:xfrm rot="10800000">
            <a:off x="3873341" y="4189619"/>
            <a:ext cx="5505054" cy="885863"/>
          </a:xfrm>
          <a:prstGeom prst="curvedDownArrow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schemeClr val="tx1"/>
              </a:solidFill>
            </a:endParaRPr>
          </a:p>
        </p:txBody>
      </p:sp>
      <p:sp>
        <p:nvSpPr>
          <p:cNvPr id="19" name="Cylinder 18">
            <a:extLst>
              <a:ext uri="{FF2B5EF4-FFF2-40B4-BE49-F238E27FC236}">
                <a16:creationId xmlns:a16="http://schemas.microsoft.com/office/drawing/2014/main" id="{A34C4C6E-6266-4911-B02E-527883FB1971}"/>
              </a:ext>
            </a:extLst>
          </p:cNvPr>
          <p:cNvSpPr/>
          <p:nvPr/>
        </p:nvSpPr>
        <p:spPr>
          <a:xfrm>
            <a:off x="8196099" y="3960515"/>
            <a:ext cx="756790" cy="580170"/>
          </a:xfrm>
          <a:prstGeom prst="can">
            <a:avLst/>
          </a:prstGeom>
          <a:ln>
            <a:solidFill>
              <a:schemeClr val="bg1">
                <a:lumMod val="9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tIns="137160" rtlCol="0" anchor="ctr"/>
          <a:lstStyle/>
          <a:p>
            <a:pPr algn="ctr">
              <a:lnSpc>
                <a:spcPts val="1100"/>
              </a:lnSpc>
            </a:pPr>
            <a:r>
              <a:rPr lang="en-US" sz="1100" dirty="0"/>
              <a:t>Provider Patient Records</a:t>
            </a:r>
          </a:p>
        </p:txBody>
      </p:sp>
      <p:sp>
        <p:nvSpPr>
          <p:cNvPr id="21" name="Cylinder 20">
            <a:extLst>
              <a:ext uri="{FF2B5EF4-FFF2-40B4-BE49-F238E27FC236}">
                <a16:creationId xmlns:a16="http://schemas.microsoft.com/office/drawing/2014/main" id="{D3F92A35-7AE5-4F27-9E30-1FA04160C44D}"/>
              </a:ext>
            </a:extLst>
          </p:cNvPr>
          <p:cNvSpPr/>
          <p:nvPr/>
        </p:nvSpPr>
        <p:spPr>
          <a:xfrm>
            <a:off x="3316154" y="3661989"/>
            <a:ext cx="756790" cy="585606"/>
          </a:xfrm>
          <a:prstGeom prst="can">
            <a:avLst/>
          </a:prstGeom>
          <a:ln>
            <a:solidFill>
              <a:schemeClr val="bg1">
                <a:lumMod val="9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tIns="137160" rtlCol="0" anchor="ctr"/>
          <a:lstStyle/>
          <a:p>
            <a:pPr algn="ctr">
              <a:lnSpc>
                <a:spcPts val="1100"/>
              </a:lnSpc>
            </a:pPr>
            <a:r>
              <a:rPr lang="en-US" sz="1100" dirty="0"/>
              <a:t>Payer Patient Records</a:t>
            </a: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DD7AFA5D-D1C7-4A3B-B082-64F1EA38CFFD}"/>
              </a:ext>
            </a:extLst>
          </p:cNvPr>
          <p:cNvSpPr txBox="1"/>
          <p:nvPr/>
        </p:nvSpPr>
        <p:spPr>
          <a:xfrm>
            <a:off x="7961654" y="2777987"/>
            <a:ext cx="1123641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POST Task</a:t>
            </a:r>
          </a:p>
        </p:txBody>
      </p:sp>
      <p:sp>
        <p:nvSpPr>
          <p:cNvPr id="32" name="TextBox 31">
            <a:extLst>
              <a:ext uri="{FF2B5EF4-FFF2-40B4-BE49-F238E27FC236}">
                <a16:creationId xmlns:a16="http://schemas.microsoft.com/office/drawing/2014/main" id="{4F21EC11-E5A5-4A0B-8B7B-3F3813B97252}"/>
              </a:ext>
            </a:extLst>
          </p:cNvPr>
          <p:cNvSpPr txBox="1"/>
          <p:nvPr/>
        </p:nvSpPr>
        <p:spPr>
          <a:xfrm>
            <a:off x="6223396" y="4712660"/>
            <a:ext cx="1123641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POST Task</a:t>
            </a:r>
          </a:p>
        </p:txBody>
      </p:sp>
      <p:sp>
        <p:nvSpPr>
          <p:cNvPr id="25" name="Rectangle 24">
            <a:extLst>
              <a:ext uri="{FF2B5EF4-FFF2-40B4-BE49-F238E27FC236}">
                <a16:creationId xmlns:a16="http://schemas.microsoft.com/office/drawing/2014/main" id="{F63D65DC-7995-483F-9DBD-92ADFC1E55CF}"/>
              </a:ext>
            </a:extLst>
          </p:cNvPr>
          <p:cNvSpPr/>
          <p:nvPr/>
        </p:nvSpPr>
        <p:spPr>
          <a:xfrm>
            <a:off x="3724563" y="5313373"/>
            <a:ext cx="6486031" cy="1751136"/>
          </a:xfrm>
          <a:prstGeom prst="rect">
            <a:avLst/>
          </a:prstGeom>
          <a:solidFill>
            <a:schemeClr val="accent4">
              <a:lumMod val="20000"/>
              <a:lumOff val="80000"/>
              <a:alpha val="12000"/>
            </a:schemeClr>
          </a:solidFill>
          <a:ln>
            <a:noFill/>
            <a:prstDash val="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31" name="Rectangle 30">
            <a:extLst>
              <a:ext uri="{FF2B5EF4-FFF2-40B4-BE49-F238E27FC236}">
                <a16:creationId xmlns:a16="http://schemas.microsoft.com/office/drawing/2014/main" id="{A15FE628-F34E-4CBF-984C-9EEE9B1BF69D}"/>
              </a:ext>
            </a:extLst>
          </p:cNvPr>
          <p:cNvSpPr/>
          <p:nvPr/>
        </p:nvSpPr>
        <p:spPr>
          <a:xfrm>
            <a:off x="2468102" y="1445637"/>
            <a:ext cx="3882599" cy="1179968"/>
          </a:xfrm>
          <a:prstGeom prst="rect">
            <a:avLst/>
          </a:prstGeom>
          <a:solidFill>
            <a:schemeClr val="accent4">
              <a:lumMod val="40000"/>
              <a:lumOff val="60000"/>
              <a:alpha val="12000"/>
            </a:schemeClr>
          </a:solidFill>
          <a:ln>
            <a:noFill/>
            <a:prstDash val="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021813994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1_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 Classic 2">
      <a:majorFont>
        <a:latin typeface="Arial"/>
        <a:ea typeface=""/>
        <a:cs typeface=""/>
        <a:font script="Jpan" typeface="ＭＳ Ｐゴシック"/>
        <a:font script="Hang" typeface="굴림"/>
        <a:font script="Hans" typeface="黑体"/>
        <a:font script="Hant" typeface="微軟正黑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ajorFont>
      <a:minorFont>
        <a:latin typeface="Arial"/>
        <a:ea typeface=""/>
        <a:cs typeface=""/>
        <a:font script="Jpan" typeface="ＭＳ Ｐゴシック"/>
        <a:font script="Hang" typeface="굴림"/>
        <a:font script="Hans" typeface="黑体"/>
        <a:font script="Hant" typeface="微軟正黑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3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4052</TotalTime>
  <Words>3150</Words>
  <Application>Microsoft Office PowerPoint</Application>
  <PresentationFormat>Widescreen</PresentationFormat>
  <Paragraphs>765</Paragraphs>
  <Slides>48</Slides>
  <Notes>38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2</vt:i4>
      </vt:variant>
      <vt:variant>
        <vt:lpstr>Slide Titles</vt:lpstr>
      </vt:variant>
      <vt:variant>
        <vt:i4>48</vt:i4>
      </vt:variant>
    </vt:vector>
  </HeadingPairs>
  <TitlesOfParts>
    <vt:vector size="54" baseType="lpstr">
      <vt:lpstr>Helvetica Neue</vt:lpstr>
      <vt:lpstr>Arial</vt:lpstr>
      <vt:lpstr>Calibri</vt:lpstr>
      <vt:lpstr>Calibri Light</vt:lpstr>
      <vt:lpstr>Office Theme</vt:lpstr>
      <vt:lpstr>1_Office Theme</vt:lpstr>
      <vt:lpstr>Risk Adjustment Images</vt:lpstr>
      <vt:lpstr>Source images for STU2</vt:lpstr>
      <vt:lpstr>Workflow for Medicare Advantage Population</vt:lpstr>
      <vt:lpstr>Updated during STU1 ballot reconciliations: Figure 1-4 (Home page)</vt:lpstr>
      <vt:lpstr>Updated during STU2 ballot : Figure 2.2-1 (General Guidance</vt:lpstr>
      <vt:lpstr>New Figure 1-3 created during ballot reconciliations</vt:lpstr>
      <vt:lpstr>New Figure 1-3 created during ballot reconciliations</vt:lpstr>
      <vt:lpstr>Actors for $ra.resolve-cc-gaps</vt:lpstr>
      <vt:lpstr>Figure: Lifecycle Phases – Nov, 2023 update</vt:lpstr>
      <vt:lpstr>Figure: Submit Data to Payer </vt:lpstr>
      <vt:lpstr>Figure: Submit Data to Payer  (updated for STU3 ballot)</vt:lpstr>
      <vt:lpstr>New Figure: Lifecycle Phases</vt:lpstr>
      <vt:lpstr>New Figure: Lifecycle Phases</vt:lpstr>
      <vt:lpstr>Report Annotation (report-annotation-overview-provider.png)</vt:lpstr>
      <vt:lpstr>Report Annotation (report-annotation-overview-provider.png)</vt:lpstr>
      <vt:lpstr>Report Annotation (report-annotation-overview-payer.png)</vt:lpstr>
      <vt:lpstr>Three Stages Overview - Generation</vt:lpstr>
      <vt:lpstr>Three Stages Overview - Remediation</vt:lpstr>
      <vt:lpstr>Three Stages Overview - Resolution</vt:lpstr>
      <vt:lpstr>DRAFT</vt:lpstr>
      <vt:lpstr>Source images for STU1</vt:lpstr>
      <vt:lpstr>PowerPoint Presentation</vt:lpstr>
      <vt:lpstr>Index page</vt:lpstr>
      <vt:lpstr>Workflow for Medicare Advantage Population</vt:lpstr>
      <vt:lpstr>Workflow for Medicare Advantage Population</vt:lpstr>
      <vt:lpstr>Example Risk Adjustment Report</vt:lpstr>
      <vt:lpstr>Updated during STU1 ballot reconciliations: Figure 1-4 (Home page)</vt:lpstr>
      <vt:lpstr>New Figure 1-3 created during ballot reconciliations</vt:lpstr>
      <vt:lpstr>PowerPoint Presentation</vt:lpstr>
      <vt:lpstr>Risk Adjustment Coding Gap Report (Single Patient)</vt:lpstr>
      <vt:lpstr>Risk Adjustment Coding Gap Report (Single Patient) Report Query Figure 3-1 </vt:lpstr>
      <vt:lpstr>Multiple Measure Reports</vt:lpstr>
      <vt:lpstr>Risk Adjustment  Resources</vt:lpstr>
      <vt:lpstr>PowerPoint Presentation</vt:lpstr>
      <vt:lpstr>PowerPoint Presentation</vt:lpstr>
      <vt:lpstr>Old versions of figures – not used</vt:lpstr>
      <vt:lpstr>Balloted: Figure 1-3 (Home page)</vt:lpstr>
      <vt:lpstr>For Guidance Page</vt:lpstr>
      <vt:lpstr>Example Risk Adjustment Report</vt:lpstr>
      <vt:lpstr> </vt:lpstr>
      <vt:lpstr>PowerPoint Presentation</vt:lpstr>
      <vt:lpstr>Three Stages Overview</vt:lpstr>
      <vt:lpstr>Three Stages Overview</vt:lpstr>
      <vt:lpstr>PowerPoint Presentation</vt:lpstr>
      <vt:lpstr>Three Stages Overview</vt:lpstr>
      <vt:lpstr>New Figure: Lifecycle Phases</vt:lpstr>
      <vt:lpstr>New Figure: Lifecycle Phases</vt:lpstr>
      <vt:lpstr>New Figure: Remediation Actors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Risk Adjustment Images</dc:title>
  <dc:creator>Michaelsen, Linda J</dc:creator>
  <cp:lastModifiedBy>Yan Heras</cp:lastModifiedBy>
  <cp:revision>110</cp:revision>
  <dcterms:created xsi:type="dcterms:W3CDTF">2021-08-19T21:45:59Z</dcterms:created>
  <dcterms:modified xsi:type="dcterms:W3CDTF">2026-03-13T00:10:49Z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MSIP_Label_320f21ee-9bdc-4991-8abe-58f53448e302_Enabled">
    <vt:lpwstr>true</vt:lpwstr>
  </property>
  <property fmtid="{D5CDD505-2E9C-101B-9397-08002B2CF9AE}" pid="3" name="MSIP_Label_320f21ee-9bdc-4991-8abe-58f53448e302_SetDate">
    <vt:lpwstr>2022-11-03T21:10:48Z</vt:lpwstr>
  </property>
  <property fmtid="{D5CDD505-2E9C-101B-9397-08002B2CF9AE}" pid="4" name="MSIP_Label_320f21ee-9bdc-4991-8abe-58f53448e302_Method">
    <vt:lpwstr>Privileged</vt:lpwstr>
  </property>
  <property fmtid="{D5CDD505-2E9C-101B-9397-08002B2CF9AE}" pid="5" name="MSIP_Label_320f21ee-9bdc-4991-8abe-58f53448e302_Name">
    <vt:lpwstr>External Label</vt:lpwstr>
  </property>
  <property fmtid="{D5CDD505-2E9C-101B-9397-08002B2CF9AE}" pid="6" name="MSIP_Label_320f21ee-9bdc-4991-8abe-58f53448e302_SiteId">
    <vt:lpwstr>db05faca-c82a-4b9d-b9c5-0f64b6755421</vt:lpwstr>
  </property>
  <property fmtid="{D5CDD505-2E9C-101B-9397-08002B2CF9AE}" pid="7" name="MSIP_Label_320f21ee-9bdc-4991-8abe-58f53448e302_ActionId">
    <vt:lpwstr>8696810b-19ed-4e4b-9f4f-4806ab7c9bad</vt:lpwstr>
  </property>
  <property fmtid="{D5CDD505-2E9C-101B-9397-08002B2CF9AE}" pid="8" name="MSIP_Label_320f21ee-9bdc-4991-8abe-58f53448e302_ContentBits">
    <vt:lpwstr>0</vt:lpwstr>
  </property>
</Properties>
</file>